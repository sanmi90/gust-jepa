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Frame: extreme gust control needs a fast, faithful forward model. Our work asks which reduced state is worth planning against, and shows a predictive (JEPA) latent captures the wake physics that reconstructive and linear baselines lose. Audience is new to JEPA, so I will spend a slide on what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Pure DNS, no model yet: motivate the difficulty. A strong gust; the lift swings by about 23 in C_L through the encounter. Pitch to a control audience: the bottleneck for model-based control / RL is a reduced dynamics model that stays trustworthy under rollout.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Objective slide (no results yet): the wake challenge, the large-scale wake enstrophy definition (Gaussian split), and the goal: forward closure, especially of the wake. The predictive-vs-reconstructive Gaussian-split result comes later, in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up the central question. Closure = the rolled-out latent still lets you read off the physical observables. This is exactly the property a planner or RL agent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the DNS claim bounded (solver-resolution metadata pending). Emphasise the six observables, wake enstrophy being the one that separates the methods; the 3D envelope shows test_c (|G|=4) sitting far outside the training cloud.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Pedagogic core for a non-ML audience. Same first three boxes; the only change is Decoder -&gt; Predictor and where the loss lives: pixels (AE) vs latent space (JEPA). No decoder in JEPA; the anti-collapse term stops the encoder collapsing.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Second JEPA slide: recipe (latent loss + anti-collapse, no decoder), cheap latent rollout, lineage, and the control framing.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Conditioning split is deliberate: encoder = pure state map; the gust enters the dynamics. For control, an actuation channel would enter where the gust does.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Illustrated alternative to the box diagram (slide 6); keep whichever style you prefer.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Illustrated alternative to the box architecture (slide 8); keep whichever style you prefer.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Fairness is the whole point: only the encoder changes. The conditioning floor rules out 'the parameters did it'.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Headline. Wake enstrophy is where the predictive latent wins; forces are easy for every family. State the two unfamiliar observables and the per-observable-units point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Closure tightens at the shorter horizon, but the family separation persists.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Even four frames out, the family separation holds on the wake.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Embedded MP4 (plays in PowerPoint; a still shows otherwise). Two observables (wake enstrophy and lift): original (DNS) vs encoded-latent reconstruction vs rolled-latent prediction, for a representative low-error gust encounter.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Physical-space companion to the scalar forecast: same encounter, decoded with the frozen LapFiLM visualisation decoder (never part of the JEPA loss). Reconstruction is the representational ceiling; prediction is the rolled latent decoded.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explains the main result mechanistically at the representation level: the wake is a collective code only the predictive objective builds.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Physical-space version of 'it is the wake': the predictive reconstruction keeps the large-scale wake, the reconstructive one smooths it. These are encode-then-decode reconstructions; bands are mean +/- 1 s.d. over test_b. Moved here from the opening so results follow the method.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Backs the 'it is the wake' story: the latent organises coordinates by physical function. Descriptive correlation only; the causal (SURD) part of this analysis is not in the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Pre-empt the skeptic: isolate the cause before the mechanism. Honest two-part answer: objective carries it, but the wake head is a necessary ingredient.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Non-standard metric, so define it. Low one-step error is worthless if the rollout walks off the data manifold where probes are invalid. R2 here is probe-on-rolled-latent, not a direct predictor of the observables.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Define persistent homology simply: count loops that survive over a range of scales. Numbers: JEPA median 1 vs Fukami 3.5 H1 generators on z_dns (encounter-level MWU p~4e-8; all 10 cases consistent). Snapshots are encode-&gt;decode reconstructions; no temporal predictor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critical: 0.63&gt;0.45 is the per-encounter (within-trajectory) mean. Pooled over all encounters the reconstructive latent is higher (0.63 vs 0.38), so the JEPA alignment is local to each encounter, not a global isometry. Present strictly as trajectory-local transport consistency.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Reframed to match the figure (flow from pressure). The predictive-vs-reconstructive wake tracking is already on slide 3 (scale decomposition).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Dynamic companion to the static flow-recovery slide: a causal 6-frame pressure window at 16 TCSI taps -&gt; MLP -&gt; latent -&gt; frozen decoder, applied frame by frame. This is state ESTIMATION, not forecasting; the JEPA predictor is not used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venue hook: the predictive latent gives both a sensor-observable state and a useful pre-impact forecast, the two ingredients a controller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Single closing slide. What we built: forward-closed, compact, observable, wake-driven. Honest boundary: conditional model, not a validated controller. Outlook: actuation channel, closed loop, 3D observability, other flows. Point forward to the RL half of the colloquium.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Acknowledgements: author photos (Solera-Rico, Miró, Lehmkuhl) and the BBVA Foundation / Red Leonardo funding logos. Funding: 2024 Leonardo Grant, project PREVENT (LEO24-2-15988).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15.pn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26.png"/><Relationship Id="rId5" Type="http://schemas.openxmlformats.org/officeDocument/2006/relationships/notesSlide" Target="../notesSlides/notesSlide2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jpg"/><Relationship Id="rId6" Type="http://schemas.openxmlformats.org/officeDocument/2006/relationships/image" Target="../media/image32.png"/><Relationship Id="rId7" Type="http://schemas.openxmlformats.org/officeDocument/2006/relationships/notesSlide" Target="../notesSlides/notesSlide2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234440"/>
            <a:ext cx="1069848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100" b="1">
                <a:solidFill>
                  <a:srgbClr val="1F3864"/>
                </a:solidFill>
                <a:latin typeface="Calibri"/>
              </a:rPr>
              <a:t>Sparse-sensing state estimation of vortex-gust airfoil interactions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C05210"/>
                </a:solidFill>
                <a:latin typeface="Calibri"/>
              </a:rPr>
              <a:t>Toward model-based flow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611880"/>
            <a:ext cx="2743200" cy="54864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242933"/>
                </a:solidFill>
                <a:latin typeface="Calibri"/>
              </a:rPr>
              <a:t>A. Solera-Rico, A. Miró, O. Lehmkuhl, </a:t>
            </a:r>
            <a:r>
              <a:rPr sz="1500" b="1">
                <a:solidFill>
                  <a:srgbClr val="1F3864"/>
                </a:solidFill>
                <a:latin typeface="Calibri"/>
              </a:rPr>
              <a:t>C. Sanmiguel Vila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C05210"/>
                </a:solidFill>
                <a:latin typeface="Calibri"/>
              </a:rPr>
              <a:t>csanvil@inta.es</a:t>
            </a:r>
          </a:p>
        </p:txBody>
      </p:sp>
      <p:pic>
        <p:nvPicPr>
          <p:cNvPr id="6" name="Picture 5" descr="euromech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90906"/>
            <a:ext cx="1051560" cy="644652"/>
          </a:xfrm>
          <a:prstGeom prst="rect">
            <a:avLst/>
          </a:prstGeom>
        </p:spPr>
      </p:pic>
      <p:pic>
        <p:nvPicPr>
          <p:cNvPr id="7" name="Picture 6" descr="IMG_228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892040"/>
            <a:ext cx="603504" cy="603504"/>
          </a:xfrm>
          <a:prstGeom prst="rect">
            <a:avLst/>
          </a:prstGeom>
        </p:spPr>
      </p:pic>
      <p:pic>
        <p:nvPicPr>
          <p:cNvPr id="8" name="Picture 7" descr="IMG_228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3080" y="4965192"/>
            <a:ext cx="1270367" cy="457200"/>
          </a:xfrm>
          <a:prstGeom prst="rect">
            <a:avLst/>
          </a:prstGeom>
        </p:spPr>
      </p:pic>
      <p:pic>
        <p:nvPicPr>
          <p:cNvPr id="9" name="Picture 8" descr="IMG_228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9000" y="4895782"/>
            <a:ext cx="676656" cy="596018"/>
          </a:xfrm>
          <a:prstGeom prst="rect">
            <a:avLst/>
          </a:prstGeom>
        </p:spPr>
      </p:pic>
      <p:pic>
        <p:nvPicPr>
          <p:cNvPr id="10" name="Picture 9" descr="IMG_228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5968" y="4892040"/>
            <a:ext cx="603504" cy="60350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14400" y="59893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F3864"/>
                </a:solidFill>
                <a:latin typeface="Calibri"/>
              </a:rPr>
              <a:t>EUROMECH Colloquium  ·  Data-driven active control in flows: from model-based to reinforcement learning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The control problem: gusts are fast, strong, nonlinear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45720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Small and micro air vehicles increasingly fly where the </a:t>
            </a:r>
            <a:r>
              <a:rPr sz="1500" b="1">
                <a:solidFill>
                  <a:srgbClr val="1F3864"/>
                </a:solidFill>
                <a:latin typeface="Calibri"/>
              </a:rPr>
              <a:t>gust speed is comparable to or above the flight speed</a:t>
            </a:r>
            <a:r>
              <a:rPr sz="1500" b="0">
                <a:solidFill>
                  <a:srgbClr val="242933"/>
                </a:solidFill>
                <a:latin typeface="Calibri"/>
              </a:rPr>
              <a:t> (urban canyons, building and ship wakes): gust ratio </a:t>
            </a:r>
            <a:r>
              <a:rPr sz="1500" b="1">
                <a:solidFill>
                  <a:srgbClr val="1F3864"/>
                </a:solidFill>
                <a:latin typeface="Calibri"/>
              </a:rPr>
              <a:t>G &gt; 1</a:t>
            </a:r>
            <a:r>
              <a:rPr sz="1500" b="0">
                <a:solidFill>
                  <a:srgbClr val="242933"/>
                </a:solidFill>
                <a:latin typeface="Calibri"/>
              </a:rPr>
              <a:t> brings large, fast load transients classical models miss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A vortex strikes the wing: a </a:t>
            </a:r>
            <a:r>
              <a:rPr sz="1500" b="1">
                <a:solidFill>
                  <a:srgbClr val="1F3864"/>
                </a:solidFill>
                <a:latin typeface="Calibri"/>
              </a:rPr>
              <a:t>leading-edge vortex</a:t>
            </a:r>
            <a:r>
              <a:rPr sz="1500" b="0">
                <a:solidFill>
                  <a:srgbClr val="242933"/>
                </a:solidFill>
                <a:latin typeface="Calibri"/>
              </a:rPr>
              <a:t> forms and sheds, and the lift swings violently (right: DNS, C_L from about -9 to +14)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Active control, model-based or RL, needs a </a:t>
            </a:r>
            <a:r>
              <a:rPr sz="1500" b="1">
                <a:solidFill>
                  <a:srgbClr val="1F3864"/>
                </a:solidFill>
                <a:latin typeface="Calibri"/>
              </a:rPr>
              <a:t>fast, faithful forward model</a:t>
            </a:r>
            <a:r>
              <a:rPr sz="1500" b="0">
                <a:solidFill>
                  <a:srgbClr val="242933"/>
                </a:solidFill>
                <a:latin typeface="Calibri"/>
              </a:rPr>
              <a:t> it can trust under rollout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1">
                <a:solidFill>
                  <a:srgbClr val="1F3864"/>
                </a:solidFill>
                <a:latin typeface="Calibri"/>
              </a:rPr>
              <a:t>This talk: what reduced state is worth planning against?</a:t>
            </a:r>
          </a:p>
        </p:txBody>
      </p:sp>
      <p:pic>
        <p:nvPicPr>
          <p:cNvPr id="7" name="gust_motivation_anim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440680" y="1600200"/>
            <a:ext cx="6126480" cy="43525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OBJECTIVE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Objective: a reduced state that keeps the wake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The load transient is built by the </a:t>
            </a:r>
            <a:r>
              <a:rPr sz="1800" b="1">
                <a:solidFill>
                  <a:srgbClr val="1F3864"/>
                </a:solidFill>
                <a:latin typeface="Calibri"/>
              </a:rPr>
              <a:t>leading-edge vortex (LEV)</a:t>
            </a:r>
            <a:r>
              <a:rPr sz="1800" b="0">
                <a:solidFill>
                  <a:srgbClr val="242933"/>
                </a:solidFill>
                <a:latin typeface="Calibri"/>
              </a:rPr>
              <a:t> and the wake it leaves: the discriminating information is in the </a:t>
            </a:r>
            <a:r>
              <a:rPr sz="1800" b="1">
                <a:solidFill>
                  <a:srgbClr val="1F3864"/>
                </a:solidFill>
                <a:latin typeface="Calibri"/>
              </a:rPr>
              <a:t>wake</a:t>
            </a:r>
            <a:r>
              <a:rPr sz="1800" b="0">
                <a:solidFill>
                  <a:srgbClr val="242933"/>
                </a:solidFill>
                <a:latin typeface="Calibri"/>
              </a:rPr>
              <a:t>, not the integrated forces C_L, C_D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We quantify it by the </a:t>
            </a:r>
            <a:r>
              <a:rPr sz="1800" b="1">
                <a:solidFill>
                  <a:srgbClr val="1F3864"/>
                </a:solidFill>
                <a:latin typeface="Calibri"/>
              </a:rPr>
              <a:t>large-scale wake enstrophy</a:t>
            </a:r>
            <a:r>
              <a:rPr sz="1800" b="0">
                <a:solidFill>
                  <a:srgbClr val="242933"/>
                </a:solidFill>
                <a:latin typeface="Calibri"/>
              </a:rPr>
              <a:t>: a Gaussian scale split (Motoori &amp; Goto 2019) at σ/c = 0.05 isolates the load-bearing large-scale vorticity (LEV + shear layer) from fine turbulence, then integrates ω_L² over the wake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1">
                <a:solidFill>
                  <a:srgbClr val="1F3864"/>
                </a:solidFill>
                <a:latin typeface="Calibri"/>
              </a:rPr>
              <a:t>Objective:</a:t>
            </a:r>
            <a:r>
              <a:rPr sz="1800" b="0">
                <a:solidFill>
                  <a:srgbClr val="242933"/>
                </a:solidFill>
                <a:latin typeface="Calibri"/>
              </a:rPr>
              <a:t> find a reduced state that stays </a:t>
            </a:r>
            <a:r>
              <a:rPr sz="1800" b="1">
                <a:solidFill>
                  <a:srgbClr val="1F3864"/>
                </a:solidFill>
                <a:latin typeface="Calibri"/>
              </a:rPr>
              <a:t>forward-closed</a:t>
            </a:r>
            <a:r>
              <a:rPr sz="1800" b="0">
                <a:solidFill>
                  <a:srgbClr val="242933"/>
                </a:solidFill>
                <a:latin typeface="Calibri"/>
              </a:rPr>
              <a:t>, every observable still recoverable as the state is propagated, in particular one that keeps the </a:t>
            </a:r>
            <a:r>
              <a:rPr sz="1800" b="1">
                <a:solidFill>
                  <a:srgbClr val="1F3864"/>
                </a:solidFill>
                <a:latin typeface="Calibri"/>
              </a:rPr>
              <a:t>wake</a:t>
            </a:r>
            <a:r>
              <a:rPr sz="1800" b="0">
                <a:solidFill>
                  <a:srgbClr val="242933"/>
                </a:solidFill>
                <a:latin typeface="Calibri"/>
              </a:rPr>
              <a:t>, not just the forces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And </a:t>
            </a:r>
            <a:r>
              <a:rPr sz="1800" b="1">
                <a:solidFill>
                  <a:srgbClr val="1F3864"/>
                </a:solidFill>
                <a:latin typeface="Calibri"/>
              </a:rPr>
              <a:t>compare candidate states</a:t>
            </a:r>
            <a:r>
              <a:rPr sz="1800" b="0">
                <a:solidFill>
                  <a:srgbClr val="242933"/>
                </a:solidFill>
                <a:latin typeface="Calibri"/>
              </a:rPr>
              <a:t>, predictive vs reconstructive vs linear, under one matched protocol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LITERATURE AND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The opening for JEPA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9728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Most flow ROMs, POD/DMD, autoencoders, are trained to </a:t>
            </a:r>
            <a:r>
              <a:rPr sz="1800" b="1">
                <a:solidFill>
                  <a:srgbClr val="1F3864"/>
                </a:solidFill>
                <a:latin typeface="Calibri"/>
              </a:rPr>
              <a:t>reconstruct the field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      –  reconstruction fixes the latent only up to a diffeomorphism, so its geometry is not constrained to be predictable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Alternative: learn a state that is </a:t>
            </a:r>
            <a:r>
              <a:rPr sz="1800" b="1">
                <a:solidFill>
                  <a:srgbClr val="1F3864"/>
                </a:solidFill>
                <a:latin typeface="Calibri"/>
              </a:rPr>
              <a:t>predictive by construction</a:t>
            </a:r>
            <a:r>
              <a:rPr sz="1800" b="0">
                <a:solidFill>
                  <a:srgbClr val="242933"/>
                </a:solidFill>
                <a:latin typeface="Calibri"/>
              </a:rPr>
              <a:t>, and plan against it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160520"/>
            <a:ext cx="10881360" cy="155448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4160520"/>
            <a:ext cx="91440" cy="155448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160520"/>
            <a:ext cx="1033272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F3864"/>
                </a:solidFill>
                <a:latin typeface="Calibri"/>
              </a:rPr>
              <a:t>Which reduced state stays physically closed when propagated forward,
so that every observable remains recoverable along the rollout?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89788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1">
                <a:solidFill>
                  <a:srgbClr val="1F3864"/>
                </a:solidFill>
                <a:latin typeface="Calibri"/>
              </a:rPr>
              <a:t>DNS</a:t>
            </a:r>
            <a:r>
              <a:rPr sz="1600" b="0">
                <a:solidFill>
                  <a:srgbClr val="242933"/>
                </a:solidFill>
                <a:latin typeface="Calibri"/>
              </a:rPr>
              <a:t> (SOD2D, no subgrid-scale model), NACA 0012, α = 14°, </a:t>
            </a:r>
            <a:r>
              <a:rPr sz="1600" b="1">
                <a:solidFill>
                  <a:srgbClr val="1F3864"/>
                </a:solidFill>
                <a:latin typeface="Calibri"/>
              </a:rPr>
              <a:t>Re = 5000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Taylor-vortex gusts parametrised by strength </a:t>
            </a:r>
            <a:r>
              <a:rPr sz="1600" b="1">
                <a:solidFill>
                  <a:srgbClr val="1F3864"/>
                </a:solidFill>
                <a:latin typeface="Calibri"/>
              </a:rPr>
              <a:t>G</a:t>
            </a:r>
            <a:r>
              <a:rPr sz="1600" b="0">
                <a:solidFill>
                  <a:srgbClr val="242933"/>
                </a:solidFill>
                <a:latin typeface="Calibri"/>
              </a:rPr>
              <a:t>, core diameter </a:t>
            </a:r>
            <a:r>
              <a:rPr sz="1600" b="1">
                <a:solidFill>
                  <a:srgbClr val="1F3864"/>
                </a:solidFill>
                <a:latin typeface="Calibri"/>
              </a:rPr>
              <a:t>D</a:t>
            </a:r>
            <a:r>
              <a:rPr sz="1600" b="0">
                <a:solidFill>
                  <a:srgbClr val="242933"/>
                </a:solidFill>
                <a:latin typeface="Calibri"/>
              </a:rPr>
              <a:t>, wall-normal offset </a:t>
            </a:r>
            <a:r>
              <a:rPr sz="1600" b="1">
                <a:solidFill>
                  <a:srgbClr val="1F3864"/>
                </a:solidFill>
                <a:latin typeface="Calibri"/>
              </a:rPr>
              <a:t>Y</a:t>
            </a:r>
            <a:r>
              <a:rPr sz="1600" b="0">
                <a:solidFill>
                  <a:srgbClr val="242933"/>
                </a:solidFill>
                <a:latin typeface="Calibri"/>
              </a:rPr>
              <a:t> (right: the 84-case envelope, isometric)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Impact-centred encounters; six observables: C_L, C_D, impulse I_y, </a:t>
            </a:r>
            <a:r>
              <a:rPr sz="1600" b="1">
                <a:solidFill>
                  <a:srgbClr val="1F3864"/>
                </a:solidFill>
                <a:latin typeface="Calibri"/>
              </a:rPr>
              <a:t>wake enstrophy</a:t>
            </a:r>
            <a:r>
              <a:rPr sz="1600" b="0">
                <a:solidFill>
                  <a:srgbClr val="242933"/>
                </a:solidFill>
                <a:latin typeface="Calibri"/>
              </a:rPr>
              <a:t>, ±circulation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Held-out </a:t>
            </a:r>
            <a:r>
              <a:rPr sz="1600" b="1">
                <a:solidFill>
                  <a:srgbClr val="1F3864"/>
                </a:solidFill>
                <a:latin typeface="Calibri"/>
              </a:rPr>
              <a:t>test_b</a:t>
            </a:r>
            <a:r>
              <a:rPr sz="1600" b="0">
                <a:solidFill>
                  <a:srgbClr val="242933"/>
                </a:solidFill>
                <a:latin typeface="Calibri"/>
              </a:rPr>
              <a:t> (interpolation) and </a:t>
            </a:r>
            <a:r>
              <a:rPr sz="1600" b="1">
                <a:solidFill>
                  <a:srgbClr val="1F3864"/>
                </a:solidFill>
                <a:latin typeface="Calibri"/>
              </a:rPr>
              <a:t>test_c</a:t>
            </a:r>
            <a:r>
              <a:rPr sz="1600" b="0">
                <a:solidFill>
                  <a:srgbClr val="242933"/>
                </a:solidFill>
                <a:latin typeface="Calibri"/>
              </a:rPr>
              <a:t> (|G| = 4 extrapolation)</a:t>
            </a:r>
          </a:p>
        </p:txBody>
      </p:sp>
      <p:pic>
        <p:nvPicPr>
          <p:cNvPr id="7" name="Picture 6" descr="paramspace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3116" y="1664208"/>
            <a:ext cx="4536086" cy="4389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75120" y="6108192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Training envelope in (G, D, Y): train, test_b interpolation, test_c |G| = 4 extrapolation, baseline.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METHOD, PRIMER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What is a JEPA?  (1 / 2)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91056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B03A2E"/>
                </a:solidFill>
                <a:latin typeface="Calibri"/>
              </a:rPr>
              <a:t>Autoencoder (most flow ROMs): reconstruct the field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029968"/>
            <a:ext cx="1554480" cy="658368"/>
          </a:xfrm>
          <a:prstGeom prst="roundRect">
            <a:avLst/>
          </a:prstGeom>
          <a:solidFill>
            <a:srgbClr val="F7ECEA"/>
          </a:solidFill>
          <a:ln w="1905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field ω(t)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80360" y="2029968"/>
            <a:ext cx="1554480" cy="658368"/>
          </a:xfrm>
          <a:prstGeom prst="roundRect">
            <a:avLst/>
          </a:prstGeom>
          <a:solidFill>
            <a:srgbClr val="F7ECEA"/>
          </a:solidFill>
          <a:ln w="1905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Encoder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2029968"/>
            <a:ext cx="1188720" cy="658368"/>
          </a:xfrm>
          <a:prstGeom prst="roundRect">
            <a:avLst/>
          </a:prstGeom>
          <a:solidFill>
            <a:srgbClr val="F7ECEA"/>
          </a:solidFill>
          <a:ln w="1905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latent 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12280" y="2029968"/>
            <a:ext cx="1645920" cy="658368"/>
          </a:xfrm>
          <a:prstGeom prst="roundRect">
            <a:avLst/>
          </a:prstGeom>
          <a:solidFill>
            <a:srgbClr val="F7ECEA"/>
          </a:solidFill>
          <a:ln w="1905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Decoder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52560" y="2029968"/>
            <a:ext cx="2331720" cy="658368"/>
          </a:xfrm>
          <a:prstGeom prst="roundRect">
            <a:avLst/>
          </a:prstGeom>
          <a:solidFill>
            <a:srgbClr val="F7ECEA"/>
          </a:solidFill>
          <a:ln w="1905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reconstructed field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377440" y="2276856"/>
            <a:ext cx="45720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4434840" y="2276856"/>
            <a:ext cx="45720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>
            <a:off x="6217920" y="2276856"/>
            <a:ext cx="45720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>
            <a:off x="8549640" y="2276856"/>
            <a:ext cx="45720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2798064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B03A2E"/>
                </a:solidFill>
                <a:latin typeface="Calibri"/>
              </a:rPr>
              <a:t>loss compares the reconstruction to the input in PIXEL space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694176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E7D4F"/>
                </a:solidFill>
                <a:latin typeface="Calibri"/>
              </a:rPr>
              <a:t>JEPA: predict the next latent, no decoder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133087"/>
            <a:ext cx="1554480" cy="658368"/>
          </a:xfrm>
          <a:prstGeom prst="roundRect">
            <a:avLst/>
          </a:prstGeom>
          <a:solidFill>
            <a:srgbClr val="EAF2EC"/>
          </a:solidFill>
          <a:ln w="1905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field ω(t)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880360" y="4133087"/>
            <a:ext cx="1554480" cy="658368"/>
          </a:xfrm>
          <a:prstGeom prst="roundRect">
            <a:avLst/>
          </a:prstGeom>
          <a:solidFill>
            <a:srgbClr val="EAF2EC"/>
          </a:solidFill>
          <a:ln w="1905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Encoder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0" y="4133087"/>
            <a:ext cx="1188720" cy="658368"/>
          </a:xfrm>
          <a:prstGeom prst="roundRect">
            <a:avLst/>
          </a:prstGeom>
          <a:solidFill>
            <a:srgbClr val="EAF2EC"/>
          </a:solidFill>
          <a:ln w="1905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latent z(t)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12280" y="4133087"/>
            <a:ext cx="1645920" cy="658368"/>
          </a:xfrm>
          <a:prstGeom prst="roundRect">
            <a:avLst/>
          </a:prstGeom>
          <a:solidFill>
            <a:srgbClr val="EAF2EC"/>
          </a:solidFill>
          <a:ln w="1905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Predictor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52560" y="4133087"/>
            <a:ext cx="2331720" cy="658368"/>
          </a:xfrm>
          <a:prstGeom prst="roundRect">
            <a:avLst/>
          </a:prstGeom>
          <a:solidFill>
            <a:srgbClr val="EAF2EC"/>
          </a:solidFill>
          <a:ln w="1905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predicted z(t+1)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2377440" y="4379976"/>
            <a:ext cx="45720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ight Arrow 23"/>
          <p:cNvSpPr/>
          <p:nvPr/>
        </p:nvSpPr>
        <p:spPr>
          <a:xfrm>
            <a:off x="4434840" y="4379976"/>
            <a:ext cx="45720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ight Arrow 24"/>
          <p:cNvSpPr/>
          <p:nvPr/>
        </p:nvSpPr>
        <p:spPr>
          <a:xfrm>
            <a:off x="6217920" y="4379976"/>
            <a:ext cx="45720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ight Arrow 25"/>
          <p:cNvSpPr/>
          <p:nvPr/>
        </p:nvSpPr>
        <p:spPr>
          <a:xfrm>
            <a:off x="8549640" y="4379976"/>
            <a:ext cx="45720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901184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E7D4F"/>
                </a:solidFill>
                <a:latin typeface="Calibri"/>
              </a:rPr>
              <a:t>loss compares predicted z(t+1) to z(t+1) = Encoder(next frame) in LATENT space; an anti-collapse term replaces the decoder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650992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3864"/>
                </a:solidFill>
                <a:latin typeface="Calibri"/>
              </a:rPr>
              <a:t>Reconstruction ties the latent to pixels; prediction makes it forecastable</a:t>
            </a:r>
            <a:r>
              <a:rPr sz="1500" b="0">
                <a:solidFill>
                  <a:srgbClr val="1F3864"/>
                </a:solidFill>
                <a:latin typeface="Calibri"/>
              </a:rPr>
              <a:t>, which is what a controller needs.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METHOD, PRIMER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What is a JEPA?  (2 / 2): the recipe and why for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Training, in one line:</a:t>
            </a:r>
            <a:r>
              <a:rPr sz="1700" b="0">
                <a:solidFill>
                  <a:srgbClr val="242933"/>
                </a:solidFill>
                <a:latin typeface="Calibri"/>
              </a:rPr>
              <a:t> minimise the </a:t>
            </a:r>
            <a:r>
              <a:rPr sz="1700" b="1">
                <a:solidFill>
                  <a:srgbClr val="1F3864"/>
                </a:solidFill>
                <a:latin typeface="Calibri"/>
              </a:rPr>
              <a:t>latent</a:t>
            </a:r>
            <a:r>
              <a:rPr sz="1700" b="0">
                <a:solidFill>
                  <a:srgbClr val="242933"/>
                </a:solidFill>
                <a:latin typeface="Calibri"/>
              </a:rPr>
              <a:t> prediction error plus an </a:t>
            </a:r>
            <a:r>
              <a:rPr sz="1700" b="1">
                <a:solidFill>
                  <a:srgbClr val="1F3864"/>
                </a:solidFill>
                <a:latin typeface="Calibri"/>
              </a:rPr>
              <a:t>anti-collapse term</a:t>
            </a:r>
            <a:r>
              <a:rPr sz="1700" b="0">
                <a:solidFill>
                  <a:srgbClr val="242933"/>
                </a:solidFill>
                <a:latin typeface="Calibri"/>
              </a:rPr>
              <a:t> so the encoder cannot cheat by mapping everything to a constant (no decoder, no pixel loss)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So the encoder </a:t>
            </a:r>
            <a:r>
              <a:rPr sz="1700" b="1">
                <a:solidFill>
                  <a:srgbClr val="1F3864"/>
                </a:solidFill>
                <a:latin typeface="Calibri"/>
              </a:rPr>
              <a:t>keeps only what predicts the future</a:t>
            </a:r>
            <a:r>
              <a:rPr sz="1700" b="0">
                <a:solidFill>
                  <a:srgbClr val="242933"/>
                </a:solidFill>
                <a:latin typeface="Calibri"/>
              </a:rPr>
              <a:t> (the control-relevant dynamics), and the predictor </a:t>
            </a:r>
            <a:r>
              <a:rPr sz="1700" b="1">
                <a:solidFill>
                  <a:srgbClr val="1F3864"/>
                </a:solidFill>
                <a:latin typeface="Calibri"/>
              </a:rPr>
              <a:t>gets no pixel-level shortcuts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Cheap to roll out:</a:t>
            </a:r>
            <a:r>
              <a:rPr sz="1700" b="0">
                <a:solidFill>
                  <a:srgbClr val="242933"/>
                </a:solidFill>
                <a:latin typeface="Calibri"/>
              </a:rPr>
              <a:t> planning happens in the d = 32-64 latent, two to three orders of magnitude cheaper than evolving the full field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Lineage: I-JEPA / V-JEPA (image, video); from-pixels LeWM, LeJEPA, PLDM, so far only gridworld and toy visual tasks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Why for control:</a:t>
            </a:r>
            <a:r>
              <a:rPr sz="1700" b="0">
                <a:solidFill>
                  <a:srgbClr val="242933"/>
                </a:solidFill>
                <a:latin typeface="Calibri"/>
              </a:rPr>
              <a:t> a learned world-model that is </a:t>
            </a:r>
            <a:r>
              <a:rPr sz="1700" b="1">
                <a:solidFill>
                  <a:srgbClr val="1F3864"/>
                </a:solidFill>
                <a:latin typeface="Calibri"/>
              </a:rPr>
              <a:t>observable from sensors</a:t>
            </a:r>
            <a:r>
              <a:rPr sz="1700" b="0">
                <a:solidFill>
                  <a:srgbClr val="242933"/>
                </a:solidFill>
                <a:latin typeface="Calibri"/>
              </a:rPr>
              <a:t>; to our knowledge the </a:t>
            </a:r>
            <a:r>
              <a:rPr sz="1700" b="1">
                <a:solidFill>
                  <a:srgbClr val="1F3864"/>
                </a:solidFill>
                <a:latin typeface="Calibri"/>
              </a:rPr>
              <a:t>first end-to-end JEPA on a parametric 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Our architecture for gust encounters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828800" cy="868680"/>
          </a:xfrm>
          <a:prstGeom prst="roundRect">
            <a:avLst/>
          </a:prstGeom>
          <a:solidFill>
            <a:srgbClr val="EEF1F7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mid-plane</a:t>
            </a:r>
          </a:p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vorticity ω(t)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06040" y="1783080"/>
            <a:ext cx="1828800" cy="868680"/>
          </a:xfrm>
          <a:prstGeom prst="roundRect">
            <a:avLst/>
          </a:prstGeom>
          <a:solidFill>
            <a:srgbClr val="EEF1F7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Encoder</a:t>
            </a:r>
          </a:p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(CNN + ViT)</a:t>
            </a:r>
          </a:p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unconditional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09160" y="1783080"/>
            <a:ext cx="1463040" cy="868680"/>
          </a:xfrm>
          <a:prstGeom prst="roundRect">
            <a:avLst/>
          </a:prstGeom>
          <a:solidFill>
            <a:srgbClr val="EAF2EC"/>
          </a:solidFill>
          <a:ln w="1905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latent z(t)</a:t>
            </a:r>
          </a:p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d = 32 / 64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46520" y="1783080"/>
            <a:ext cx="1783080" cy="868680"/>
          </a:xfrm>
          <a:prstGeom prst="roundRect">
            <a:avLst/>
          </a:prstGeom>
          <a:solidFill>
            <a:srgbClr val="FDF0D9"/>
          </a:solidFill>
          <a:ln w="19050">
            <a:solidFill>
              <a:srgbClr val="C052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Predictor</a:t>
            </a:r>
          </a:p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(AR transformer)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49640" y="1783080"/>
            <a:ext cx="1828800" cy="868680"/>
          </a:xfrm>
          <a:prstGeom prst="roundRect">
            <a:avLst/>
          </a:prstGeom>
          <a:solidFill>
            <a:srgbClr val="EAF2EC"/>
          </a:solidFill>
          <a:ln w="1905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predicted</a:t>
            </a:r>
          </a:p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z(t+1)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377440" y="2135124"/>
            <a:ext cx="41148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4434840" y="2135124"/>
            <a:ext cx="41148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6080760" y="2135124"/>
            <a:ext cx="41148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>
            <a:off x="8275320" y="2135124"/>
            <a:ext cx="41148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46520" y="3401568"/>
            <a:ext cx="1783080" cy="603504"/>
          </a:xfrm>
          <a:prstGeom prst="roundRect">
            <a:avLst/>
          </a:prstGeom>
          <a:solidFill>
            <a:srgbClr val="FDF0D9"/>
          </a:solidFill>
          <a:ln w="19050">
            <a:solidFill>
              <a:srgbClr val="C052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gust c = (G, D, Y)</a:t>
            </a:r>
          </a:p>
        </p:txBody>
      </p:sp>
      <p:sp>
        <p:nvSpPr>
          <p:cNvPr id="16" name="Up Arrow 15"/>
          <p:cNvSpPr/>
          <p:nvPr/>
        </p:nvSpPr>
        <p:spPr>
          <a:xfrm>
            <a:off x="7178040" y="2724912"/>
            <a:ext cx="320040" cy="640080"/>
          </a:xfrm>
          <a:prstGeom prst="upArrow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3529584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enters the predictor ONLY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343400"/>
            <a:ext cx="1097280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The </a:t>
            </a:r>
            <a:r>
              <a:rPr sz="1500" b="1">
                <a:solidFill>
                  <a:srgbClr val="1F3864"/>
                </a:solidFill>
                <a:latin typeface="Calibri"/>
              </a:rPr>
              <a:t>encoder is unconditional</a:t>
            </a:r>
            <a:r>
              <a:rPr sz="1500" b="0">
                <a:solidFill>
                  <a:srgbClr val="242933"/>
                </a:solidFill>
                <a:latin typeface="Calibri"/>
              </a:rPr>
              <a:t>: a pure state map ω(t) → z; the gust never touches it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The gust </a:t>
            </a:r>
            <a:r>
              <a:rPr sz="1500" b="1">
                <a:solidFill>
                  <a:srgbClr val="1F3864"/>
                </a:solidFill>
                <a:latin typeface="Calibri"/>
              </a:rPr>
              <a:t>c = (G, D, Y) enters the predictor only</a:t>
            </a:r>
            <a:r>
              <a:rPr sz="1500" b="0">
                <a:solidFill>
                  <a:srgbClr val="242933"/>
                </a:solidFill>
                <a:latin typeface="Calibri"/>
              </a:rPr>
              <a:t> (AdaLN); the predictor </a:t>
            </a:r>
            <a:r>
              <a:rPr sz="1500" b="1">
                <a:solidFill>
                  <a:srgbClr val="1F3864"/>
                </a:solidFill>
                <a:latin typeface="Calibri"/>
              </a:rPr>
              <a:t>is</a:t>
            </a:r>
            <a:r>
              <a:rPr sz="1500" b="0">
                <a:solidFill>
                  <a:srgbClr val="242933"/>
                </a:solidFill>
                <a:latin typeface="Calibri"/>
              </a:rPr>
              <a:t> the latent dynamics model you plan or learn against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A </a:t>
            </a:r>
            <a:r>
              <a:rPr sz="1500" b="1">
                <a:solidFill>
                  <a:srgbClr val="1F3864"/>
                </a:solidFill>
                <a:latin typeface="Calibri"/>
              </a:rPr>
              <a:t>visualisation decoder</a:t>
            </a:r>
            <a:r>
              <a:rPr sz="1500" b="0">
                <a:solidFill>
                  <a:srgbClr val="242933"/>
                </a:solidFill>
                <a:latin typeface="Calibri"/>
              </a:rPr>
              <a:t> is trained on the </a:t>
            </a:r>
            <a:r>
              <a:rPr sz="1500" b="1">
                <a:solidFill>
                  <a:srgbClr val="1F3864"/>
                </a:solidFill>
                <a:latin typeface="Calibri"/>
              </a:rPr>
              <a:t>frozen</a:t>
            </a:r>
            <a:r>
              <a:rPr sz="1500" b="0">
                <a:solidFill>
                  <a:srgbClr val="242933"/>
                </a:solidFill>
                <a:latin typeface="Calibri"/>
              </a:rPr>
              <a:t> encoder, never in the loss (figures only)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Compared at matched latent dimension against a reconstructive AE (Fukami) and POD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METHOD, ALTERNATIVE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Illustrated alternative: the autoencoder route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Reconstructive route (Fukami-Taira lineage): a </a:t>
            </a:r>
            <a:r>
              <a:rPr sz="1600" b="1">
                <a:solidFill>
                  <a:srgbClr val="1F3864"/>
                </a:solidFill>
                <a:latin typeface="Calibri"/>
              </a:rPr>
              <a:t>CNN encoder</a:t>
            </a:r>
            <a:r>
              <a:rPr sz="1600" b="0">
                <a:solidFill>
                  <a:srgbClr val="242933"/>
                </a:solidFill>
                <a:latin typeface="Calibri"/>
              </a:rPr>
              <a:t>, an </a:t>
            </a:r>
            <a:r>
              <a:rPr sz="1600" b="1">
                <a:solidFill>
                  <a:srgbClr val="1F3864"/>
                </a:solidFill>
                <a:latin typeface="Calibri"/>
              </a:rPr>
              <a:t>MLP latent ξ</a:t>
            </a:r>
            <a:r>
              <a:rPr sz="1600" b="0">
                <a:solidFill>
                  <a:srgbClr val="242933"/>
                </a:solidFill>
                <a:latin typeface="Calibri"/>
              </a:rPr>
              <a:t> (which also feeds a lift head to C_L), and a </a:t>
            </a:r>
            <a:r>
              <a:rPr sz="1600" b="1">
                <a:solidFill>
                  <a:srgbClr val="1F3864"/>
                </a:solidFill>
                <a:latin typeface="Calibri"/>
              </a:rPr>
              <a:t>CNN decoder</a:t>
            </a:r>
            <a:r>
              <a:rPr sz="1600" b="0">
                <a:solidFill>
                  <a:srgbClr val="242933"/>
                </a:solidFill>
                <a:latin typeface="Calibri"/>
              </a:rPr>
              <a:t>; the loss compares the reconstructed field to the input in </a:t>
            </a:r>
            <a:r>
              <a:rPr sz="1600" b="1">
                <a:solidFill>
                  <a:srgbClr val="1F3864"/>
                </a:solidFill>
                <a:latin typeface="Calibri"/>
              </a:rPr>
              <a:t>pixel space</a:t>
            </a:r>
          </a:p>
        </p:txBody>
      </p:sp>
      <p:pic>
        <p:nvPicPr>
          <p:cNvPr id="7" name="Picture 6" descr="fukami_a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468880"/>
            <a:ext cx="10698480" cy="304495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779008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An autoencoder reconstructs the field; the latent is shaped by pixel reconstruction.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METHOD, ALTERNATIVE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Illustrated alternative: the JEPA route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Same encoder, but a </a:t>
            </a:r>
            <a:r>
              <a:rPr sz="1600" b="1">
                <a:solidFill>
                  <a:srgbClr val="1F3864"/>
                </a:solidFill>
                <a:latin typeface="Calibri"/>
              </a:rPr>
              <a:t>predictor</a:t>
            </a:r>
            <a:r>
              <a:rPr sz="1600" b="0">
                <a:solidFill>
                  <a:srgbClr val="242933"/>
                </a:solidFill>
                <a:latin typeface="Calibri"/>
              </a:rPr>
              <a:t> advances the latent and the loss lives in </a:t>
            </a:r>
            <a:r>
              <a:rPr sz="1600" b="1">
                <a:solidFill>
                  <a:srgbClr val="1F3864"/>
                </a:solidFill>
                <a:latin typeface="Calibri"/>
              </a:rPr>
              <a:t>latent space</a:t>
            </a:r>
            <a:r>
              <a:rPr sz="1600" b="0">
                <a:solidFill>
                  <a:srgbClr val="242933"/>
                </a:solidFill>
                <a:latin typeface="Calibri"/>
              </a:rPr>
              <a:t>, with </a:t>
            </a:r>
            <a:r>
              <a:rPr sz="1600" b="1">
                <a:solidFill>
                  <a:srgbClr val="1F3864"/>
                </a:solidFill>
                <a:latin typeface="Calibri"/>
              </a:rPr>
              <a:t>no decoder</a:t>
            </a:r>
            <a:r>
              <a:rPr sz="1600" b="0">
                <a:solidFill>
                  <a:srgbClr val="242933"/>
                </a:solidFill>
                <a:latin typeface="Calibri"/>
              </a:rPr>
              <a:t> (an anti-collapse term keeps z informative); the gust c = (G, D, Y) enters the predictor only</a:t>
            </a:r>
          </a:p>
        </p:txBody>
      </p:sp>
      <p:pic>
        <p:nvPicPr>
          <p:cNvPr id="7" name="Picture 6" descr="fukami_je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468880"/>
            <a:ext cx="10698480" cy="32095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870448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JEPA predicts the next latent in latent space, with no field reconstruction.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Forward-closure protocol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972800" cy="228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Forward closure:</a:t>
            </a:r>
            <a:r>
              <a:rPr sz="1700" b="0">
                <a:solidFill>
                  <a:srgbClr val="242933"/>
                </a:solidFill>
                <a:latin typeface="Calibri"/>
              </a:rPr>
              <a:t> roll the predictor recursively to </a:t>
            </a:r>
            <a:r>
              <a:rPr sz="1700" b="1">
                <a:solidFill>
                  <a:srgbClr val="1F3864"/>
                </a:solidFill>
                <a:latin typeface="Calibri"/>
              </a:rPr>
              <a:t>H = 16</a:t>
            </a:r>
            <a:r>
              <a:rPr sz="1700" b="0">
                <a:solidFill>
                  <a:srgbClr val="242933"/>
                </a:solidFill>
                <a:latin typeface="Calibri"/>
              </a:rPr>
              <a:t> frames after impact, then probe each observable from the predicted latent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Matched protocol:</a:t>
            </a:r>
            <a:r>
              <a:rPr sz="1700" b="0">
                <a:solidFill>
                  <a:srgbClr val="242933"/>
                </a:solidFill>
                <a:latin typeface="Calibri"/>
              </a:rPr>
              <a:t> same predictor architecture and same probe family, </a:t>
            </a:r>
            <a:r>
              <a:rPr sz="1700" b="1">
                <a:solidFill>
                  <a:srgbClr val="1F3864"/>
                </a:solidFill>
                <a:latin typeface="Calibri"/>
              </a:rPr>
              <a:t>trained / fitted separately per latent</a:t>
            </a:r>
            <a:r>
              <a:rPr sz="1700" b="0">
                <a:solidFill>
                  <a:srgbClr val="242933"/>
                </a:solidFill>
                <a:latin typeface="Calibri"/>
              </a:rPr>
              <a:t>, so differences are the encoder's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Conditioning-only floor:</a:t>
            </a:r>
            <a:r>
              <a:rPr sz="1700" b="0">
                <a:solidFill>
                  <a:srgbClr val="242933"/>
                </a:solidFill>
                <a:latin typeface="Calibri"/>
              </a:rPr>
              <a:t> can the </a:t>
            </a:r>
            <a:r>
              <a:rPr sz="1700" b="1">
                <a:solidFill>
                  <a:srgbClr val="1F3864"/>
                </a:solidFill>
                <a:latin typeface="Calibri"/>
              </a:rPr>
              <a:t>three gust numbers (G, D, Y) alone</a:t>
            </a:r>
            <a:r>
              <a:rPr sz="1700" b="0">
                <a:solidFill>
                  <a:srgbClr val="242933"/>
                </a:solidFill>
                <a:latin typeface="Calibri"/>
              </a:rPr>
              <a:t> predict each observable (a kernel-ridge fit)? A latent that only matches this has merely re-encoded its known inputs; </a:t>
            </a:r>
            <a:r>
              <a:rPr sz="1700" b="1">
                <a:solidFill>
                  <a:srgbClr val="1F3864"/>
                </a:solidFill>
                <a:latin typeface="Calibri"/>
              </a:rPr>
              <a:t>beating the floor proves the latent carries flow state beyond the parameters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Reported with bootstrap CIs, 3 encoder seeds, 5-fold probe CV; held-out test_b / test_c</a:t>
            </a:r>
          </a:p>
        </p:txBody>
      </p:sp>
      <p:pic>
        <p:nvPicPr>
          <p:cNvPr id="7" name="Picture 6" descr="eval_protoc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0572" y="3977639"/>
            <a:ext cx="7080374" cy="1920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16167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The same predictor and probe map every encoder family to the observables, in two modes.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Main result: forward closure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5379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Closure R² (rolled-out latent to observable, mean over six): </a:t>
            </a:r>
            <a:r>
              <a:rPr sz="1600" b="1">
                <a:solidFill>
                  <a:srgbClr val="1F3864"/>
                </a:solidFill>
                <a:latin typeface="Calibri"/>
              </a:rPr>
              <a:t>JEPA 0.84 · Fukami 0.43 · POD 0.56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1">
                <a:solidFill>
                  <a:srgbClr val="1F3864"/>
                </a:solidFill>
                <a:latin typeface="Calibri"/>
              </a:rPr>
              <a:t>Wake enstrophy</a:t>
            </a:r>
            <a:r>
              <a:rPr sz="1600" b="0">
                <a:solidFill>
                  <a:srgbClr val="242933"/>
                </a:solidFill>
                <a:latin typeface="Calibri"/>
              </a:rPr>
              <a:t> is the discriminator: </a:t>
            </a:r>
            <a:r>
              <a:rPr sz="1600" b="1">
                <a:solidFill>
                  <a:srgbClr val="1F3864"/>
                </a:solidFill>
                <a:latin typeface="Calibri"/>
              </a:rPr>
              <a:t>0.93</a:t>
            </a:r>
            <a:r>
              <a:rPr sz="1600" b="0">
                <a:solidFill>
                  <a:srgbClr val="242933"/>
                </a:solidFill>
                <a:latin typeface="Calibri"/>
              </a:rPr>
              <a:t> vs 0.28 / 0.37; held-out MAE </a:t>
            </a:r>
            <a:r>
              <a:rPr sz="1600" b="1">
                <a:solidFill>
                  <a:srgbClr val="1F3864"/>
                </a:solidFill>
                <a:latin typeface="Calibri"/>
              </a:rPr>
              <a:t>2.4 to 3× lower</a:t>
            </a:r>
            <a:r>
              <a:rPr sz="1600" b="0">
                <a:solidFill>
                  <a:srgbClr val="242933"/>
                </a:solidFill>
                <a:latin typeface="Calibri"/>
              </a:rPr>
              <a:t>. POD competes only on the impulse I_y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1">
                <a:solidFill>
                  <a:srgbClr val="1F3864"/>
                </a:solidFill>
                <a:latin typeface="Calibri"/>
              </a:rPr>
              <a:t>Wake enstrophy</a:t>
            </a:r>
            <a:r>
              <a:rPr sz="1600" b="0">
                <a:solidFill>
                  <a:srgbClr val="242933"/>
                </a:solidFill>
                <a:latin typeface="Calibri"/>
              </a:rPr>
              <a:t> E_w = ∫ ω_z² over the wake (x/c ∈ [0.5, 4], |y/c| ≤ 1): the </a:t>
            </a:r>
            <a:r>
              <a:rPr sz="1600" b="1">
                <a:solidFill>
                  <a:srgbClr val="1F3864"/>
                </a:solidFill>
                <a:latin typeface="Calibri"/>
              </a:rPr>
              <a:t>intensity of the wake's rotational structures</a:t>
            </a:r>
            <a:r>
              <a:rPr sz="1600" b="0">
                <a:solidFill>
                  <a:srgbClr val="242933"/>
                </a:solidFill>
                <a:latin typeface="Calibri"/>
              </a:rPr>
              <a:t> (LEV + shed vortices) that set the future load, the part reconstruction-only states smooth away, so it is the hard, discriminating target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1">
                <a:solidFill>
                  <a:srgbClr val="1F3864"/>
                </a:solidFill>
                <a:latin typeface="Calibri"/>
              </a:rPr>
              <a:t>Impulse</a:t>
            </a:r>
            <a:r>
              <a:rPr sz="1600" b="0">
                <a:solidFill>
                  <a:srgbClr val="242933"/>
                </a:solidFill>
                <a:latin typeface="Calibri"/>
              </a:rPr>
              <a:t> I_y = ∫ x·ω_z over the slice: a </a:t>
            </a:r>
            <a:r>
              <a:rPr sz="1600" b="1">
                <a:solidFill>
                  <a:srgbClr val="1F3864"/>
                </a:solidFill>
                <a:latin typeface="Calibri"/>
              </a:rPr>
              <a:t>vortical-transport</a:t>
            </a:r>
            <a:r>
              <a:rPr sz="1600" b="0">
                <a:solidFill>
                  <a:srgbClr val="242933"/>
                </a:solidFill>
                <a:latin typeface="Calibri"/>
              </a:rPr>
              <a:t> integral tying the wake's vorticity distribution to the loading; smooth and low-rank, so even POD captures it, the *easy* contrast that isolates where the wake is hard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Each panel's MAE is in that observable's own units; R² is the cross-observable comparison</a:t>
            </a:r>
          </a:p>
        </p:txBody>
      </p:sp>
      <p:pic>
        <p:nvPicPr>
          <p:cNvPr id="7" name="Picture 6" descr="closure_H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664208"/>
            <a:ext cx="4480560" cy="350909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0" y="610819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Held-out MAE at H = 16 by observable (test B top, test C bottom); each observable in its own units.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Forward closure at shorter horizons: H = 8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53212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The same comparison, rolled out to </a:t>
            </a:r>
            <a:r>
              <a:rPr sz="1600" b="1">
                <a:solidFill>
                  <a:srgbClr val="1F3864"/>
                </a:solidFill>
                <a:latin typeface="Calibri"/>
              </a:rPr>
              <a:t>H = 8</a:t>
            </a:r>
            <a:r>
              <a:rPr sz="1600" b="0">
                <a:solidFill>
                  <a:srgbClr val="242933"/>
                </a:solidFill>
                <a:latin typeface="Calibri"/>
              </a:rPr>
              <a:t> instead of 16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The family ordering is unchanged: the predictive latent is lowest on the wake, near the DNS-oracle floor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Absolute errors are smaller at the shorter horizon: wake-enstrophy MAE ≈ </a:t>
            </a:r>
            <a:r>
              <a:rPr sz="1600" b="1">
                <a:solidFill>
                  <a:srgbClr val="1F3864"/>
                </a:solidFill>
                <a:latin typeface="Calibri"/>
              </a:rPr>
              <a:t>30</a:t>
            </a:r>
            <a:r>
              <a:rPr sz="1600" b="0">
                <a:solidFill>
                  <a:srgbClr val="242933"/>
                </a:solidFill>
                <a:latin typeface="Calibri"/>
              </a:rPr>
              <a:t> for JEPA, vs ≈ 41 at H = 16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Reconstructive and POD stay well above the floor on the wake</a:t>
            </a:r>
          </a:p>
        </p:txBody>
      </p:sp>
      <p:pic>
        <p:nvPicPr>
          <p:cNvPr id="7" name="Picture 6" descr="closure_H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7399" y="1664208"/>
            <a:ext cx="5541760" cy="4389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6108192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Held-out MAE at H = 8 by observable (test B top, test C bottom).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Forward closure at shorter horizons: H = 4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53212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Rolled out to </a:t>
            </a:r>
            <a:r>
              <a:rPr sz="1600" b="1">
                <a:solidFill>
                  <a:srgbClr val="1F3864"/>
                </a:solidFill>
                <a:latin typeface="Calibri"/>
              </a:rPr>
              <a:t>H = 4</a:t>
            </a:r>
            <a:r>
              <a:rPr sz="1600" b="0">
                <a:solidFill>
                  <a:srgbClr val="242933"/>
                </a:solidFill>
                <a:latin typeface="Calibri"/>
              </a:rPr>
              <a:t>, four frames after impact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The predictive latent is still lowest on the wake enstrophy and closest to the oracle floor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Errors shrink further: wake-enstrophy MAE ≈ </a:t>
            </a:r>
            <a:r>
              <a:rPr sz="1600" b="1">
                <a:solidFill>
                  <a:srgbClr val="1F3864"/>
                </a:solidFill>
                <a:latin typeface="Calibri"/>
              </a:rPr>
              <a:t>27</a:t>
            </a:r>
            <a:r>
              <a:rPr sz="1600" b="0">
                <a:solidFill>
                  <a:srgbClr val="242933"/>
                </a:solidFill>
                <a:latin typeface="Calibri"/>
              </a:rPr>
              <a:t> for JEPA; the wake stays the discriminating observable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So the advantage holds at </a:t>
            </a:r>
            <a:r>
              <a:rPr sz="1600" b="1">
                <a:solidFill>
                  <a:srgbClr val="1F3864"/>
                </a:solidFill>
                <a:latin typeface="Calibri"/>
              </a:rPr>
              <a:t>every horizon we test</a:t>
            </a:r>
            <a:r>
              <a:rPr sz="1600" b="0">
                <a:solidFill>
                  <a:srgbClr val="242933"/>
                </a:solidFill>
                <a:latin typeface="Calibri"/>
              </a:rPr>
              <a:t>, not only H = 16</a:t>
            </a:r>
          </a:p>
        </p:txBody>
      </p:sp>
      <p:pic>
        <p:nvPicPr>
          <p:cNvPr id="7" name="Picture 6" descr="closure_H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5916" y="1664208"/>
            <a:ext cx="5524726" cy="4389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6108192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Held-out MAE at H = 4 by observable (test B top, test C bottom).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Forward closure in action: the rollout tracks the encounter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42976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The predictor </a:t>
            </a:r>
            <a:r>
              <a:rPr sz="1500" b="1">
                <a:solidFill>
                  <a:srgbClr val="1F3864"/>
                </a:solidFill>
                <a:latin typeface="Calibri"/>
              </a:rPr>
              <a:t>rolls the latent forward from impact</a:t>
            </a:r>
            <a:r>
              <a:rPr sz="1500" b="0">
                <a:solidFill>
                  <a:srgbClr val="242933"/>
                </a:solidFill>
                <a:latin typeface="Calibri"/>
              </a:rPr>
              <a:t>; each scalar is read off the rolled latent by a fixed linear probe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1">
                <a:solidFill>
                  <a:srgbClr val="1F3864"/>
                </a:solidFill>
                <a:latin typeface="Calibri"/>
              </a:rPr>
              <a:t>Wake enstrophy</a:t>
            </a:r>
            <a:r>
              <a:rPr sz="1500" b="0">
                <a:solidFill>
                  <a:srgbClr val="242933"/>
                </a:solidFill>
                <a:latin typeface="Calibri"/>
              </a:rPr>
              <a:t> and </a:t>
            </a:r>
            <a:r>
              <a:rPr sz="1500" b="1">
                <a:solidFill>
                  <a:srgbClr val="1F3864"/>
                </a:solidFill>
                <a:latin typeface="Calibri"/>
              </a:rPr>
              <a:t>lift</a:t>
            </a:r>
            <a:r>
              <a:rPr sz="1500" b="0">
                <a:solidFill>
                  <a:srgbClr val="242933"/>
                </a:solidFill>
                <a:latin typeface="Calibri"/>
              </a:rPr>
              <a:t> track the DNS truth (black) through impact and the lift dip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Reconstruction (green) = encoded-latent </a:t>
            </a:r>
            <a:r>
              <a:rPr sz="1500" b="1">
                <a:solidFill>
                  <a:srgbClr val="1F3864"/>
                </a:solidFill>
                <a:latin typeface="Calibri"/>
              </a:rPr>
              <a:t>ceiling</a:t>
            </a:r>
            <a:r>
              <a:rPr sz="1500" b="0">
                <a:solidFill>
                  <a:srgbClr val="242933"/>
                </a:solidFill>
                <a:latin typeface="Calibri"/>
              </a:rPr>
              <a:t>; prediction (orange) = the </a:t>
            </a:r>
            <a:r>
              <a:rPr sz="1500" b="1">
                <a:solidFill>
                  <a:srgbClr val="1F3864"/>
                </a:solidFill>
                <a:latin typeface="Calibri"/>
              </a:rPr>
              <a:t>forecast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A representative </a:t>
            </a:r>
            <a:r>
              <a:rPr sz="1500" b="1">
                <a:solidFill>
                  <a:srgbClr val="1F3864"/>
                </a:solidFill>
                <a:latin typeface="Calibri"/>
              </a:rPr>
              <a:t>low-error</a:t>
            </a:r>
            <a:r>
              <a:rPr sz="1500" b="0">
                <a:solidFill>
                  <a:srgbClr val="242933"/>
                </a:solidFill>
                <a:latin typeface="Calibri"/>
              </a:rPr>
              <a:t> encounter (G = -1.5), not the hardest case</a:t>
            </a:r>
          </a:p>
        </p:txBody>
      </p:sp>
      <p:pic>
        <p:nvPicPr>
          <p:cNvPr id="7" name="forecast_anim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212080" y="1600200"/>
            <a:ext cx="6309360" cy="455371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RESULT, PHYSICAL SPACE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The same forecast in physical space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242933"/>
                </a:solidFill>
                <a:latin typeface="Calibri"/>
              </a:rPr>
              <a:t>Decode the rolled latent every frame: the forecast as full vorticity fields, not just scalars.</a:t>
            </a:r>
          </a:p>
        </p:txBody>
      </p:sp>
      <p:pic>
        <p:nvPicPr>
          <p:cNvPr id="7" name="field_anim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77240" y="2057400"/>
            <a:ext cx="10607040" cy="27980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5029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DNS truth vs reconstruction (JEPA encode→decode of the latent) vs prediction (rolled latent), G = -1.5. At impact (H = 0) prediction = reconstruction; they diverge with horizon. SSIM(prediction) 0.77 at impact, 0.53 at H = 16. The latent keeps the LEV and shear layer; fine-scale wake is not retained at d = 64.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It is the wake, not the forces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2636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Forces</a:t>
            </a:r>
            <a:r>
              <a:rPr sz="1700" b="0">
                <a:solidFill>
                  <a:srgbClr val="242933"/>
                </a:solidFill>
                <a:latin typeface="Calibri"/>
              </a:rPr>
              <a:t> (C_L, C_D) are forecast </a:t>
            </a:r>
            <a:r>
              <a:rPr sz="1700" b="1">
                <a:solidFill>
                  <a:srgbClr val="1F3864"/>
                </a:solidFill>
                <a:latin typeface="Calibri"/>
              </a:rPr>
              <a:t>redundantly by every family</a:t>
            </a:r>
            <a:r>
              <a:rPr sz="1700" b="0">
                <a:solidFill>
                  <a:srgbClr val="242933"/>
                </a:solidFill>
                <a:latin typeface="Calibri"/>
              </a:rPr>
              <a:t>, many coordinates carry them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Only the predictive latent carries a </a:t>
            </a:r>
            <a:r>
              <a:rPr sz="1700" b="1">
                <a:solidFill>
                  <a:srgbClr val="1F3864"/>
                </a:solidFill>
                <a:latin typeface="Calibri"/>
              </a:rPr>
              <a:t>distributed wake-forecast code</a:t>
            </a:r>
            <a:r>
              <a:rPr sz="1700" b="0">
                <a:solidFill>
                  <a:srgbClr val="242933"/>
                </a:solidFill>
                <a:latin typeface="Calibri"/>
              </a:rPr>
              <a:t> (rank corr 0.83; best single coordinate 0.44)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Reconstructive / linear: best single coordinate ≈ the whole latent → </a:t>
            </a:r>
            <a:r>
              <a:rPr sz="1700" b="1">
                <a:solidFill>
                  <a:srgbClr val="1F3864"/>
                </a:solidFill>
                <a:latin typeface="Calibri"/>
              </a:rPr>
              <a:t>no collective wake structure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And it clears the </a:t>
            </a:r>
            <a:r>
              <a:rPr sz="1700" b="1">
                <a:solidFill>
                  <a:srgbClr val="1F3864"/>
                </a:solidFill>
                <a:latin typeface="Calibri"/>
              </a:rPr>
              <a:t>conditioning-only floor</a:t>
            </a:r>
            <a:r>
              <a:rPr sz="1700" b="0">
                <a:solidFill>
                  <a:srgbClr val="242933"/>
                </a:solidFill>
                <a:latin typeface="Calibri"/>
              </a:rPr>
              <a:t> → the latent, not the parameters, does the work</a:t>
            </a:r>
          </a:p>
        </p:txBody>
      </p:sp>
      <p:pic>
        <p:nvPicPr>
          <p:cNvPr id="7" name="Picture 6" descr="wake_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664208"/>
            <a:ext cx="4754880" cy="324550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61081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Wake forecast skill: full latent (dark) vs best single coordinate (light).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The wake in physical space: the Gaussian scale split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2636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1">
                <a:solidFill>
                  <a:srgbClr val="1F3864"/>
                </a:solidFill>
                <a:latin typeface="Calibri"/>
              </a:rPr>
              <a:t>Gaussian scale split</a:t>
            </a:r>
            <a:r>
              <a:rPr sz="1400" b="0">
                <a:solidFill>
                  <a:srgbClr val="242933"/>
                </a:solidFill>
                <a:latin typeface="Calibri"/>
              </a:rPr>
              <a:t> (Motoori &amp; Goto 2019): low-pass the vorticity at σ/c = 0.05 into a </a:t>
            </a:r>
            <a:r>
              <a:rPr sz="1400" b="1">
                <a:solidFill>
                  <a:srgbClr val="1F3864"/>
                </a:solidFill>
                <a:latin typeface="Calibri"/>
              </a:rPr>
              <a:t>large-scale</a:t>
            </a:r>
            <a:r>
              <a:rPr sz="1400" b="0">
                <a:solidFill>
                  <a:srgbClr val="242933"/>
                </a:solidFill>
                <a:latin typeface="Calibri"/>
              </a:rPr>
              <a:t> part (LEV + shear layer, carries the lift) and a fine part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0">
                <a:solidFill>
                  <a:srgbClr val="242933"/>
                </a:solidFill>
                <a:latin typeface="Calibri"/>
              </a:rPr>
              <a:t>Top: large-scale vorticity at impact+16 for the strongest test gust (G = -3, D = 1.5, Y = -0.1), simulation vs the </a:t>
            </a:r>
            <a:r>
              <a:rPr sz="1400" b="1">
                <a:solidFill>
                  <a:srgbClr val="1F3864"/>
                </a:solidFill>
                <a:latin typeface="Calibri"/>
              </a:rPr>
              <a:t>predictive</a:t>
            </a:r>
            <a:r>
              <a:rPr sz="1400" b="0">
                <a:solidFill>
                  <a:srgbClr val="242933"/>
                </a:solidFill>
                <a:latin typeface="Calibri"/>
              </a:rPr>
              <a:t> and </a:t>
            </a:r>
            <a:r>
              <a:rPr sz="1400" b="1">
                <a:solidFill>
                  <a:srgbClr val="1F3864"/>
                </a:solidFill>
                <a:latin typeface="Calibri"/>
              </a:rPr>
              <a:t>reconstructive</a:t>
            </a:r>
            <a:r>
              <a:rPr sz="1400" b="0">
                <a:solidFill>
                  <a:srgbClr val="242933"/>
                </a:solidFill>
                <a:latin typeface="Calibri"/>
              </a:rPr>
              <a:t> encode-then-decode reconstructions: predictive keeps the LEV/wake, reconstructive smooths it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0">
                <a:solidFill>
                  <a:srgbClr val="242933"/>
                </a:solidFill>
                <a:latin typeface="Calibri"/>
              </a:rPr>
              <a:t>Bottom: the </a:t>
            </a:r>
            <a:r>
              <a:rPr sz="1400" b="1">
                <a:solidFill>
                  <a:srgbClr val="1F3864"/>
                </a:solidFill>
                <a:latin typeface="Calibri"/>
              </a:rPr>
              <a:t>large-scale wake enstrophy</a:t>
            </a:r>
            <a:r>
              <a:rPr sz="1400" b="0">
                <a:solidFill>
                  <a:srgbClr val="242933"/>
                </a:solidFill>
                <a:latin typeface="Calibri"/>
              </a:rPr>
              <a:t> through the encounter; bands = mean ± 1 s.d. across test_b encounters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0">
                <a:solidFill>
                  <a:srgbClr val="242933"/>
                </a:solidFill>
                <a:latin typeface="Calibri"/>
              </a:rPr>
              <a:t>So 'it is the wake' is visible in </a:t>
            </a:r>
            <a:r>
              <a:rPr sz="1400" b="1">
                <a:solidFill>
                  <a:srgbClr val="1F3864"/>
                </a:solidFill>
                <a:latin typeface="Calibri"/>
              </a:rPr>
              <a:t>physical space</a:t>
            </a:r>
            <a:r>
              <a:rPr sz="1400" b="0">
                <a:solidFill>
                  <a:srgbClr val="242933"/>
                </a:solidFill>
                <a:latin typeface="Calibri"/>
              </a:rPr>
              <a:t>, not only in the scalar closure</a:t>
            </a:r>
          </a:p>
        </p:txBody>
      </p:sp>
      <p:pic>
        <p:nvPicPr>
          <p:cNvPr id="7" name="Picture 6" descr="scale_deco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664208"/>
            <a:ext cx="4754880" cy="308987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61081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Large-scale (σ/c = 0.05) wake vorticity at impact+16 (top) and large-scale wake enstrophy vs frame (bottom), by family.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Latent coordinates group by physical function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257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Profile each of the 64 predictive-latent coordinates by its |Spearman| correlation with nine descriptors (gust G, forces, wake enstrophy, circulations Γ±, wake thickness, centroid)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Clustering the profiles recovers </a:t>
            </a:r>
            <a:r>
              <a:rPr sz="1500" b="1">
                <a:solidFill>
                  <a:srgbClr val="1F3864"/>
                </a:solidFill>
                <a:latin typeface="Calibri"/>
              </a:rPr>
              <a:t>functional groups</a:t>
            </a:r>
            <a:r>
              <a:rPr sz="1500" b="0">
                <a:solidFill>
                  <a:srgbClr val="242933"/>
                </a:solidFill>
                <a:latin typeface="Calibri"/>
              </a:rPr>
              <a:t>: </a:t>
            </a:r>
            <a:r>
              <a:rPr sz="1500" b="1">
                <a:solidFill>
                  <a:srgbClr val="1F3864"/>
                </a:solidFill>
                <a:latin typeface="Calibri"/>
              </a:rPr>
              <a:t>~51 wake-vorticity</a:t>
            </a:r>
            <a:r>
              <a:rPr sz="1500" b="0">
                <a:solidFill>
                  <a:srgbClr val="242933"/>
                </a:solidFill>
                <a:latin typeface="Calibri"/>
              </a:rPr>
              <a:t> coordinates (G1, G2) and </a:t>
            </a:r>
            <a:r>
              <a:rPr sz="1500" b="1">
                <a:solidFill>
                  <a:srgbClr val="1F3864"/>
                </a:solidFill>
                <a:latin typeface="Calibri"/>
              </a:rPr>
              <a:t>11 gust-forcing</a:t>
            </a:r>
            <a:r>
              <a:rPr sz="1500" b="0">
                <a:solidFill>
                  <a:srgbClr val="242933"/>
                </a:solidFill>
                <a:latin typeface="Calibri"/>
              </a:rPr>
              <a:t> coordinates (G3); two near-silent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Alone, the wake groups forecast the future wake at </a:t>
            </a:r>
            <a:r>
              <a:rPr sz="1500" b="1">
                <a:solidFill>
                  <a:srgbClr val="1F3864"/>
                </a:solidFill>
                <a:latin typeface="Calibri"/>
              </a:rPr>
              <a:t>≈ 0.7</a:t>
            </a:r>
            <a:r>
              <a:rPr sz="1500" b="0">
                <a:solidFill>
                  <a:srgbClr val="242933"/>
                </a:solidFill>
                <a:latin typeface="Calibri"/>
              </a:rPr>
              <a:t>, the forcing group at </a:t>
            </a:r>
            <a:r>
              <a:rPr sz="1500" b="1">
                <a:solidFill>
                  <a:srgbClr val="1F3864"/>
                </a:solidFill>
                <a:latin typeface="Calibri"/>
              </a:rPr>
              <a:t>0.45</a:t>
            </a:r>
            <a:r>
              <a:rPr sz="1500" b="0">
                <a:solidFill>
                  <a:srgbClr val="242933"/>
                </a:solidFill>
                <a:latin typeface="Calibri"/>
              </a:rPr>
              <a:t> (all 64 together: 0.83), the collective wake code seen earlier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Read </a:t>
            </a:r>
            <a:r>
              <a:rPr sz="1500" b="1">
                <a:solidFill>
                  <a:srgbClr val="1F3864"/>
                </a:solidFill>
                <a:latin typeface="Calibri"/>
              </a:rPr>
              <a:t>descriptively</a:t>
            </a:r>
            <a:r>
              <a:rPr sz="1500" b="0">
                <a:solidFill>
                  <a:srgbClr val="242933"/>
                </a:solidFill>
                <a:latin typeface="Calibri"/>
              </a:rPr>
              <a:t>, not as a causal claim</a:t>
            </a:r>
          </a:p>
        </p:txBody>
      </p:sp>
      <p:pic>
        <p:nvPicPr>
          <p:cNvPr id="7" name="Picture 6" descr="coord_grou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664208"/>
            <a:ext cx="5852160" cy="418408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35040" y="6108192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Per-coordinate |ρ| with each descriptor; rows grouped into functional clusters (G1-G4), labelled with coord count and held-out wake-forecast skill.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RESULT, CONTROLS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Controls: objective and supervision, not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2636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2 × 2:</a:t>
            </a:r>
            <a:r>
              <a:rPr sz="1700" b="0">
                <a:solidFill>
                  <a:srgbClr val="242933"/>
                </a:solidFill>
                <a:latin typeface="Calibri"/>
              </a:rPr>
              <a:t> objective {predictive, reconstructive} × architecture {CNN, CNN+ViT}, auxiliary heads matched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Predictive beats reconstructive at </a:t>
            </a:r>
            <a:r>
              <a:rPr sz="1700" b="1">
                <a:solidFill>
                  <a:srgbClr val="1F3864"/>
                </a:solidFill>
                <a:latin typeface="Calibri"/>
              </a:rPr>
              <a:t>both</a:t>
            </a:r>
            <a:r>
              <a:rPr sz="1700" b="0">
                <a:solidFill>
                  <a:srgbClr val="242933"/>
                </a:solidFill>
                <a:latin typeface="Calibri"/>
              </a:rPr>
              <a:t> architectures (wake R² 0.46 / 0.45 vs 0.16 / 0.29) → </a:t>
            </a:r>
            <a:r>
              <a:rPr sz="1700" b="1">
                <a:solidFill>
                  <a:srgbClr val="1F3864"/>
                </a:solidFill>
                <a:latin typeface="Calibri"/>
              </a:rPr>
              <a:t>not the ViT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Remove the wake head from the predictive model → wake closure </a:t>
            </a:r>
            <a:r>
              <a:rPr sz="1700" b="1">
                <a:solidFill>
                  <a:srgbClr val="1F3864"/>
                </a:solidFill>
                <a:latin typeface="Calibri"/>
              </a:rPr>
              <a:t>collapses below floor (R² = −1.03)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→ the gain needs the </a:t>
            </a:r>
            <a:r>
              <a:rPr sz="1700" b="1">
                <a:solidFill>
                  <a:srgbClr val="1F3864"/>
                </a:solidFill>
                <a:latin typeface="Calibri"/>
              </a:rPr>
              <a:t>predictive objective and wake supervision together</a:t>
            </a:r>
          </a:p>
        </p:txBody>
      </p:sp>
      <p:pic>
        <p:nvPicPr>
          <p:cNvPr id="7" name="Picture 6" descr="controls_fair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664208"/>
            <a:ext cx="4754880" cy="30972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61081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Objective × architecture controls, three seeds per cell.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Diagnostic 1: latent drift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2636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1">
                <a:solidFill>
                  <a:srgbClr val="1F3864"/>
                </a:solidFill>
                <a:latin typeface="Calibri"/>
              </a:rPr>
              <a:t>Why this question:</a:t>
            </a:r>
            <a:r>
              <a:rPr sz="1400" b="0">
                <a:solidFill>
                  <a:srgbClr val="242933"/>
                </a:solidFill>
                <a:latin typeface="Calibri"/>
              </a:rPr>
              <a:t> a planner / RL agent queries the model at states reached by its </a:t>
            </a:r>
            <a:r>
              <a:rPr sz="1400" b="1">
                <a:solidFill>
                  <a:srgbClr val="1F3864"/>
                </a:solidFill>
                <a:latin typeface="Calibri"/>
              </a:rPr>
              <a:t>own rollout</a:t>
            </a:r>
            <a:r>
              <a:rPr sz="1400" b="0">
                <a:solidFill>
                  <a:srgbClr val="242933"/>
                </a:solidFill>
                <a:latin typeface="Calibri"/>
              </a:rPr>
              <a:t>, one-step error is not enough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1">
                <a:solidFill>
                  <a:srgbClr val="1F3864"/>
                </a:solidFill>
                <a:latin typeface="Calibri"/>
              </a:rPr>
              <a:t>Mahalanobis distance:</a:t>
            </a:r>
            <a:r>
              <a:rPr sz="1400" b="0">
                <a:solidFill>
                  <a:srgbClr val="242933"/>
                </a:solidFill>
                <a:latin typeface="Calibri"/>
              </a:rPr>
              <a:t> covariance-aware distance from a reference cloud, d = sqrt((z−μ)' S^-1 (z−μ)); ≈ 1 is one standard-deviation unit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0">
                <a:solidFill>
                  <a:srgbClr val="242933"/>
                </a:solidFill>
                <a:latin typeface="Calibri"/>
              </a:rPr>
              <a:t>We compare the </a:t>
            </a:r>
            <a:r>
              <a:rPr sz="1400" b="1">
                <a:solidFill>
                  <a:srgbClr val="1F3864"/>
                </a:solidFill>
                <a:latin typeface="Calibri"/>
              </a:rPr>
              <a:t>rolled-out</a:t>
            </a:r>
            <a:r>
              <a:rPr sz="1400" b="0">
                <a:solidFill>
                  <a:srgbClr val="242933"/>
                </a:solidFill>
                <a:latin typeface="Calibri"/>
              </a:rPr>
              <a:t> latent to the distribution of </a:t>
            </a:r>
            <a:r>
              <a:rPr sz="1400" b="1">
                <a:solidFill>
                  <a:srgbClr val="1F3864"/>
                </a:solidFill>
                <a:latin typeface="Calibri"/>
              </a:rPr>
              <a:t>DNS-encoded</a:t>
            </a:r>
            <a:r>
              <a:rPr sz="1400" b="0">
                <a:solidFill>
                  <a:srgbClr val="242933"/>
                </a:solidFill>
                <a:latin typeface="Calibri"/>
              </a:rPr>
              <a:t> latents (ratio = rollout / encoded)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1">
                <a:solidFill>
                  <a:srgbClr val="1F3864"/>
                </a:solidFill>
                <a:latin typeface="Calibri"/>
              </a:rPr>
              <a:t>Result:</a:t>
            </a:r>
            <a:r>
              <a:rPr sz="1400" b="0">
                <a:solidFill>
                  <a:srgbClr val="242933"/>
                </a:solidFill>
                <a:latin typeface="Calibri"/>
              </a:rPr>
              <a:t> the reconstructive rollout drifts </a:t>
            </a:r>
            <a:r>
              <a:rPr sz="1400" b="1">
                <a:solidFill>
                  <a:srgbClr val="1F3864"/>
                </a:solidFill>
                <a:latin typeface="Calibri"/>
              </a:rPr>
              <a:t>~10× off-manifold (9.9)</a:t>
            </a:r>
            <a:r>
              <a:rPr sz="1400" b="0">
                <a:solidFill>
                  <a:srgbClr val="242933"/>
                </a:solidFill>
                <a:latin typeface="Calibri"/>
              </a:rPr>
              <a:t>; JEPA 0.85 and POD 0.81 stay inside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0">
                <a:solidFill>
                  <a:srgbClr val="242933"/>
                </a:solidFill>
                <a:latin typeface="Calibri"/>
              </a:rPr>
              <a:t>The R² in the plot is </a:t>
            </a:r>
            <a:r>
              <a:rPr sz="1400" b="1">
                <a:solidFill>
                  <a:srgbClr val="1F3864"/>
                </a:solidFill>
                <a:latin typeface="Calibri"/>
              </a:rPr>
              <a:t>forward closure via a probe</a:t>
            </a:r>
            <a:r>
              <a:rPr sz="1400" b="0">
                <a:solidFill>
                  <a:srgbClr val="242933"/>
                </a:solidFill>
                <a:latin typeface="Calibri"/>
              </a:rPr>
              <a:t>: the predictor advances only the </a:t>
            </a:r>
            <a:r>
              <a:rPr sz="1400" b="1">
                <a:solidFill>
                  <a:srgbClr val="1F3864"/>
                </a:solidFill>
                <a:latin typeface="Calibri"/>
              </a:rPr>
              <a:t>latent</a:t>
            </a:r>
            <a:r>
              <a:rPr sz="1400" b="0">
                <a:solidFill>
                  <a:srgbClr val="242933"/>
                </a:solidFill>
                <a:latin typeface="Calibri"/>
              </a:rPr>
              <a:t>, and a fixed linear probe reads each observable off the rolled-out latent (no direct predictor of C_L or the wake)</a:t>
            </a:r>
          </a:p>
        </p:txBody>
      </p:sp>
      <p:pic>
        <p:nvPicPr>
          <p:cNvPr id="7" name="Picture 6" descr="horizon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664208"/>
            <a:ext cx="4754880" cy="3246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61081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Forward-closure R² vs rollout horizon (test_b): the predictor advances the latent; a linear probe reads each observable off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Diagnostic 2: topology of the encounter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2636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1">
                <a:solidFill>
                  <a:srgbClr val="1F3864"/>
                </a:solidFill>
                <a:latin typeface="Calibri"/>
              </a:rPr>
              <a:t>Why:</a:t>
            </a:r>
            <a:r>
              <a:rPr sz="1400" b="0">
                <a:solidFill>
                  <a:srgbClr val="242933"/>
                </a:solidFill>
                <a:latin typeface="Calibri"/>
              </a:rPr>
              <a:t> shedding and gust encounters are </a:t>
            </a:r>
            <a:r>
              <a:rPr sz="1400" b="1">
                <a:solidFill>
                  <a:srgbClr val="1F3864"/>
                </a:solidFill>
                <a:latin typeface="Calibri"/>
              </a:rPr>
              <a:t>cyclic</a:t>
            </a:r>
            <a:r>
              <a:rPr sz="1400" b="0">
                <a:solidFill>
                  <a:srgbClr val="242933"/>
                </a:solidFill>
                <a:latin typeface="Calibri"/>
              </a:rPr>
              <a:t>; a faithful state should trace </a:t>
            </a:r>
            <a:r>
              <a:rPr sz="1400" b="1">
                <a:solidFill>
                  <a:srgbClr val="1F3864"/>
                </a:solidFill>
                <a:latin typeface="Calibri"/>
              </a:rPr>
              <a:t>one loop</a:t>
            </a:r>
            <a:r>
              <a:rPr sz="1400" b="0">
                <a:solidFill>
                  <a:srgbClr val="242933"/>
                </a:solidFill>
                <a:latin typeface="Calibri"/>
              </a:rPr>
              <a:t> per encounter, not a tangle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1">
                <a:solidFill>
                  <a:srgbClr val="1F3864"/>
                </a:solidFill>
                <a:latin typeface="Calibri"/>
              </a:rPr>
              <a:t>Persistent homology</a:t>
            </a:r>
            <a:r>
              <a:rPr sz="1400" b="0">
                <a:solidFill>
                  <a:srgbClr val="242933"/>
                </a:solidFill>
                <a:latin typeface="Calibri"/>
              </a:rPr>
              <a:t> (coordinate-free): it grows a distance scale on the latent trajectory and counts the </a:t>
            </a:r>
            <a:r>
              <a:rPr sz="1400" b="1">
                <a:solidFill>
                  <a:srgbClr val="1F3864"/>
                </a:solidFill>
                <a:latin typeface="Calibri"/>
              </a:rPr>
              <a:t>loops (1-cycles) that persist</a:t>
            </a:r>
            <a:r>
              <a:rPr sz="1400" b="0">
                <a:solidFill>
                  <a:srgbClr val="242933"/>
                </a:solidFill>
                <a:latin typeface="Calibri"/>
              </a:rPr>
              <a:t> over a long scale range, i.e. the genuine cycles, not noise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1">
                <a:solidFill>
                  <a:srgbClr val="1F3864"/>
                </a:solidFill>
                <a:latin typeface="Calibri"/>
              </a:rPr>
              <a:t>Result (encoded latent, 42 test_b encounters):</a:t>
            </a:r>
            <a:r>
              <a:rPr sz="1400" b="0">
                <a:solidFill>
                  <a:srgbClr val="242933"/>
                </a:solidFill>
                <a:latin typeface="Calibri"/>
              </a:rPr>
              <a:t> JEPA has </a:t>
            </a:r>
            <a:r>
              <a:rPr sz="1400" b="1">
                <a:solidFill>
                  <a:srgbClr val="1F3864"/>
                </a:solidFill>
                <a:latin typeface="Calibri"/>
              </a:rPr>
              <a:t>median 1</a:t>
            </a:r>
            <a:r>
              <a:rPr sz="1400" b="0">
                <a:solidFill>
                  <a:srgbClr val="242933"/>
                </a:solidFill>
                <a:latin typeface="Calibri"/>
              </a:rPr>
              <a:t> persistent loop vs reconstructive </a:t>
            </a:r>
            <a:r>
              <a:rPr sz="1400" b="1">
                <a:solidFill>
                  <a:srgbClr val="1F3864"/>
                </a:solidFill>
                <a:latin typeface="Calibri"/>
              </a:rPr>
              <a:t>median 3.5</a:t>
            </a:r>
            <a:r>
              <a:rPr sz="1400" b="0">
                <a:solidFill>
                  <a:srgbClr val="242933"/>
                </a:solidFill>
                <a:latin typeface="Calibri"/>
              </a:rPr>
              <a:t> (Mann-Whitney p ≈ 4×10⁻⁸); at case level </a:t>
            </a:r>
            <a:r>
              <a:rPr sz="1400" b="1">
                <a:solidFill>
                  <a:srgbClr val="1F3864"/>
                </a:solidFill>
                <a:latin typeface="Calibri"/>
              </a:rPr>
              <a:t>all 10 cases</a:t>
            </a:r>
            <a:r>
              <a:rPr sz="1400" b="0">
                <a:solidFill>
                  <a:srgbClr val="242933"/>
                </a:solidFill>
                <a:latin typeface="Calibri"/>
              </a:rPr>
              <a:t> have fewer loops for JEPA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0">
                <a:solidFill>
                  <a:srgbClr val="242933"/>
                </a:solidFill>
                <a:latin typeface="Calibri"/>
              </a:rPr>
              <a:t>So the predictive state is a </a:t>
            </a:r>
            <a:r>
              <a:rPr sz="1400" b="1">
                <a:solidFill>
                  <a:srgbClr val="1F3864"/>
                </a:solidFill>
                <a:latin typeface="Calibri"/>
              </a:rPr>
              <a:t>single clean cycle</a:t>
            </a:r>
            <a:r>
              <a:rPr sz="1400" b="0">
                <a:solidFill>
                  <a:srgbClr val="242933"/>
                </a:solidFill>
                <a:latin typeface="Calibri"/>
              </a:rPr>
              <a:t>, the reconstructive one </a:t>
            </a:r>
            <a:r>
              <a:rPr sz="1400" b="1">
                <a:solidFill>
                  <a:srgbClr val="1F3864"/>
                </a:solidFill>
                <a:latin typeface="Calibri"/>
              </a:rPr>
              <a:t>fragments</a:t>
            </a:r>
            <a:r>
              <a:rPr sz="1400" b="0">
                <a:solidFill>
                  <a:srgbClr val="242933"/>
                </a:solidFill>
                <a:latin typeface="Calibri"/>
              </a:rPr>
              <a:t>. This is the *topological count*, </a:t>
            </a:r>
            <a:r>
              <a:rPr sz="1400" b="1">
                <a:solidFill>
                  <a:srgbClr val="1F3864"/>
                </a:solidFill>
                <a:latin typeface="Calibri"/>
              </a:rPr>
              <a:t>not</a:t>
            </a:r>
            <a:r>
              <a:rPr sz="1400" b="0">
                <a:solidFill>
                  <a:srgbClr val="242933"/>
                </a:solidFill>
                <a:latin typeface="Calibri"/>
              </a:rPr>
              <a:t> a claim that the PCA curve visually closes (panels are encode→decode, no predictor; the orbit departs the baseline cycle and only partially returns in 120 frames)</a:t>
            </a:r>
          </a:p>
        </p:txBody>
      </p:sp>
      <p:pic>
        <p:nvPicPr>
          <p:cNvPr id="7" name="Picture 6" descr="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7571" y="1664208"/>
            <a:ext cx="4601496" cy="4389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61081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(a, b) PCA of the encoded-latent trajectory; (c) staged decodes (reconstructions) with OT distances. Single-cycle = median 1 persistent H1 generator (vs 3.5); the orbit need not visually close in the window.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Diagnostic 3: transport geometry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2636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1">
                <a:solidFill>
                  <a:srgbClr val="1F3864"/>
                </a:solidFill>
                <a:latin typeface="Calibri"/>
              </a:rPr>
              <a:t>Why:</a:t>
            </a:r>
            <a:r>
              <a:rPr sz="1400" b="0">
                <a:solidFill>
                  <a:srgbClr val="242933"/>
                </a:solidFill>
                <a:latin typeface="Calibri"/>
              </a:rPr>
              <a:t> Euclidean / pixel distance ignores </a:t>
            </a:r>
            <a:r>
              <a:rPr sz="1400" b="1">
                <a:solidFill>
                  <a:srgbClr val="1F3864"/>
                </a:solidFill>
                <a:latin typeface="Calibri"/>
              </a:rPr>
              <a:t>where structures move</a:t>
            </a:r>
            <a:r>
              <a:rPr sz="1400" b="0">
                <a:solidFill>
                  <a:srgbClr val="242933"/>
                </a:solidFill>
                <a:latin typeface="Calibri"/>
              </a:rPr>
              <a:t>; control cares about advection of the LEV and shear layer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1">
                <a:solidFill>
                  <a:srgbClr val="1F3864"/>
                </a:solidFill>
                <a:latin typeface="Calibri"/>
              </a:rPr>
              <a:t>Optimal-transport (OT) distance:</a:t>
            </a:r>
            <a:r>
              <a:rPr sz="1400" b="0">
                <a:solidFill>
                  <a:srgbClr val="242933"/>
                </a:solidFill>
                <a:latin typeface="Calibri"/>
              </a:rPr>
              <a:t> the least cost to rearrange one vorticity field into another, so it measures transport, not just intensity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0">
                <a:solidFill>
                  <a:srgbClr val="242933"/>
                </a:solidFill>
                <a:latin typeface="Calibri"/>
              </a:rPr>
              <a:t>Per encounter, Spearman-correlate the </a:t>
            </a:r>
            <a:r>
              <a:rPr sz="1400" b="1">
                <a:solidFill>
                  <a:srgbClr val="1F3864"/>
                </a:solidFill>
                <a:latin typeface="Calibri"/>
              </a:rPr>
              <a:t>latent</a:t>
            </a:r>
            <a:r>
              <a:rPr sz="1400" b="0">
                <a:solidFill>
                  <a:srgbClr val="242933"/>
                </a:solidFill>
                <a:latin typeface="Calibri"/>
              </a:rPr>
              <a:t> distance matrix with the </a:t>
            </a:r>
            <a:r>
              <a:rPr sz="1400" b="1">
                <a:solidFill>
                  <a:srgbClr val="1F3864"/>
                </a:solidFill>
                <a:latin typeface="Calibri"/>
              </a:rPr>
              <a:t>OT</a:t>
            </a:r>
            <a:r>
              <a:rPr sz="1400" b="0">
                <a:solidFill>
                  <a:srgbClr val="242933"/>
                </a:solidFill>
                <a:latin typeface="Calibri"/>
              </a:rPr>
              <a:t> distance matrix (n = 42 test_b)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1">
                <a:solidFill>
                  <a:srgbClr val="1F3864"/>
                </a:solidFill>
                <a:latin typeface="Calibri"/>
              </a:rPr>
              <a:t>Within-encounter:</a:t>
            </a:r>
            <a:r>
              <a:rPr sz="1400" b="0">
                <a:solidFill>
                  <a:srgbClr val="242933"/>
                </a:solidFill>
                <a:latin typeface="Calibri"/>
              </a:rPr>
              <a:t> JEPA </a:t>
            </a:r>
            <a:r>
              <a:rPr sz="1400" b="1">
                <a:solidFill>
                  <a:srgbClr val="1F3864"/>
                </a:solidFill>
                <a:latin typeface="Calibri"/>
              </a:rPr>
              <a:t>0.63 ± 0.15</a:t>
            </a:r>
            <a:r>
              <a:rPr sz="1400" b="0">
                <a:solidFill>
                  <a:srgbClr val="242933"/>
                </a:solidFill>
                <a:latin typeface="Calibri"/>
              </a:rPr>
              <a:t> vs reconstructive </a:t>
            </a:r>
            <a:r>
              <a:rPr sz="1400" b="1">
                <a:solidFill>
                  <a:srgbClr val="1F3864"/>
                </a:solidFill>
                <a:latin typeface="Calibri"/>
              </a:rPr>
              <a:t>0.45</a:t>
            </a:r>
            <a:r>
              <a:rPr sz="1400" b="0">
                <a:solidFill>
                  <a:srgbClr val="242933"/>
                </a:solidFill>
                <a:latin typeface="Calibri"/>
              </a:rPr>
              <a:t>, order-preservation along the trajectory, </a:t>
            </a:r>
            <a:r>
              <a:rPr sz="1400" b="1">
                <a:solidFill>
                  <a:srgbClr val="1F3864"/>
                </a:solidFill>
                <a:latin typeface="Calibri"/>
              </a:rPr>
              <a:t>not</a:t>
            </a:r>
            <a:r>
              <a:rPr sz="1400" b="0">
                <a:solidFill>
                  <a:srgbClr val="242933"/>
                </a:solidFill>
                <a:latin typeface="Calibri"/>
              </a:rPr>
              <a:t> an isometry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1">
                <a:solidFill>
                  <a:srgbClr val="1F3864"/>
                </a:solidFill>
                <a:latin typeface="Calibri"/>
              </a:rPr>
              <a:t>Honest caveat:</a:t>
            </a:r>
            <a:r>
              <a:rPr sz="1400" b="0">
                <a:solidFill>
                  <a:srgbClr val="242933"/>
                </a:solidFill>
                <a:latin typeface="Calibri"/>
              </a:rPr>
              <a:t> *pooled across* encounters the ranking </a:t>
            </a:r>
            <a:r>
              <a:rPr sz="1400" b="1">
                <a:solidFill>
                  <a:srgbClr val="1F3864"/>
                </a:solidFill>
                <a:latin typeface="Calibri"/>
              </a:rPr>
              <a:t>reverses</a:t>
            </a:r>
            <a:r>
              <a:rPr sz="1400" b="0">
                <a:solidFill>
                  <a:srgbClr val="242933"/>
                </a:solidFill>
                <a:latin typeface="Calibri"/>
              </a:rPr>
              <a:t> (JEPA 0.38 vs 0.63), so this alignment is </a:t>
            </a:r>
            <a:r>
              <a:rPr sz="1400" b="1">
                <a:solidFill>
                  <a:srgbClr val="1F3864"/>
                </a:solidFill>
                <a:latin typeface="Calibri"/>
              </a:rPr>
              <a:t>trajectory-local</a:t>
            </a:r>
            <a:r>
              <a:rPr sz="1400" b="0">
                <a:solidFill>
                  <a:srgbClr val="242933"/>
                </a:solidFill>
                <a:latin typeface="Calibri"/>
              </a:rPr>
              <a:t>, not a global latent metric</a:t>
            </a:r>
          </a:p>
        </p:txBody>
      </p:sp>
      <p:pic>
        <p:nvPicPr>
          <p:cNvPr id="7" name="Picture 6" descr="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664208"/>
            <a:ext cx="4754880" cy="223098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61081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Per-encounter latent-vs-OT distance alignment (Shepard). Headline is the within-encounter Spearman (0.63 vs 0.45); pooled over all encounters it does not hold (0.38 vs 0.63).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RESULT, PHYSICAL SPACE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Decoded reconstructions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972800" cy="1417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Decoded fields: predictive vs reconstructive vs POD vs DNS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The predictive decode is </a:t>
            </a:r>
            <a:r>
              <a:rPr sz="1700" b="1">
                <a:solidFill>
                  <a:srgbClr val="1F3864"/>
                </a:solidFill>
                <a:latin typeface="Calibri"/>
              </a:rPr>
              <a:t>blurrier pixel-wise</a:t>
            </a:r>
            <a:r>
              <a:rPr sz="1700" b="0">
                <a:solidFill>
                  <a:srgbClr val="242933"/>
                </a:solidFill>
                <a:latin typeface="Calibri"/>
              </a:rPr>
              <a:t> but preserves the </a:t>
            </a:r>
            <a:r>
              <a:rPr sz="1700" b="1">
                <a:solidFill>
                  <a:srgbClr val="1F3864"/>
                </a:solidFill>
                <a:latin typeface="Calibri"/>
              </a:rPr>
              <a:t>transported large-scale wake</a:t>
            </a:r>
            <a:r>
              <a:rPr sz="1700" b="0">
                <a:solidFill>
                  <a:srgbClr val="242933"/>
                </a:solidFill>
                <a:latin typeface="Calibri"/>
              </a:rPr>
              <a:t>; the reconstructive decode is sharp yet drifts under rollout</a:t>
            </a:r>
          </a:p>
        </p:txBody>
      </p:sp>
      <p:pic>
        <p:nvPicPr>
          <p:cNvPr id="7" name="Picture 6" descr="reconstru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7833" y="3108960"/>
            <a:ext cx="6005853" cy="2926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053327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Held-out reconstructions; the predictive objective trades pixel sharpness for transported structure.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CONTROL RELEVANCE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Sparse sensor placement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97280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Sparse wall-pressure sensors selected by </a:t>
            </a:r>
            <a:r>
              <a:rPr sz="1700" b="1">
                <a:solidFill>
                  <a:srgbClr val="1F3864"/>
                </a:solidFill>
                <a:latin typeface="Calibri"/>
              </a:rPr>
              <a:t>TCSI / qDEIM</a:t>
            </a:r>
            <a:r>
              <a:rPr sz="1700" b="0">
                <a:solidFill>
                  <a:srgbClr val="242933"/>
                </a:solidFill>
                <a:latin typeface="Calibri"/>
              </a:rPr>
              <a:t> vs uniform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Pressure → latent map: KernelRidge(RBF) on the K-sensor × pre-impact-window vector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K = 2 / 4 / 8 / 16; the LSTM/KRR comparison is 5-fold-CV selected to guard small-sample overfitting</a:t>
            </a:r>
          </a:p>
        </p:txBody>
      </p:sp>
      <p:pic>
        <p:nvPicPr>
          <p:cNvPr id="7" name="Picture 6" descr="sensor_plac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7821" y="3200400"/>
            <a:ext cx="6985876" cy="2834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053327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Optimal sparse sensor placement on the airfoil surface.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CONTROL RELEVANCE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Flow recovered from sparse wall pressure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2636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1">
                <a:solidFill>
                  <a:srgbClr val="1F3864"/>
                </a:solidFill>
                <a:latin typeface="Calibri"/>
              </a:rPr>
              <a:t>Model:</a:t>
            </a:r>
            <a:r>
              <a:rPr sz="1600" b="0">
                <a:solidFill>
                  <a:srgbClr val="242933"/>
                </a:solidFill>
                <a:latin typeface="Calibri"/>
              </a:rPr>
              <a:t> a </a:t>
            </a:r>
            <a:r>
              <a:rPr sz="1600" b="1">
                <a:solidFill>
                  <a:srgbClr val="1F3864"/>
                </a:solidFill>
                <a:latin typeface="Calibri"/>
              </a:rPr>
              <a:t>KernelRidge (RBF kernel)</a:t>
            </a:r>
            <a:r>
              <a:rPr sz="1600" b="0">
                <a:solidFill>
                  <a:srgbClr val="242933"/>
                </a:solidFill>
                <a:latin typeface="Calibri"/>
              </a:rPr>
              <a:t> regressor maps the K wall-pressure taps over a pre-impact window to the </a:t>
            </a:r>
            <a:r>
              <a:rPr sz="1600" b="1">
                <a:solidFill>
                  <a:srgbClr val="1F3864"/>
                </a:solidFill>
                <a:latin typeface="Calibri"/>
              </a:rPr>
              <a:t>impact-frame latent</a:t>
            </a:r>
            <a:r>
              <a:rPr sz="1600" b="0">
                <a:solidFill>
                  <a:srgbClr val="242933"/>
                </a:solidFill>
                <a:latin typeface="Calibri"/>
              </a:rPr>
              <a:t>; the frozen decoder then renders the field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1">
                <a:solidFill>
                  <a:srgbClr val="1F3864"/>
                </a:solidFill>
                <a:latin typeface="Calibri"/>
              </a:rPr>
              <a:t>K = 8 taps</a:t>
            </a:r>
            <a:r>
              <a:rPr sz="1600" b="0">
                <a:solidFill>
                  <a:srgbClr val="242933"/>
                </a:solidFill>
                <a:latin typeface="Calibri"/>
              </a:rPr>
              <a:t> recover the leading-edge vortex and shear layer; </a:t>
            </a:r>
            <a:r>
              <a:rPr sz="1600" b="1">
                <a:solidFill>
                  <a:srgbClr val="1F3864"/>
                </a:solidFill>
                <a:latin typeface="Calibri"/>
              </a:rPr>
              <a:t>K = 2</a:t>
            </a:r>
            <a:r>
              <a:rPr sz="1600" b="0">
                <a:solidFill>
                  <a:srgbClr val="242933"/>
                </a:solidFill>
                <a:latin typeface="Calibri"/>
              </a:rPr>
              <a:t> coarsens but keeps the gross wake structure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Benchmarked against the </a:t>
            </a:r>
            <a:r>
              <a:rPr sz="1600" b="1">
                <a:solidFill>
                  <a:srgbClr val="1F3864"/>
                </a:solidFill>
                <a:latin typeface="Calibri"/>
              </a:rPr>
              <a:t>oracle decode</a:t>
            </a:r>
            <a:r>
              <a:rPr sz="1600" b="0">
                <a:solidFill>
                  <a:srgbClr val="242933"/>
                </a:solidFill>
                <a:latin typeface="Calibri"/>
              </a:rPr>
              <a:t> (decode of the simulation-encoded latent) and the simulation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So the predictive state is </a:t>
            </a:r>
            <a:r>
              <a:rPr sz="1600" b="1">
                <a:solidFill>
                  <a:srgbClr val="1F3864"/>
                </a:solidFill>
                <a:latin typeface="Calibri"/>
              </a:rPr>
              <a:t>reconstructible from a few wall sensors</a:t>
            </a:r>
            <a:r>
              <a:rPr sz="1600" b="0">
                <a:solidFill>
                  <a:srgbClr val="242933"/>
                </a:solidFill>
                <a:latin typeface="Calibri"/>
              </a:rPr>
              <a:t>, a deployment-relevant observability result</a:t>
            </a:r>
          </a:p>
        </p:txBody>
      </p:sp>
      <p:pic>
        <p:nvPicPr>
          <p:cNvPr id="7" name="Picture 6" descr="flow_recov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664208"/>
            <a:ext cx="4754880" cy="272876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61081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Flow recovered from sparse wall pressure: simulation, oracle decode, and decode of the latent estimated from K = 8 and K = 2 taps (held-out encounters).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CONTROL RELEVANCE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Sparse-sensor state estimation in action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242933"/>
                </a:solidFill>
                <a:latin typeface="Calibri"/>
              </a:rPr>
              <a:t>No predictor here: a per-frame </a:t>
            </a:r>
            <a:r>
              <a:rPr sz="1600" b="1">
                <a:solidFill>
                  <a:srgbClr val="1F3864"/>
                </a:solidFill>
                <a:latin typeface="Calibri"/>
              </a:rPr>
              <a:t>MLP</a:t>
            </a:r>
            <a:r>
              <a:rPr sz="1600" b="0">
                <a:solidFill>
                  <a:srgbClr val="242933"/>
                </a:solidFill>
                <a:latin typeface="Calibri"/>
              </a:rPr>
              <a:t> maps a causal 6-frame window of 16 wall-pressure taps to the latent, then the frozen decoder renders the field.</a:t>
            </a:r>
          </a:p>
        </p:txBody>
      </p:sp>
      <p:pic>
        <p:nvPicPr>
          <p:cNvPr id="7" name="sensing_anim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600200" y="1965960"/>
            <a:ext cx="8961120" cy="32826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3492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DNS truth (green dots mark the 16 TCSI taps) vs the field recovered from wall pressure alone, on a held-out encounter. Held-out-encounter latent R-squared = 0.72, SSIM ~ 0.5. Wall pressure fixes the near-body LEV and shear layer; the far wake is not surface-observable.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CONTROL RELEVANCE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Control relevance: observable and forecastable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0807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The predictive state is </a:t>
            </a:r>
            <a:r>
              <a:rPr sz="1600" b="1">
                <a:solidFill>
                  <a:srgbClr val="1F3864"/>
                </a:solidFill>
                <a:latin typeface="Calibri"/>
              </a:rPr>
              <a:t>observable from sparse wall pressure</a:t>
            </a:r>
            <a:r>
              <a:rPr sz="1600" b="0">
                <a:solidFill>
                  <a:srgbClr val="242933"/>
                </a:solidFill>
                <a:latin typeface="Calibri"/>
              </a:rPr>
              <a:t>: (G, D) recoverable from the latent (R² ≈ 0.46 / 0.80 on test_b)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1">
                <a:solidFill>
                  <a:srgbClr val="1F3864"/>
                </a:solidFill>
                <a:latin typeface="Calibri"/>
              </a:rPr>
              <a:t>Lead-time impact-C_L:</a:t>
            </a:r>
            <a:r>
              <a:rPr sz="1600" b="0">
                <a:solidFill>
                  <a:srgbClr val="242933"/>
                </a:solidFill>
                <a:latin typeface="Calibri"/>
              </a:rPr>
              <a:t> predictor-in-loop </a:t>
            </a:r>
            <a:r>
              <a:rPr sz="1600" b="1">
                <a:solidFill>
                  <a:srgbClr val="1F3864"/>
                </a:solidFill>
                <a:latin typeface="Calibri"/>
              </a:rPr>
              <a:t>R² = 0.35 at 10 frames pre-impact</a:t>
            </a:r>
            <a:r>
              <a:rPr sz="1600" b="0">
                <a:solidFill>
                  <a:srgbClr val="242933"/>
                </a:solidFill>
                <a:latin typeface="Calibri"/>
              </a:rPr>
              <a:t>, vs 0.13 from direct pressure sensing (oracle 0.68)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The reconstructive latent's oracle is </a:t>
            </a:r>
            <a:r>
              <a:rPr sz="1600" b="1">
                <a:solidFill>
                  <a:srgbClr val="1F3864"/>
                </a:solidFill>
                <a:latin typeface="Calibri"/>
              </a:rPr>
              <a:t>negative</a:t>
            </a:r>
            <a:r>
              <a:rPr sz="1600" b="0">
                <a:solidFill>
                  <a:srgbClr val="242933"/>
                </a:solidFill>
                <a:latin typeface="Calibri"/>
              </a:rPr>
              <a:t>, a representation failure, not a probe failure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A deployment-relevant </a:t>
            </a:r>
            <a:r>
              <a:rPr sz="1600" b="1">
                <a:solidFill>
                  <a:srgbClr val="1F3864"/>
                </a:solidFill>
                <a:latin typeface="Calibri"/>
              </a:rPr>
              <a:t>state estimate plus short-horizon forecast</a:t>
            </a:r>
            <a:r>
              <a:rPr sz="1600" b="0">
                <a:solidFill>
                  <a:srgbClr val="242933"/>
                </a:solidFill>
                <a:latin typeface="Calibri"/>
              </a:rPr>
              <a:t>: the ingredients a controller consumes</a:t>
            </a:r>
          </a:p>
        </p:txBody>
      </p:sp>
      <p:pic>
        <p:nvPicPr>
          <p:cNvPr id="7" name="Picture 6" descr="cl_inference_si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664208"/>
            <a:ext cx="5029200" cy="292172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0" y="6108192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Impact-C_L inferred at each lead time before impact (test_b R²): oracle = probe on the DNS-encoded latent; direct = pressure sensors to C_L; predictor-in-loop = roll the latent to impact, then probe.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CONCLUSIONS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Conclusions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A </a:t>
            </a:r>
            <a:r>
              <a:rPr sz="1800" b="1">
                <a:solidFill>
                  <a:srgbClr val="1F3864"/>
                </a:solidFill>
                <a:latin typeface="Calibri"/>
              </a:rPr>
              <a:t>predictive objective + wake supervision</a:t>
            </a:r>
            <a:r>
              <a:rPr sz="1800" b="0">
                <a:solidFill>
                  <a:srgbClr val="242933"/>
                </a:solidFill>
                <a:latin typeface="Calibri"/>
              </a:rPr>
              <a:t> yields a latent dynamics model that is </a:t>
            </a:r>
            <a:r>
              <a:rPr sz="1800" b="1">
                <a:solidFill>
                  <a:srgbClr val="1F3864"/>
                </a:solidFill>
                <a:latin typeface="Calibri"/>
              </a:rPr>
              <a:t>forward-closed</a:t>
            </a:r>
            <a:r>
              <a:rPr sz="1800" b="0">
                <a:solidFill>
                  <a:srgbClr val="242933"/>
                </a:solidFill>
                <a:latin typeface="Calibri"/>
              </a:rPr>
              <a:t> (wake R² 0.75 representational / 0.84 mean), stays </a:t>
            </a:r>
            <a:r>
              <a:rPr sz="1800" b="1">
                <a:solidFill>
                  <a:srgbClr val="1F3864"/>
                </a:solidFill>
                <a:latin typeface="Calibri"/>
              </a:rPr>
              <a:t>on-manifold</a:t>
            </a:r>
            <a:r>
              <a:rPr sz="1800" b="0">
                <a:solidFill>
                  <a:srgbClr val="242933"/>
                </a:solidFill>
                <a:latin typeface="Calibri"/>
              </a:rPr>
              <a:t> under rollout, is a </a:t>
            </a:r>
            <a:r>
              <a:rPr sz="1800" b="1">
                <a:solidFill>
                  <a:srgbClr val="1F3864"/>
                </a:solidFill>
                <a:latin typeface="Calibri"/>
              </a:rPr>
              <a:t>single cycle</a:t>
            </a:r>
            <a:r>
              <a:rPr sz="1800" b="0">
                <a:solidFill>
                  <a:srgbClr val="242933"/>
                </a:solidFill>
                <a:latin typeface="Calibri"/>
              </a:rPr>
              <a:t>, and is </a:t>
            </a:r>
            <a:r>
              <a:rPr sz="1800" b="1">
                <a:solidFill>
                  <a:srgbClr val="1F3864"/>
                </a:solidFill>
                <a:latin typeface="Calibri"/>
              </a:rPr>
              <a:t>transport-aligned along each encounter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      –  </a:t>
            </a:r>
            <a:r>
              <a:rPr sz="1500" b="1">
                <a:solidFill>
                  <a:srgbClr val="1F3864"/>
                </a:solidFill>
                <a:latin typeface="Calibri"/>
              </a:rPr>
              <a:t>compact</a:t>
            </a:r>
            <a:r>
              <a:rPr sz="1500" b="0">
                <a:solidFill>
                  <a:srgbClr val="6B7280"/>
                </a:solidFill>
                <a:latin typeface="Calibri"/>
              </a:rPr>
              <a:t> (d = 32 ≈ d = 64, participation ratio ≈ 1.7) and </a:t>
            </a:r>
            <a:r>
              <a:rPr sz="1500" b="1">
                <a:solidFill>
                  <a:srgbClr val="1F3864"/>
                </a:solidFill>
                <a:latin typeface="Calibri"/>
              </a:rPr>
              <a:t>observable</a:t>
            </a:r>
            <a:r>
              <a:rPr sz="1500" b="0">
                <a:solidFill>
                  <a:srgbClr val="6B7280"/>
                </a:solidFill>
                <a:latin typeface="Calibri"/>
              </a:rPr>
              <a:t> from sparse wall pressure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The discriminator throughout is the </a:t>
            </a:r>
            <a:r>
              <a:rPr sz="1800" b="1">
                <a:solidFill>
                  <a:srgbClr val="1F3864"/>
                </a:solidFill>
                <a:latin typeface="Calibri"/>
              </a:rPr>
              <a:t>wake</a:t>
            </a:r>
            <a:r>
              <a:rPr sz="1800" b="0">
                <a:solidFill>
                  <a:srgbClr val="242933"/>
                </a:solidFill>
                <a:latin typeface="Calibri"/>
              </a:rPr>
              <a:t>, which force-only and reconstruction-only states lose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It is a </a:t>
            </a:r>
            <a:r>
              <a:rPr sz="1800" b="1">
                <a:solidFill>
                  <a:srgbClr val="1F3864"/>
                </a:solidFill>
                <a:latin typeface="Calibri"/>
              </a:rPr>
              <a:t>conditional forward-closure model</a:t>
            </a:r>
            <a:r>
              <a:rPr sz="1800" b="0">
                <a:solidFill>
                  <a:srgbClr val="242933"/>
                </a:solidFill>
                <a:latin typeface="Calibri"/>
              </a:rPr>
              <a:t>, a substrate for model-based control and RL world-models, </a:t>
            </a:r>
            <a:r>
              <a:rPr sz="1800" b="1">
                <a:solidFill>
                  <a:srgbClr val="1F3864"/>
                </a:solidFill>
                <a:latin typeface="Calibri"/>
              </a:rPr>
              <a:t>not yet a validated controller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1">
                <a:solidFill>
                  <a:srgbClr val="1F3864"/>
                </a:solidFill>
                <a:latin typeface="Calibri"/>
              </a:rPr>
              <a:t>Next:</a:t>
            </a:r>
            <a:r>
              <a:rPr sz="1800" b="0">
                <a:solidFill>
                  <a:srgbClr val="242933"/>
                </a:solidFill>
                <a:latin typeface="Calibri"/>
              </a:rPr>
              <a:t> swap the gust conditioning for an </a:t>
            </a:r>
            <a:r>
              <a:rPr sz="1800" b="1">
                <a:solidFill>
                  <a:srgbClr val="1F3864"/>
                </a:solidFill>
                <a:latin typeface="Calibri"/>
              </a:rPr>
              <a:t>actuation channel</a:t>
            </a:r>
            <a:r>
              <a:rPr sz="1800" b="0">
                <a:solidFill>
                  <a:srgbClr val="242933"/>
                </a:solidFill>
                <a:latin typeface="Calibri"/>
              </a:rPr>
              <a:t> (same machinery), </a:t>
            </a:r>
            <a:r>
              <a:rPr sz="1800" b="1">
                <a:solidFill>
                  <a:srgbClr val="1F3864"/>
                </a:solidFill>
                <a:latin typeface="Calibri"/>
              </a:rPr>
              <a:t>close the loop</a:t>
            </a:r>
            <a:r>
              <a:rPr sz="1800" b="0">
                <a:solidFill>
                  <a:srgbClr val="242933"/>
                </a:solidFill>
                <a:latin typeface="Calibri"/>
              </a:rPr>
              <a:t>, push to </a:t>
            </a:r>
            <a:r>
              <a:rPr sz="1800" b="1">
                <a:solidFill>
                  <a:srgbClr val="1F3864"/>
                </a:solidFill>
                <a:latin typeface="Calibri"/>
              </a:rPr>
              <a:t>3D observability</a:t>
            </a:r>
            <a:r>
              <a:rPr sz="1800" b="0">
                <a:solidFill>
                  <a:srgbClr val="242933"/>
                </a:solidFill>
                <a:latin typeface="Calibri"/>
              </a:rPr>
              <a:t> at |G| = 4, and carry the recipe to </a:t>
            </a:r>
            <a:r>
              <a:rPr sz="1800" b="1">
                <a:solidFill>
                  <a:srgbClr val="1F3864"/>
                </a:solidFill>
                <a:latin typeface="Calibri"/>
              </a:rPr>
              <a:t>other parametric flows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THANKS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Acknowledgements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242933"/>
                </a:solidFill>
                <a:latin typeface="Calibri"/>
              </a:rPr>
              <a:t>This work is a collaboration with:</a:t>
            </a:r>
          </a:p>
        </p:txBody>
      </p:sp>
      <p:pic>
        <p:nvPicPr>
          <p:cNvPr id="7" name="Picture 6" descr="photo_solera_s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79" y="2011680"/>
            <a:ext cx="1554480" cy="1554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79" y="3657600"/>
            <a:ext cx="3383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3864"/>
                </a:solidFill>
                <a:latin typeface="Calibri"/>
              </a:rPr>
              <a:t>Alberto Solera-Rico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INTA · UC3M</a:t>
            </a:r>
          </a:p>
        </p:txBody>
      </p:sp>
      <p:pic>
        <p:nvPicPr>
          <p:cNvPr id="9" name="Picture 8" descr="photo_miro_sq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0" y="2011680"/>
            <a:ext cx="1554480" cy="1554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89120" y="3657600"/>
            <a:ext cx="3383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3864"/>
                </a:solidFill>
                <a:latin typeface="Calibri"/>
              </a:rPr>
              <a:t>Arnau Miró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UPC · BSC</a:t>
            </a:r>
          </a:p>
        </p:txBody>
      </p:sp>
      <p:pic>
        <p:nvPicPr>
          <p:cNvPr id="11" name="Picture 10" descr="photo_lehmkuhl_sq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0" y="2011680"/>
            <a:ext cx="1554480" cy="1554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138160" y="3657600"/>
            <a:ext cx="3383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3864"/>
                </a:solidFill>
                <a:latin typeface="Calibri"/>
              </a:rPr>
              <a:t>Oriol Lehmkuhl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BSC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617720"/>
            <a:ext cx="10881360" cy="16002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617720"/>
            <a:ext cx="91440" cy="160020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773168"/>
            <a:ext cx="749807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42933"/>
                </a:solidFill>
                <a:latin typeface="Calibri"/>
              </a:rPr>
              <a:t>Work produced with the support of a 2024 Leonardo Grant for Researchers and Cultural Creators, BBVA Foundation, project PREVENT (grant LEO24-2-15988). The Foundation takes no responsibility for the opinions, statements and contents of this project, which are entirely the responsibility of its authors.</a:t>
            </a:r>
          </a:p>
        </p:txBody>
      </p:sp>
      <p:pic>
        <p:nvPicPr>
          <p:cNvPr id="16" name="Picture 15" descr="IMG_2283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62630" y="4846320"/>
            <a:ext cx="1008659" cy="566928"/>
          </a:xfrm>
          <a:prstGeom prst="rect">
            <a:avLst/>
          </a:prstGeom>
        </p:spPr>
      </p:pic>
      <p:pic>
        <p:nvPicPr>
          <p:cNvPr id="17" name="Picture 16" descr="IMG_228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67124" y="5532120"/>
            <a:ext cx="999671" cy="5669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606040"/>
            <a:ext cx="1033272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Backup slides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600" b="0">
                <a:solidFill>
                  <a:srgbClr val="C9D3E6"/>
                </a:solidFill>
                <a:latin typeface="Calibri"/>
              </a:rPr>
              <a:t>Supporting detail and ablations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3886200"/>
            <a:ext cx="2743200" cy="54864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Dataset and protocol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2636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Partition </a:t>
            </a:r>
            <a:r>
              <a:rPr sz="1700" b="1">
                <a:solidFill>
                  <a:srgbClr val="1F3864"/>
                </a:solidFill>
                <a:latin typeface="Calibri"/>
              </a:rPr>
              <a:t>v2</a:t>
            </a:r>
            <a:r>
              <a:rPr sz="1700" b="0">
                <a:solidFill>
                  <a:srgbClr val="242933"/>
                </a:solidFill>
                <a:latin typeface="Calibri"/>
              </a:rPr>
              <a:t> (locked, sha256-anchored): 84 cases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226</a:t>
            </a:r>
            <a:r>
              <a:rPr sz="1700" b="0">
                <a:solidFill>
                  <a:srgbClr val="242933"/>
                </a:solidFill>
                <a:latin typeface="Calibri"/>
              </a:rPr>
              <a:t> train encounters · </a:t>
            </a:r>
            <a:r>
              <a:rPr sz="1700" b="1">
                <a:solidFill>
                  <a:srgbClr val="1F3864"/>
                </a:solidFill>
                <a:latin typeface="Calibri"/>
              </a:rPr>
              <a:t>42</a:t>
            </a:r>
            <a:r>
              <a:rPr sz="1700" b="0">
                <a:solidFill>
                  <a:srgbClr val="242933"/>
                </a:solidFill>
                <a:latin typeface="Calibri"/>
              </a:rPr>
              <a:t> test_b · </a:t>
            </a:r>
            <a:r>
              <a:rPr sz="1700" b="1">
                <a:solidFill>
                  <a:srgbClr val="1F3864"/>
                </a:solidFill>
                <a:latin typeface="Calibri"/>
              </a:rPr>
              <a:t>24</a:t>
            </a:r>
            <a:r>
              <a:rPr sz="1700" b="0">
                <a:solidFill>
                  <a:srgbClr val="242933"/>
                </a:solidFill>
                <a:latin typeface="Calibri"/>
              </a:rPr>
              <a:t> test_c (|G| = 4)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ω_z pipeline v1: spatial mask + p99.99 clip + 3σ scale (train_std 3.55), no mean shift (preserves vorticity antisymmetry)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Reporting: bootstrap n = 2000 CIs · 3 encoder seeds · 5-fold probe CV</a:t>
            </a:r>
          </a:p>
        </p:txBody>
      </p:sp>
      <p:pic>
        <p:nvPicPr>
          <p:cNvPr id="7" name="Picture 6" descr="param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664208"/>
            <a:ext cx="4754880" cy="19857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61081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Training envelope in (G, D, Y).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Matched-capacity: d = 32 vs d = 64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Halving the latent leaves the representation and </a:t>
            </a:r>
            <a:r>
              <a:rPr sz="1800" b="1">
                <a:solidFill>
                  <a:srgbClr val="1F3864"/>
                </a:solidFill>
                <a:latin typeface="Calibri"/>
              </a:rPr>
              <a:t>every mechanism diagnostic</a:t>
            </a:r>
            <a:r>
              <a:rPr sz="1800" b="0">
                <a:solidFill>
                  <a:srgbClr val="242933"/>
                </a:solidFill>
                <a:latin typeface="Calibri"/>
              </a:rPr>
              <a:t> intact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      –  representational wake R² 0.74 (d=32) vs 0.75 (d=64); drift ratio 0.86 vs 0.85; OT 0.61 vs 0.63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Cost is </a:t>
            </a:r>
            <a:r>
              <a:rPr sz="1800" b="1">
                <a:solidFill>
                  <a:srgbClr val="1F3864"/>
                </a:solidFill>
                <a:latin typeface="Calibri"/>
              </a:rPr>
              <a:t>in-distribution forecast sharpness</a:t>
            </a:r>
            <a:r>
              <a:rPr sz="1800" b="0">
                <a:solidFill>
                  <a:srgbClr val="242933"/>
                </a:solidFill>
                <a:latin typeface="Calibri"/>
              </a:rPr>
              <a:t>: H = 16 wake closure 0.45 → 0.21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Participation ratio ≈ 1.7, leading PC ≈ ¾ of variance → the effective dimension is a handful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Seed variance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Three encoder seeds per cell; wake-closure means reported ± standard deviation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The reconstructive CNN+ViT cell has </a:t>
            </a:r>
            <a:r>
              <a:rPr sz="1800" b="1">
                <a:solidFill>
                  <a:srgbClr val="1F3864"/>
                </a:solidFill>
                <a:latin typeface="Calibri"/>
              </a:rPr>
              <a:t>large seed variance (±0.27)</a:t>
            </a:r>
            <a:r>
              <a:rPr sz="1800" b="0">
                <a:solidFill>
                  <a:srgbClr val="242933"/>
                </a:solidFill>
                <a:latin typeface="Calibri"/>
              </a:rPr>
              <a:t>, consistent with the drift mechanism: without a forward-predictable geometry, closure is unstable across initialisations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Predictive cells are tight (±0.03–0.06)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Parameter observability from the latent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97280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z → (G, D, Y) probe R² from the rolled-out latent, K = 8 pre-impact sensors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test_b: </a:t>
            </a:r>
            <a:r>
              <a:rPr sz="1700" b="1">
                <a:solidFill>
                  <a:srgbClr val="1F3864"/>
                </a:solidFill>
                <a:latin typeface="Calibri"/>
              </a:rPr>
              <a:t>G 0.46 · D 0.80 · Y 0.10</a:t>
            </a:r>
            <a:r>
              <a:rPr sz="1700" b="0">
                <a:solidFill>
                  <a:srgbClr val="242933"/>
                </a:solidFill>
                <a:latin typeface="Calibri"/>
              </a:rPr>
              <a:t>, gust impulse and depth recoverable; cross-stream offset Y is marginal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test_c (|G| = 4): negative, the 3D observability boundary of a single mid-plane slice</a:t>
            </a:r>
          </a:p>
        </p:txBody>
      </p:sp>
      <p:pic>
        <p:nvPicPr>
          <p:cNvPr id="7" name="Picture 6" descr="pressure_observ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480" y="3383280"/>
            <a:ext cx="10696559" cy="2377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779008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Gust parameters implicit in the latent on held-out cases.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SSIM convention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Reconstruction SSIM uses the </a:t>
            </a:r>
            <a:r>
              <a:rPr sz="1800" b="1">
                <a:solidFill>
                  <a:srgbClr val="1F3864"/>
                </a:solidFill>
                <a:latin typeface="Calibri"/>
              </a:rPr>
              <a:t>Wang convention</a:t>
            </a:r>
            <a:r>
              <a:rPr sz="1800" b="0">
                <a:solidFill>
                  <a:srgbClr val="242933"/>
                </a:solidFill>
                <a:latin typeface="Calibri"/>
              </a:rPr>
              <a:t> (K1 = 0.01, K2 = 0.03) on pipeline-normalised ω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Data range </a:t>
            </a:r>
            <a:r>
              <a:rPr sz="1800" b="1">
                <a:solidFill>
                  <a:srgbClr val="1F3864"/>
                </a:solidFill>
                <a:latin typeface="Calibri"/>
              </a:rPr>
              <a:t>L = 2 · global p99.9(|target|) ≈ 8.31</a:t>
            </a:r>
            <a:r>
              <a:rPr sz="1800" b="0">
                <a:solidFill>
                  <a:srgbClr val="242933"/>
                </a:solidFill>
                <a:latin typeface="Calibri"/>
              </a:rPr>
              <a:t> (split v2)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Decoder test_a SSIM ≈ </a:t>
            </a:r>
            <a:r>
              <a:rPr sz="1800" b="1">
                <a:solidFill>
                  <a:srgbClr val="1F3864"/>
                </a:solidFill>
                <a:latin typeface="Calibri"/>
              </a:rPr>
              <a:t>0.71</a:t>
            </a:r>
            <a:r>
              <a:rPr sz="1800" b="0">
                <a:solidFill>
                  <a:srgbClr val="242933"/>
                </a:solidFill>
                <a:latin typeface="Calibri"/>
              </a:rPr>
              <a:t> at this convention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Conditioning-only floor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KRR-RBF on (G, D, Y) → observable at impact; train / test_b / test_c R²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      –  on train, (G, D, Y) interpolates C_L and C_D well (226 points in 3-D)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On </a:t>
            </a:r>
            <a:r>
              <a:rPr sz="1800" b="1">
                <a:solidFill>
                  <a:srgbClr val="1F3864"/>
                </a:solidFill>
                <a:latin typeface="Calibri"/>
              </a:rPr>
              <a:t>test_b</a:t>
            </a:r>
            <a:r>
              <a:rPr sz="1800" b="0">
                <a:solidFill>
                  <a:srgbClr val="242933"/>
                </a:solidFill>
                <a:latin typeface="Calibri"/>
              </a:rPr>
              <a:t> the floor </a:t>
            </a:r>
            <a:r>
              <a:rPr sz="1800" b="1">
                <a:solidFill>
                  <a:srgbClr val="1F3864"/>
                </a:solidFill>
                <a:latin typeface="Calibri"/>
              </a:rPr>
              <a:t>collapses</a:t>
            </a:r>
            <a:r>
              <a:rPr sz="1800" b="0">
                <a:solidFill>
                  <a:srgbClr val="242933"/>
                </a:solidFill>
                <a:latin typeface="Calibri"/>
              </a:rPr>
              <a:t> across observables; on </a:t>
            </a:r>
            <a:r>
              <a:rPr sz="1800" b="1">
                <a:solidFill>
                  <a:srgbClr val="1F3864"/>
                </a:solidFill>
                <a:latin typeface="Calibri"/>
              </a:rPr>
              <a:t>test_c</a:t>
            </a:r>
            <a:r>
              <a:rPr sz="1800" b="0">
                <a:solidFill>
                  <a:srgbClr val="242933"/>
                </a:solidFill>
                <a:latin typeface="Calibri"/>
              </a:rPr>
              <a:t> it is negative for 5 of 6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→ JEPA's generalisation is </a:t>
            </a:r>
            <a:r>
              <a:rPr sz="1800" b="1">
                <a:solidFill>
                  <a:srgbClr val="1F3864"/>
                </a:solidFill>
                <a:latin typeface="Calibri"/>
              </a:rPr>
              <a:t>not</a:t>
            </a:r>
            <a:r>
              <a:rPr sz="1800" b="0">
                <a:solidFill>
                  <a:srgbClr val="242933"/>
                </a:solidFill>
                <a:latin typeface="Calibri"/>
              </a:rPr>
              <a:t> explained by the conditioning alone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Model detail: encoder and predictor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89788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•  </a:t>
            </a:r>
            <a:r>
              <a:rPr sz="1250" b="1">
                <a:solidFill>
                  <a:srgbClr val="1F3864"/>
                </a:solidFill>
                <a:latin typeface="Calibri"/>
              </a:rPr>
              <a:t>Encoder</a:t>
            </a:r>
            <a:r>
              <a:rPr sz="1250" b="0">
                <a:solidFill>
                  <a:srgbClr val="242933"/>
                </a:solidFill>
                <a:latin typeface="Calibri"/>
              </a:rPr>
              <a:t> = a CNN stem (3 down-sampling stages) + a 6-layer Vision Transformer; the field becomes 288 patch tokens, and a learned [CLS] token is mapped by a small MLP (with BatchNorm) to the latent z (d = 32 / 64)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•  </a:t>
            </a:r>
            <a:r>
              <a:rPr sz="1250" b="1">
                <a:solidFill>
                  <a:srgbClr val="1F3864"/>
                </a:solidFill>
                <a:latin typeface="Calibri"/>
              </a:rPr>
              <a:t>Predictor</a:t>
            </a:r>
            <a:r>
              <a:rPr sz="1250" b="0">
                <a:solidFill>
                  <a:srgbClr val="242933"/>
                </a:solidFill>
                <a:latin typeface="Calibri"/>
              </a:rPr>
              <a:t> = a 6-layer autoregressive transformer (hidden 384, 16 heads, dropout 0.1): it reads z(t) and emits the next latent z(t+1)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•  </a:t>
            </a:r>
            <a:r>
              <a:rPr sz="1250" b="1">
                <a:solidFill>
                  <a:srgbClr val="1F3864"/>
                </a:solidFill>
                <a:latin typeface="Calibri"/>
              </a:rPr>
              <a:t>Causal mask:</a:t>
            </a:r>
            <a:r>
              <a:rPr sz="1250" b="0">
                <a:solidFill>
                  <a:srgbClr val="242933"/>
                </a:solidFill>
                <a:latin typeface="Calibri"/>
              </a:rPr>
              <a:t> each step sees only past steps, never the future; </a:t>
            </a:r>
            <a:r>
              <a:rPr sz="1250" b="1">
                <a:solidFill>
                  <a:srgbClr val="1F3864"/>
                </a:solidFill>
                <a:latin typeface="Calibri"/>
              </a:rPr>
              <a:t>RoPE</a:t>
            </a:r>
            <a:r>
              <a:rPr sz="1250" b="0">
                <a:solidFill>
                  <a:srgbClr val="242933"/>
                </a:solidFill>
                <a:latin typeface="Calibri"/>
              </a:rPr>
              <a:t> encodes the frame ordering so the transformer knows what is earlier or later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•  </a:t>
            </a:r>
            <a:r>
              <a:rPr sz="1250" b="1">
                <a:solidFill>
                  <a:srgbClr val="1F3864"/>
                </a:solidFill>
                <a:latin typeface="Calibri"/>
              </a:rPr>
              <a:t>AdaLN-Zero:</a:t>
            </a:r>
            <a:r>
              <a:rPr sz="1250" b="0">
                <a:solidFill>
                  <a:srgbClr val="242933"/>
                </a:solidFill>
                <a:latin typeface="Calibri"/>
              </a:rPr>
              <a:t> how the gust (G, D, Y) and shedding phase φ enter, they rescale the transformer's internal normalisation, initialised to do nothing so they perturb training gently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•  </a:t>
            </a:r>
            <a:r>
              <a:rPr sz="1250" b="1">
                <a:solidFill>
                  <a:srgbClr val="1F3864"/>
                </a:solidFill>
                <a:latin typeface="Calibri"/>
              </a:rPr>
              <a:t>Training:</a:t>
            </a:r>
            <a:r>
              <a:rPr sz="1250" b="0">
                <a:solidFill>
                  <a:srgbClr val="242933"/>
                </a:solidFill>
                <a:latin typeface="Calibri"/>
              </a:rPr>
              <a:t> match the next latent (teacher forcing) + </a:t>
            </a:r>
            <a:r>
              <a:rPr sz="1250" b="1">
                <a:solidFill>
                  <a:srgbClr val="1F3864"/>
                </a:solidFill>
                <a:latin typeface="Calibri"/>
              </a:rPr>
              <a:t>scheduled sampling</a:t>
            </a:r>
            <a:r>
              <a:rPr sz="1250" b="0">
                <a:solidFill>
                  <a:srgbClr val="242933"/>
                </a:solidFill>
                <a:latin typeface="Calibri"/>
              </a:rPr>
              <a:t> (feed the model its own predictions over an 8-step rollout, so it tolerates its own errors) + </a:t>
            </a:r>
            <a:r>
              <a:rPr sz="1250" b="1">
                <a:solidFill>
                  <a:srgbClr val="1F3864"/>
                </a:solidFill>
                <a:latin typeface="Calibri"/>
              </a:rPr>
              <a:t>SIGReg</a:t>
            </a:r>
            <a:r>
              <a:rPr sz="1250" b="0">
                <a:solidFill>
                  <a:srgbClr val="242933"/>
                </a:solidFill>
                <a:latin typeface="Calibri"/>
              </a:rPr>
              <a:t> anti-collapse (keeps z informative without a decoder); AdamW, bf16, 80k steps</a:t>
            </a:r>
          </a:p>
        </p:txBody>
      </p:sp>
      <p:pic>
        <p:nvPicPr>
          <p:cNvPr id="7" name="Picture 6" descr="predictor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2251" y="1664208"/>
            <a:ext cx="4906376" cy="4389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Phase–amplitude reading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44652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Phase–amplitude decomposition of the encounter cycle in the predictive latent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Connects the predictor to the </a:t>
            </a:r>
            <a:r>
              <a:rPr sz="1700" b="1">
                <a:solidFill>
                  <a:srgbClr val="1F3864"/>
                </a:solidFill>
                <a:latin typeface="Calibri"/>
              </a:rPr>
              <a:t>sensitivity-function control</a:t>
            </a:r>
            <a:r>
              <a:rPr sz="1700" b="0">
                <a:solidFill>
                  <a:srgbClr val="242933"/>
                </a:solidFill>
                <a:latin typeface="Calibri"/>
              </a:rPr>
              <a:t> designed for these flows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An actuation channel would enter where the gust does, the predictor conditioning</a:t>
            </a:r>
          </a:p>
        </p:txBody>
      </p:sp>
      <p:pic>
        <p:nvPicPr>
          <p:cNvPr id="7" name="Picture 6" descr="phase_amplitu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664208"/>
            <a:ext cx="4572000" cy="362798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