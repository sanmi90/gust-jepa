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DNS, no model yet: motivate the difficulty. A moderate in-envelope gust (G = +2, train set); the lift swings by about 13 in C_L. Pitch to a control audience: the bottleneck for model-based control / RL is a reduced dynamics model that stays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 slide (no results yet): the wake challenge, the large-scale wake enstrophy definition (Gaussian split), and the goal: forward closure, especially of the wake. The predictive-vs-reconstructive Gaussian-split result comes later, in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methods; the 3D envelope shows test_c (|G|=4) sitting far outside the training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encoder = pure state map; the gust enters the dynamics. For control, an actuation channel would enter where the gust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the predictive latent wins; forces are easy for every family. State the two unfamiliar observables and the per-observable-units point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Closure tightens at the shorter horizon, but the family separation persists.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four frames out, the family separation holds on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forecast: same encounter, decoded with the frozen LapFiLM visualisation decoder (never part of the JEPA loss). Reconstruction is the representational ceiling; prediction is the rolled latent decoded.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version of 'it is the wake': the predictive reconstruction keeps the large-scale wake, the reconstructive one smooths it. These are encode-then-decode reconstructions; bands are mean +/- 1 s.d. over test_b. Moved here from the opening so results follow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latent organises coordinates by physical function.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R2 here is probe-on-rolled-latent, not a direct predictor of the observables.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persistent homology simply: count loops that survive over a range of scales. Numbers: JEPA median 1 vs Fukami 3.5 H1 generators on z_dns (encounter-level MWU p~4e-8; all 10 cases consistent). Snapshots are encode-&gt;decode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16 TCSI taps -&gt; MLP -&gt; latent -&gt; frozen decoder, applied frame by frame.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closing slide. What we built: forward-closed, compact, observable, wake-driven. Honest boundary: conditional model, not a validated controller. Outlook: actuation channel, closed loop, 3D observability, other flows. Point forward to the RL half of the colloquium.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Acknowledgements: author photos (Solera-Rico, Miró, Lehmkuhl) and the BBVA Foundation / Red Leonardo funding logos. Funding: 2024 Leonardo Grant, project PREVENT (LEO24-2-15988).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Moved to backup: real but the weakest mechanism diagnostic (post-hoc, trajectory-local, pooled reverses). OT method = signed-vorticity split + unbalanced Sinkhorn (Tran, Yeh &amp; Taira JFM 2026, eq 5); our code uses the entropic transport cost, not the debiased divergence, which does not change orderings.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jp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A. Solera-Rico, A. Miró, O. Lehmkuhl, </a:t>
            </a:r>
            <a:r>
              <a:rPr sz="1500" b="1">
                <a:solidFill>
                  <a:srgbClr val="1F3864"/>
                </a:solidFill>
                <a:latin typeface="Calibri"/>
              </a:rPr>
              <a:t>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05210"/>
                </a:solidFill>
                <a:latin typeface="Calibri"/>
              </a:rPr>
              <a:t>csanvil@inta.es</a:t>
            </a:r>
          </a:p>
        </p:txBody>
      </p:sp>
      <p:pic>
        <p:nvPicPr>
          <p:cNvPr id="6" name="Picture 5" descr="euromec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90906"/>
            <a:ext cx="1051560" cy="644652"/>
          </a:xfrm>
          <a:prstGeom prst="rect">
            <a:avLst/>
          </a:prstGeom>
        </p:spPr>
      </p:pic>
      <p:pic>
        <p:nvPicPr>
          <p:cNvPr id="7" name="Picture 6" descr="IMG_2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603504" cy="603504"/>
          </a:xfrm>
          <a:prstGeom prst="rect">
            <a:avLst/>
          </a:prstGeom>
        </p:spPr>
      </p:pic>
      <p:pic>
        <p:nvPicPr>
          <p:cNvPr id="8" name="Picture 7" descr="IMG_2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965192"/>
            <a:ext cx="1270367" cy="457200"/>
          </a:xfrm>
          <a:prstGeom prst="rect">
            <a:avLst/>
          </a:prstGeom>
        </p:spPr>
      </p:pic>
      <p:pic>
        <p:nvPicPr>
          <p:cNvPr id="9" name="Picture 8" descr="IMG_2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895782"/>
            <a:ext cx="676656" cy="596018"/>
          </a:xfrm>
          <a:prstGeom prst="rect">
            <a:avLst/>
          </a:prstGeom>
        </p:spPr>
      </p:pic>
      <p:pic>
        <p:nvPicPr>
          <p:cNvPr id="10" name="Picture 9" descr="IMG_22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892040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problem: gusts are fast, strong, nonlinear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5720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5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5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5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vortex strikes the wing: a </a:t>
            </a:r>
            <a:r>
              <a:rPr sz="1500" b="1">
                <a:solidFill>
                  <a:srgbClr val="1F3864"/>
                </a:solidFill>
                <a:latin typeface="Calibri"/>
              </a:rPr>
              <a:t>leading-edge vortex</a:t>
            </a:r>
            <a:r>
              <a:rPr sz="1500" b="0">
                <a:solidFill>
                  <a:srgbClr val="242933"/>
                </a:solidFill>
                <a:latin typeface="Calibri"/>
              </a:rPr>
              <a:t> forms and sheds, and the lift swings strongly (right: DNS, a moderate </a:t>
            </a:r>
            <a:r>
              <a:rPr sz="1500" b="1">
                <a:solidFill>
                  <a:srgbClr val="1F3864"/>
                </a:solidFill>
                <a:latin typeface="Calibri"/>
              </a:rPr>
              <a:t>G = +2</a:t>
            </a:r>
            <a:r>
              <a:rPr sz="1500" b="0">
                <a:solidFill>
                  <a:srgbClr val="242933"/>
                </a:solidFill>
                <a:latin typeface="Calibri"/>
              </a:rPr>
              <a:t> gust, C_L from about -5 to +8)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5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500" b="0">
                <a:solidFill>
                  <a:srgbClr val="242933"/>
                </a:solidFill>
                <a:latin typeface="Calibri"/>
              </a:rPr>
              <a:t>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This talk: what reduced state is worth planning against?</a:t>
            </a:r>
          </a:p>
        </p:txBody>
      </p:sp>
      <p:pic>
        <p:nvPicPr>
          <p:cNvPr id="7" name="gust_motivation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40680" y="1600200"/>
            <a:ext cx="6126480" cy="4352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Objective: a reduced state that keeps the wake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800" b="0">
                <a:solidFill>
                  <a:srgbClr val="242933"/>
                </a:solidFill>
                <a:latin typeface="Calibri"/>
              </a:rPr>
              <a:t> and the wake it leaves: the discriminating information is in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We quantify it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800" b="0">
                <a:solidFill>
                  <a:srgbClr val="242933"/>
                </a:solidFill>
                <a:latin typeface="Calibri"/>
              </a:rPr>
              <a:t>: a Gaussian scale split (Motoori &amp; Goto 2019) at σ/c = 0.05 isolates the load-bearing large-scale vorticity (LEV + shear layer) from fine turbulence, then integrates ω_L² over the wake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Objective:</a:t>
            </a:r>
            <a:r>
              <a:rPr sz="1800" b="0">
                <a:solidFill>
                  <a:srgbClr val="242933"/>
                </a:solidFill>
                <a:latin typeface="Calibri"/>
              </a:rPr>
              <a:t> find a reduced state that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, every observable still recoverable as the state is propagated, in particular one that keeps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just the forces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And </a:t>
            </a:r>
            <a:r>
              <a:rPr sz="1800" b="1">
                <a:solidFill>
                  <a:srgbClr val="1F3864"/>
                </a:solidFill>
                <a:latin typeface="Calibri"/>
              </a:rPr>
              <a:t>compare candidate states</a:t>
            </a:r>
            <a:r>
              <a:rPr sz="1800" b="0">
                <a:solidFill>
                  <a:srgbClr val="242933"/>
                </a:solidFill>
                <a:latin typeface="Calibri"/>
              </a:rPr>
              <a:t>, predictive vs reconstructive vs linear, under one matched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LITERATURE AND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DNS</a:t>
            </a:r>
            <a:r>
              <a:rPr sz="16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6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600" b="1">
                <a:solidFill>
                  <a:srgbClr val="1F3864"/>
                </a:solidFill>
                <a:latin typeface="Calibri"/>
              </a:rPr>
              <a:t>G</a:t>
            </a:r>
            <a:r>
              <a:rPr sz="16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600" b="1">
                <a:solidFill>
                  <a:srgbClr val="1F3864"/>
                </a:solidFill>
                <a:latin typeface="Calibri"/>
              </a:rPr>
              <a:t>D</a:t>
            </a:r>
            <a:r>
              <a:rPr sz="16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600" b="1">
                <a:solidFill>
                  <a:srgbClr val="1F3864"/>
                </a:solidFill>
                <a:latin typeface="Calibri"/>
              </a:rPr>
              <a:t>Y</a:t>
            </a:r>
            <a:r>
              <a:rPr sz="1600" b="0">
                <a:solidFill>
                  <a:srgbClr val="242933"/>
                </a:solidFill>
                <a:latin typeface="Calibri"/>
              </a:rPr>
              <a:t> (right: the 84-case envelope, isometric)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Impact-centred encounters; six observables: C_L, C_D, impulse I_y,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6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6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116" y="1664208"/>
            <a:ext cx="453608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10819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Y): train, test_b interpolation, test_c |G| = 4 extrapolation,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unconditional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3401568"/>
            <a:ext cx="1783080" cy="603504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gust c = (G, D, Y)</a:t>
            </a:r>
          </a:p>
        </p:txBody>
      </p:sp>
      <p:sp>
        <p:nvSpPr>
          <p:cNvPr id="16" name="Up Arrow 15"/>
          <p:cNvSpPr/>
          <p:nvPr/>
        </p:nvSpPr>
        <p:spPr>
          <a:xfrm>
            <a:off x="7178040" y="2724912"/>
            <a:ext cx="320040" cy="640080"/>
          </a:xfrm>
          <a:prstGeom prst="upArrow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2958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enters the predictor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 is unconditional</a:t>
            </a:r>
            <a:r>
              <a:rPr sz="1500" b="0">
                <a:solidFill>
                  <a:srgbClr val="242933"/>
                </a:solidFill>
                <a:latin typeface="Calibri"/>
              </a:rPr>
              <a:t>: a pure state map ω(t) → z; the gust never touches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gust </a:t>
            </a:r>
            <a:r>
              <a:rPr sz="15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500" b="0">
                <a:solidFill>
                  <a:srgbClr val="242933"/>
                </a:solidFill>
                <a:latin typeface="Calibri"/>
              </a:rPr>
              <a:t> (AdaLN); 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informative); the gust c = (G, D, Y) enters the predictor only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can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three gust numbers (G, D, Y) alone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 each observable (a kernel-ridge fit)? A latent that only matches this has merely re-encoded its known inputs; </a:t>
            </a:r>
            <a:r>
              <a:rPr sz="1700" b="1">
                <a:solidFill>
                  <a:srgbClr val="1F3864"/>
                </a:solidFill>
                <a:latin typeface="Calibri"/>
              </a:rPr>
              <a:t>beating the floor proves the latent carries flow state beyond the parameters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Closure R² (rolled-out latent to observable, mean over six):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600" b="1">
                <a:solidFill>
                  <a:srgbClr val="1F3864"/>
                </a:solidFill>
                <a:latin typeface="Calibri"/>
              </a:rPr>
              <a:t>0.93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0.28 / 0.37; held-out MAE </a:t>
            </a:r>
            <a:r>
              <a:rPr sz="1600" b="1">
                <a:solidFill>
                  <a:srgbClr val="1F3864"/>
                </a:solidFill>
                <a:latin typeface="Calibri"/>
              </a:rPr>
              <a:t>2.4 to 3× lower</a:t>
            </a:r>
            <a:r>
              <a:rPr sz="1600" b="0">
                <a:solidFill>
                  <a:srgbClr val="242933"/>
                </a:solidFill>
                <a:latin typeface="Calibri"/>
              </a:rPr>
              <a:t>. POD competes only on the impulse I_y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 = ∫ ω_z² over the wake (x/c ∈ [0.5, 4], |y/c| ≤ 1):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intensity of the wake's rotational structures</a:t>
            </a:r>
            <a:r>
              <a:rPr sz="1600" b="0">
                <a:solidFill>
                  <a:srgbClr val="242933"/>
                </a:solidFill>
                <a:latin typeface="Calibri"/>
              </a:rPr>
              <a:t> (LEV + shed vortices) that set the future load, the part reconstruction-only states smooth away, so it is the hard, discriminating target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Impulse</a:t>
            </a:r>
            <a:r>
              <a:rPr sz="1600" b="0">
                <a:solidFill>
                  <a:srgbClr val="242933"/>
                </a:solidFill>
                <a:latin typeface="Calibri"/>
              </a:rPr>
              <a:t> I_y = ∫ x·ω_z over the slice: a </a:t>
            </a:r>
            <a:r>
              <a:rPr sz="1600" b="1">
                <a:solidFill>
                  <a:srgbClr val="1F3864"/>
                </a:solidFill>
                <a:latin typeface="Calibri"/>
              </a:rPr>
              <a:t>vortical-transport</a:t>
            </a:r>
            <a:r>
              <a:rPr sz="1600" b="0">
                <a:solidFill>
                  <a:srgbClr val="242933"/>
                </a:solidFill>
                <a:latin typeface="Calibri"/>
              </a:rPr>
              <a:t> integral tying the wake's vorticity distribution to the loading; smooth and low-rank, so even POD captures it, the *easy* contrast that isolates where the wake is hard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Each panel's MAE is in that observable's own units; R² is the cross-observable comparison</a:t>
            </a:r>
          </a:p>
        </p:txBody>
      </p:sp>
      <p:pic>
        <p:nvPicPr>
          <p:cNvPr id="7" name="Picture 6" descr="closure_H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3509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6108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 top, test C bottom); each observable in its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same comparison, 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8</a:t>
            </a:r>
            <a:r>
              <a:rPr sz="1600" b="0">
                <a:solidFill>
                  <a:srgbClr val="242933"/>
                </a:solidFill>
                <a:latin typeface="Calibri"/>
              </a:rPr>
              <a:t> instead of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family ordering is unchanged: the predictive latent is lowest on the wake, near the DNS-oracle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Absolute errors are smaller at the shorter horizon: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30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JEPA, vs ≈ 41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and POD stay well above the floor on the wake</a:t>
            </a:r>
          </a:p>
        </p:txBody>
      </p:sp>
      <p:pic>
        <p:nvPicPr>
          <p:cNvPr id="7" name="Picture 6" descr="closure_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399" y="1664208"/>
            <a:ext cx="554176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8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4</a:t>
            </a:r>
            <a:r>
              <a:rPr sz="1600" b="0">
                <a:solidFill>
                  <a:srgbClr val="242933"/>
                </a:solidFill>
                <a:latin typeface="Calibri"/>
              </a:rPr>
              <a:t>, four frames after impact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latent is still lowest on the wake enstrophy and closest to the 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Errors shrink further: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27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JEPA; the wake stays the discriminating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advantage holds at </a:t>
            </a:r>
            <a:r>
              <a:rPr sz="1600" b="1">
                <a:solidFill>
                  <a:srgbClr val="1F3864"/>
                </a:solidFill>
                <a:latin typeface="Calibri"/>
              </a:rPr>
              <a:t>every horizon we test</a:t>
            </a:r>
            <a:r>
              <a:rPr sz="1600" b="0">
                <a:solidFill>
                  <a:srgbClr val="242933"/>
                </a:solidFill>
                <a:latin typeface="Calibri"/>
              </a:rPr>
              <a:t>, not only H = 16</a:t>
            </a:r>
          </a:p>
        </p:txBody>
      </p:sp>
      <p:pic>
        <p:nvPicPr>
          <p:cNvPr id="7" name="Picture 6" descr="closure_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916" y="1664208"/>
            <a:ext cx="552472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4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in action: the rollout tracks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-1.5), not the hardest case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forecast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forecast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(JEPA encode→decode of the latent) vs prediction (rolled latent), G = -1.5. At impact (H = 0) prediction = reconstruction; they diverge with horizon. SSIM(prediction) 0.77 at impact, 0.53 at H = 16. The latent keeps the LEV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wake in physical space: the Gaussian scale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</a:t>
            </a:r>
            <a:r>
              <a:rPr sz="1400" b="0">
                <a:solidFill>
                  <a:srgbClr val="242933"/>
                </a:solidFill>
                <a:latin typeface="Calibri"/>
              </a:rPr>
              <a:t> part (LEV + shear layer, carries the lift) and a fine part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strongest test gust (G = -3, D = 1.5, Y = -0.1), simulation vs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predictive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encode-then-decode reconstructions: predictive keeps the LEV/wake, reconstructive smooths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Bottom: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encounter; bands = mean ± 1 s.d. across test_b encounters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'it is the wake' is visible in </a:t>
            </a:r>
            <a:r>
              <a:rPr sz="1400" b="1">
                <a:solidFill>
                  <a:srgbClr val="1F3864"/>
                </a:solidFill>
                <a:latin typeface="Calibri"/>
              </a:rPr>
              <a:t>physical space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only in the scalar closure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predictive-latent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(G1, G2)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(G3); two near-silent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forecast the future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0.83),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wake-forecast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4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400" b="0">
                <a:solidFill>
                  <a:srgbClr val="242933"/>
                </a:solidFill>
                <a:latin typeface="Calibri"/>
              </a:rPr>
              <a:t>; JEPA 0.85 and POD 0.81 stay inside (a complementary </a:t>
            </a:r>
            <a:r>
              <a:rPr sz="1400" b="1">
                <a:solidFill>
                  <a:srgbClr val="1F3864"/>
                </a:solidFill>
                <a:latin typeface="Calibri"/>
              </a:rPr>
              <a:t>optimal-transport</a:t>
            </a:r>
            <a:r>
              <a:rPr sz="1400" b="0">
                <a:solidFill>
                  <a:srgbClr val="242933"/>
                </a:solidFill>
                <a:latin typeface="Calibri"/>
              </a:rPr>
              <a:t> check, in backup, likewise finds the predictive latent's distances track physical advection within an encounter)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R² in the plot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forward closure via a probe</a:t>
            </a:r>
            <a:r>
              <a:rPr sz="1400" b="0">
                <a:solidFill>
                  <a:srgbClr val="242933"/>
                </a:solidFill>
                <a:latin typeface="Calibri"/>
              </a:rPr>
              <a:t>: the predictor advances only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, and a fixed linear probe reads each observable off the rolled-out latent (no direct predictor of C_L or the wake)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Forward-closure R² vs rollout horizon (test_b): the predictor advances the latent; a linear probe reads each observable off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trace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loop</a:t>
            </a:r>
            <a:r>
              <a:rPr sz="1400" b="0">
                <a:solidFill>
                  <a:srgbClr val="242933"/>
                </a:solidFill>
                <a:latin typeface="Calibri"/>
              </a:rPr>
              <a:t> per encounter, not a tangle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it grows a distance scale on the latent trajectory and counts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loops (1-cycles) that persist</a:t>
            </a:r>
            <a:r>
              <a:rPr sz="1400" b="0">
                <a:solidFill>
                  <a:srgbClr val="242933"/>
                </a:solidFill>
                <a:latin typeface="Calibri"/>
              </a:rPr>
              <a:t> over a long scale range, i.e. the genuine cycles, not noise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 (encoded latent, 42 test_b encounters):</a:t>
            </a:r>
            <a:r>
              <a:rPr sz="1400" b="0">
                <a:solidFill>
                  <a:srgbClr val="242933"/>
                </a:solidFill>
                <a:latin typeface="Calibri"/>
              </a:rPr>
              <a:t> JEPA has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1</a:t>
            </a:r>
            <a:r>
              <a:rPr sz="1400" b="0">
                <a:solidFill>
                  <a:srgbClr val="242933"/>
                </a:solidFill>
                <a:latin typeface="Calibri"/>
              </a:rPr>
              <a:t> persistent loop vs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3.5</a:t>
            </a:r>
            <a:r>
              <a:rPr sz="1400" b="0">
                <a:solidFill>
                  <a:srgbClr val="242933"/>
                </a:solidFill>
                <a:latin typeface="Calibri"/>
              </a:rPr>
              <a:t> (Mann-Whitney p ≈ 4×10⁻⁸); at case level </a:t>
            </a:r>
            <a:r>
              <a:rPr sz="1400" b="1">
                <a:solidFill>
                  <a:srgbClr val="1F3864"/>
                </a:solidFill>
                <a:latin typeface="Calibri"/>
              </a:rPr>
              <a:t>all 10 cases</a:t>
            </a:r>
            <a:r>
              <a:rPr sz="1400" b="0">
                <a:solidFill>
                  <a:srgbClr val="242933"/>
                </a:solidFill>
                <a:latin typeface="Calibri"/>
              </a:rPr>
              <a:t> have fewer loops for JEPA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the predictive state is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clean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one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 count*,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a claim that the PCA curve visually closes (panels are encode→decode, no predictor; the orbit departs the baseline cycle and only partially returns in 120 frames)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Single-cycle = median 1 persistent H1 generator (vs 3.5); the orbit need not visually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Model:</a:t>
            </a:r>
            <a:r>
              <a:rPr sz="1600" b="0">
                <a:solidFill>
                  <a:srgbClr val="242933"/>
                </a:solidFill>
                <a:latin typeface="Calibri"/>
              </a:rPr>
              <a:t> a </a:t>
            </a:r>
            <a:r>
              <a:rPr sz="1600" b="1">
                <a:solidFill>
                  <a:srgbClr val="1F3864"/>
                </a:solidFill>
                <a:latin typeface="Calibri"/>
              </a:rPr>
              <a:t>KernelRidge (RBF kernel)</a:t>
            </a:r>
            <a:r>
              <a:rPr sz="1600" b="0">
                <a:solidFill>
                  <a:srgbClr val="242933"/>
                </a:solidFill>
                <a:latin typeface="Calibri"/>
              </a:rPr>
              <a:t> regressor maps the K wall-pressure taps over a pre-impact window to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frozen decoder then renders the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42933"/>
                </a:solidFill>
                <a:latin typeface="Calibri"/>
              </a:rPr>
              <a:t>No predictor here: a per-frame </a:t>
            </a:r>
            <a:r>
              <a:rPr sz="1600" b="1">
                <a:solidFill>
                  <a:srgbClr val="1F3864"/>
                </a:solidFill>
                <a:latin typeface="Calibri"/>
              </a:rPr>
              <a:t>MLP</a:t>
            </a:r>
            <a:r>
              <a:rPr sz="1600" b="0">
                <a:solidFill>
                  <a:srgbClr val="242933"/>
                </a:solidFill>
                <a:latin typeface="Calibri"/>
              </a:rPr>
              <a:t> maps a causal 6-frame window of 16 wall-pressure taps to the latent, then the frozen decoder renders the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16 TCSI taps) vs the field recovered from wall pressure alone, on a held-out encounter. Held-out-encounter latent R-squared = 0.72, SSIM ~ 0.5.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21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Impact-C_L inferred at each lead time before impact (test_b R²): oracle = probe on the DNS-encoded latent; direct = pressure sensors to C_L; predictor-in-loop = roll the latent to impact, then probe.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 (wake R² 0.75 representational / 0.84 mean),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800" b="0">
                <a:solidFill>
                  <a:srgbClr val="242933"/>
                </a:solidFill>
                <a:latin typeface="Calibri"/>
              </a:rPr>
              <a:t> under rollout, and traces a </a:t>
            </a:r>
            <a:r>
              <a:rPr sz="1800" b="1">
                <a:solidFill>
                  <a:srgbClr val="1F3864"/>
                </a:solidFill>
                <a:latin typeface="Calibri"/>
              </a:rPr>
              <a:t>single clean cycle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 (d = 32 ≈ d = 64, participation ratio ≈ 1.7)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It is 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model-based control and RL world-models, </a:t>
            </a:r>
            <a:r>
              <a:rPr sz="1800" b="1">
                <a:solidFill>
                  <a:srgbClr val="1F3864"/>
                </a:solidFill>
                <a:latin typeface="Calibri"/>
              </a:rPr>
              <a:t>not yet a validated controller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Next:</a:t>
            </a:r>
            <a:r>
              <a:rPr sz="1800" b="0">
                <a:solidFill>
                  <a:srgbClr val="242933"/>
                </a:solidFill>
                <a:latin typeface="Calibri"/>
              </a:rPr>
              <a:t> swap the gust conditioning for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 (same machinery),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 the loop</a:t>
            </a:r>
            <a:r>
              <a:rPr sz="1800" b="0">
                <a:solidFill>
                  <a:srgbClr val="242933"/>
                </a:solidFill>
                <a:latin typeface="Calibri"/>
              </a:rPr>
              <a:t>, push to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|G| = 4, and carry the recipe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pic>
        <p:nvPicPr>
          <p:cNvPr id="7" name="Picture 6" descr="photo_solera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2011680"/>
            <a:ext cx="155448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79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Alberto Solera-Rico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INTA · UC3M</a:t>
            </a:r>
          </a:p>
        </p:txBody>
      </p:sp>
      <p:pic>
        <p:nvPicPr>
          <p:cNvPr id="9" name="Picture 8" descr="photo_miro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0116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Arnau Miró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UPC · BSC</a:t>
            </a:r>
          </a:p>
        </p:txBody>
      </p:sp>
      <p:pic>
        <p:nvPicPr>
          <p:cNvPr id="11" name="Picture 10" descr="photo_lehmkuhl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011680"/>
            <a:ext cx="155448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Oriol Lehmkuhl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BSC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10881360" cy="16002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617720"/>
            <a:ext cx="91440" cy="160020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pic>
        <p:nvPicPr>
          <p:cNvPr id="16" name="Picture 15" descr="IMG_228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630" y="4846320"/>
            <a:ext cx="1008659" cy="566928"/>
          </a:xfrm>
          <a:prstGeom prst="rect">
            <a:avLst/>
          </a:prstGeom>
        </p:spPr>
      </p:pic>
      <p:pic>
        <p:nvPicPr>
          <p:cNvPr id="17" name="Picture 16" descr="IMG_2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7124" y="5532120"/>
            <a:ext cx="999671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BACKUP,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Transport geometry (optimal transport)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Why:</a:t>
            </a:r>
            <a:r>
              <a:rPr sz="13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3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3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OT field distance</a:t>
            </a:r>
            <a:r>
              <a:rPr sz="1300" b="0">
                <a:solidFill>
                  <a:srgbClr val="242933"/>
                </a:solidFill>
                <a:latin typeface="Calibri"/>
              </a:rPr>
              <a:t> (after Tran, Yeh &amp; Taira, JFM 2026): split vorticity into ± parts, transport each with </a:t>
            </a:r>
            <a:r>
              <a:rPr sz="1300" b="1">
                <a:solidFill>
                  <a:srgbClr val="1F3864"/>
                </a:solidFill>
                <a:latin typeface="Calibri"/>
              </a:rPr>
              <a:t>unbalanced Sinkhorn</a:t>
            </a:r>
            <a:r>
              <a:rPr sz="1300" b="0">
                <a:solidFill>
                  <a:srgbClr val="242933"/>
                </a:solidFill>
                <a:latin typeface="Calibri"/>
              </a:rPr>
              <a:t> OT and sum, the least work to rearrange one field into another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0">
                <a:solidFill>
                  <a:srgbClr val="242933"/>
                </a:solidFill>
                <a:latin typeface="Calibri"/>
              </a:rPr>
              <a:t>We did </a:t>
            </a:r>
            <a:r>
              <a:rPr sz="1300" b="1">
                <a:solidFill>
                  <a:srgbClr val="1F3864"/>
                </a:solidFill>
                <a:latin typeface="Calibri"/>
              </a:rPr>
              <a:t>not</a:t>
            </a:r>
            <a:r>
              <a:rPr sz="1300" b="0">
                <a:solidFill>
                  <a:srgbClr val="242933"/>
                </a:solidFill>
                <a:latin typeface="Calibri"/>
              </a:rPr>
              <a:t> train the latent to match OT (that paper does); this is a </a:t>
            </a:r>
            <a:r>
              <a:rPr sz="1300" b="1">
                <a:solidFill>
                  <a:srgbClr val="1F3864"/>
                </a:solidFill>
                <a:latin typeface="Calibri"/>
              </a:rPr>
              <a:t>post-hoc test</a:t>
            </a:r>
            <a:r>
              <a:rPr sz="1300" b="0">
                <a:solidFill>
                  <a:srgbClr val="242933"/>
                </a:solidFill>
                <a:latin typeface="Calibri"/>
              </a:rPr>
              <a:t>: per encounter, Spearman-correlate the </a:t>
            </a:r>
            <a:r>
              <a:rPr sz="13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3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300" b="1">
                <a:solidFill>
                  <a:srgbClr val="1F3864"/>
                </a:solidFill>
                <a:latin typeface="Calibri"/>
              </a:rPr>
              <a:t>OT</a:t>
            </a:r>
            <a:r>
              <a:rPr sz="1300" b="0">
                <a:solidFill>
                  <a:srgbClr val="242933"/>
                </a:solidFill>
                <a:latin typeface="Calibri"/>
              </a:rPr>
              <a:t> matrix (n = 42)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Within-encounter:</a:t>
            </a:r>
            <a:r>
              <a:rPr sz="13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300" b="1">
                <a:solidFill>
                  <a:srgbClr val="1F3864"/>
                </a:solidFill>
                <a:latin typeface="Calibri"/>
              </a:rPr>
              <a:t>0.63 ± 0.15</a:t>
            </a:r>
            <a:r>
              <a:rPr sz="1300" b="0">
                <a:solidFill>
                  <a:srgbClr val="242933"/>
                </a:solidFill>
                <a:latin typeface="Calibri"/>
              </a:rPr>
              <a:t> vs reconstructive </a:t>
            </a:r>
            <a:r>
              <a:rPr sz="1300" b="1">
                <a:solidFill>
                  <a:srgbClr val="1F3864"/>
                </a:solidFill>
                <a:latin typeface="Calibri"/>
              </a:rPr>
              <a:t>0.45</a:t>
            </a:r>
            <a:r>
              <a:rPr sz="1300" b="0">
                <a:solidFill>
                  <a:srgbClr val="242933"/>
                </a:solidFill>
                <a:latin typeface="Calibri"/>
              </a:rPr>
              <a:t>, order-preservation along the trajectory, </a:t>
            </a:r>
            <a:r>
              <a:rPr sz="1300" b="1">
                <a:solidFill>
                  <a:srgbClr val="1F3864"/>
                </a:solidFill>
                <a:latin typeface="Calibri"/>
              </a:rPr>
              <a:t>not</a:t>
            </a:r>
            <a:r>
              <a:rPr sz="1300" b="0">
                <a:solidFill>
                  <a:srgbClr val="242933"/>
                </a:solidFill>
                <a:latin typeface="Calibri"/>
              </a:rPr>
              <a:t> an isometry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Honest caveat:</a:t>
            </a:r>
            <a:r>
              <a:rPr sz="1300" b="0">
                <a:solidFill>
                  <a:srgbClr val="242933"/>
                </a:solidFill>
                <a:latin typeface="Calibri"/>
              </a:rPr>
              <a:t> *pooled across* encounters the ranking </a:t>
            </a:r>
            <a:r>
              <a:rPr sz="1300" b="1">
                <a:solidFill>
                  <a:srgbClr val="1F3864"/>
                </a:solidFill>
                <a:latin typeface="Calibri"/>
              </a:rPr>
              <a:t>reverses</a:t>
            </a:r>
            <a:r>
              <a:rPr sz="1300" b="0">
                <a:solidFill>
                  <a:srgbClr val="242933"/>
                </a:solidFill>
                <a:latin typeface="Calibri"/>
              </a:rPr>
              <a:t> (0.38 vs 0.63), so the alignment is </a:t>
            </a:r>
            <a:r>
              <a:rPr sz="1300" b="1">
                <a:solidFill>
                  <a:srgbClr val="1F3864"/>
                </a:solidFill>
                <a:latin typeface="Calibri"/>
              </a:rPr>
              <a:t>trajectory-local</a:t>
            </a:r>
            <a:r>
              <a:rPr sz="1300" b="0">
                <a:solidFill>
                  <a:srgbClr val="242933"/>
                </a:solidFill>
                <a:latin typeface="Calibri"/>
              </a:rPr>
              <a:t>, not a global latent metric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Per-encounter latent-vs-OT distance alignment (Shepard). OT field distance after Tran, Yeh &amp; Taira (JFM 2026). Within-encounter Spearman 0.63 vs 0.45; pooled it does not hold (0.38 vs 0.63).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AdaLN-Zero:</a:t>
            </a:r>
            <a:r>
              <a:rPr sz="1250" b="0">
                <a:solidFill>
                  <a:srgbClr val="242933"/>
                </a:solidFill>
                <a:latin typeface="Calibri"/>
              </a:rPr>
              <a:t> how the gust (G, D, Y) and shedding phase φ enter, they rescale the transformer's internal normalisation, initialised to do nothing so they perturb training gently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80k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251" y="1664208"/>
            <a:ext cx="490637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