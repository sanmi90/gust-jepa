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 to a control audience: the bottleneck for model-based control / RL in this regime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scale split and why: isolate the load-bearing large-scale wake. Top triptych is the strongest test_b gust (G=-3, D=1.5, Y=-0.1); bands are mean +/- 1 s.d. over test_b encounters. These are reconstructions (encode-then-decode); the forecast comes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obvious question: you do NOT see a fully-closed loop in PCA (it departs and partially returns). The single-cycle is a persistent-homology statement. Snapshots are encode-then-decode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non-standard metric. Be precise: we claim order-preservation of transport distances, not a metric isometry.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one-sentence message: predictive + wake supervision buys a compact, trustworthy-under-rollout, observable latent dynamics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forward to the RL half of the colloquium: this is the world-model substrate; closing the loop is the natural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Acknowledgements. Institution logos (INTA/UC3M, BSC) and author photos, plus the BBVA Foundation / Red Leonardo logos, to be added once the image files are provided.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Forward physical closure of predictive vs reconstructive latents at Re = 5000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42933"/>
                </a:solidFill>
                <a:latin typeface="Calibri"/>
              </a:rPr>
              <a:t>A. Solera-Rico, A. Miró, O. Lehmkuhl, 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INTA  ·  Universidad Carlos III de Madrid  ·  UPC  ·  Barcelona Supercomputing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6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6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6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6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600" b="0">
                <a:solidFill>
                  <a:srgbClr val="242933"/>
                </a:solidFill>
                <a:latin typeface="Calibri"/>
              </a:rPr>
              <a:t> of the flow: a learned reduced dynamics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This talk: </a:t>
            </a:r>
            <a:r>
              <a:rPr sz="1600" b="1">
                <a:solidFill>
                  <a:srgbClr val="1F3864"/>
                </a:solidFill>
                <a:latin typeface="Calibri"/>
              </a:rPr>
              <a:t>what reduced state is worth planning against?</a:t>
            </a:r>
          </a:p>
        </p:txBody>
      </p:sp>
      <p:pic>
        <p:nvPicPr>
          <p:cNvPr id="7" name="Picture 6" descr="graphical_abstract_t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699" y="3566160"/>
            <a:ext cx="6166121" cy="2697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819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Top: encode-then-decode reconstruction of the field 16 frames after impact (case G = -3, d = 64); the predictive latent keeps the wake. Bars: held-out test_b forecast closure (predictor rollout, H = 16).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Why it is hard: it is the wake, not just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the wake it leaves; the discriminating information is in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wake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large-scale part u_L (the LEV and shear layer that carry the lift) and a fine part u_S, then track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 to see which reduced state keeps that load-bearing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strongest test gust</a:t>
            </a:r>
            <a:r>
              <a:rPr sz="1400" b="0">
                <a:solidFill>
                  <a:srgbClr val="242933"/>
                </a:solidFill>
                <a:latin typeface="Calibri"/>
              </a:rPr>
              <a:t> (G = -3, D = 1.5, Y = -0.1): simulation vs the predictive and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reconstructions</a:t>
            </a:r>
            <a:r>
              <a:rPr sz="1400" b="0">
                <a:solidFill>
                  <a:srgbClr val="242933"/>
                </a:solidFill>
                <a:latin typeface="Calibri"/>
              </a:rPr>
              <a:t> (defined shortly); predictive keeps the LEV/wake, reconstructive smooths it away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Bands = </a:t>
            </a:r>
            <a:r>
              <a:rPr sz="1400" b="1">
                <a:solidFill>
                  <a:srgbClr val="1F3864"/>
                </a:solidFill>
                <a:latin typeface="Calibri"/>
              </a:rPr>
              <a:t>mean ± 1 s.d. across the test_b encounters</a:t>
            </a:r>
            <a:r>
              <a:rPr sz="1400" b="0">
                <a:solidFill>
                  <a:srgbClr val="242933"/>
                </a:solidFill>
                <a:latin typeface="Calibri"/>
              </a:rPr>
              <a:t> (encounter spread, not a confidence interval)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468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DNS</a:t>
            </a:r>
            <a:r>
              <a:rPr sz="17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7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700" b="1">
                <a:solidFill>
                  <a:srgbClr val="1F3864"/>
                </a:solidFill>
                <a:latin typeface="Calibri"/>
              </a:rPr>
              <a:t>G</a:t>
            </a:r>
            <a:r>
              <a:rPr sz="17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700" b="1">
                <a:solidFill>
                  <a:srgbClr val="1F3864"/>
                </a:solidFill>
                <a:latin typeface="Calibri"/>
              </a:rPr>
              <a:t>D</a:t>
            </a:r>
            <a:r>
              <a:rPr sz="17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700" b="1">
                <a:solidFill>
                  <a:srgbClr val="1F3864"/>
                </a:solidFill>
                <a:latin typeface="Calibri"/>
              </a:rPr>
              <a:t>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84 cases; impact-centred encounters; six observables: C_L, C_D, impulse I_y, </a:t>
            </a:r>
            <a:r>
              <a:rPr sz="17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7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7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7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974" y="4160520"/>
            <a:ext cx="4707571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447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Y); held-out interpolation and extrapolation.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KRR on (G, D, Y) alone, the latent must beat it to prove the state, not the parameters, does the work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E_w: integral of ω_z² over the wake region (x/c in [0.5, 4], |y/c| ≤ 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I_y: integral of x·ω_z over the slice, a wake-transport diagnostic, not the impulse-theorem lift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(encoded latent) vs prediction (rolled latent), G = -1.5 encounter. SSIM(prediction) = 0.77 at impact, 0.53 at H = 16. The latent keeps the leading-edge vortex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preserve that cyclic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counts loops (1-cycles) and how long they persist as a scale grows;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long-lived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 = clean loop, many short-lived = fragmentation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predictive latent has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persistent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latent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*topological* statement,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that the PCA curve visually closes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Panels use </a:t>
            </a:r>
            <a:r>
              <a:rPr sz="1400" b="1">
                <a:solidFill>
                  <a:srgbClr val="1F3864"/>
                </a:solidFill>
                <a:latin typeface="Calibri"/>
              </a:rPr>
              <a:t>encoded latents + the decoder, no predictor</a:t>
            </a:r>
            <a:r>
              <a:rPr sz="1400" b="0">
                <a:solidFill>
                  <a:srgbClr val="242933"/>
                </a:solidFill>
                <a:latin typeface="Calibri"/>
              </a:rPr>
              <a:t>: in (PC1, PC2) the orbit </a:t>
            </a:r>
            <a:r>
              <a:rPr sz="1400" b="1">
                <a:solidFill>
                  <a:srgbClr val="1F3864"/>
                </a:solidFill>
                <a:latin typeface="Calibri"/>
              </a:rPr>
              <a:t>departs the baseline cycle and only partially returns</a:t>
            </a:r>
            <a:r>
              <a:rPr sz="1400" b="0">
                <a:solidFill>
                  <a:srgbClr val="242933"/>
                </a:solidFill>
                <a:latin typeface="Calibri"/>
              </a:rPr>
              <a:t> within the 120-frame window; the staged snapshots are reconstructions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The single-cycle is established by persistent homology; the orbit need not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3: transport geometry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Why:</a:t>
            </a:r>
            <a:r>
              <a:rPr sz="16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6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6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Optimal-transport (OT) distance:</a:t>
            </a:r>
            <a:r>
              <a:rPr sz="1600" b="0">
                <a:solidFill>
                  <a:srgbClr val="242933"/>
                </a:solidFill>
                <a:latin typeface="Calibri"/>
              </a:rPr>
              <a:t> the least cost to rearrange one vorticity field into another, sensitive to transport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We Spearman-correlate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along each encounter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6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600" b="1">
                <a:solidFill>
                  <a:srgbClr val="1F3864"/>
                </a:solidFill>
                <a:latin typeface="Calibri"/>
              </a:rPr>
              <a:t>0.63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Fukami 0.45, order-preservation, not an isometry; latent steps mean physically sensible field changes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Latent vs OT distance alignment (per-encounter Shepard).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Estimate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predictive latent from K wall-pressure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(TCSI placement, kernel ridge), then </a:t>
            </a:r>
            <a:r>
              <a:rPr sz="1600" b="1">
                <a:solidFill>
                  <a:srgbClr val="1F3864"/>
                </a:solidFill>
                <a:latin typeface="Calibri"/>
              </a:rPr>
              <a:t>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it to a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No predictor here: a per-frame map from 16 wall-pressure taps to the latent, decoded to a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500" b="0">
                <a:solidFill>
                  <a:srgbClr val="6B7280"/>
                </a:solidFill>
                <a:latin typeface="Calibri"/>
              </a:rPr>
              <a:t> (wake R² 0.75 representational / 0.84 mean), </a:t>
            </a:r>
            <a:r>
              <a:rPr sz="15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500" b="0">
                <a:solidFill>
                  <a:srgbClr val="6B7280"/>
                </a:solidFill>
                <a:latin typeface="Calibri"/>
              </a:rPr>
              <a:t> under rollout, a </a:t>
            </a:r>
            <a:r>
              <a:rPr sz="1500" b="1">
                <a:solidFill>
                  <a:srgbClr val="1F3864"/>
                </a:solidFill>
                <a:latin typeface="Calibri"/>
              </a:rPr>
              <a:t>single cycle</a:t>
            </a:r>
            <a:r>
              <a:rPr sz="1500" b="0">
                <a:solidFill>
                  <a:srgbClr val="6B7280"/>
                </a:solidFill>
                <a:latin typeface="Calibri"/>
              </a:rPr>
              <a:t>, </a:t>
            </a:r>
            <a:r>
              <a:rPr sz="1500" b="1">
                <a:solidFill>
                  <a:srgbClr val="1F3864"/>
                </a:solidFill>
                <a:latin typeface="Calibri"/>
              </a:rPr>
              <a:t>transport-aligned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, d = 32 ≈ d = 64, participation ratio ≈ 1.7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</a:t>
            </a:r>
            <a:r>
              <a:rPr sz="1800" b="1">
                <a:solidFill>
                  <a:srgbClr val="1F3864"/>
                </a:solidFill>
                <a:latin typeface="Calibri"/>
              </a:rPr>
              <a:t>model-based control and RL world-models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Outlook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Replace the gust conditioning channel with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, the same forward-closure machinery then applies to control inputs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Closed-loop</a:t>
            </a:r>
            <a:r>
              <a:rPr sz="1800" b="0">
                <a:solidFill>
                  <a:srgbClr val="242933"/>
                </a:solidFill>
                <a:latin typeface="Calibri"/>
              </a:rPr>
              <a:t> model-based control / RL world-models built on the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strong gusts (|G| = 4 is a mid-plane-slice limit)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predictive-latent recipe carried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Alberto Solera-Rico</a:t>
            </a:r>
            <a:r>
              <a:rPr sz="1700" b="0">
                <a:solidFill>
                  <a:srgbClr val="242933"/>
                </a:solidFill>
                <a:latin typeface="Calibri"/>
              </a:rPr>
              <a:t> (INTA, Universidad Carlos III de Madrid)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Oriol Lehmkuhl</a:t>
            </a:r>
            <a:r>
              <a:rPr sz="1700" b="0">
                <a:solidFill>
                  <a:srgbClr val="242933"/>
                </a:solidFill>
                <a:latin typeface="Calibri"/>
              </a:rPr>
              <a:t> (Barcelona Supercomputing Center)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Arnau Miró</a:t>
            </a:r>
            <a:r>
              <a:rPr sz="1700" b="0">
                <a:solidFill>
                  <a:srgbClr val="242933"/>
                </a:solidFill>
                <a:latin typeface="Calibri"/>
              </a:rPr>
              <a:t> (UPC, Barcelona Supercomputing Center)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52628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