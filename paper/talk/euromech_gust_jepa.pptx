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extreme gust control needs a fast, faithful forward model. Our work asks which reduced state is worth planning against, and shows a predictive (JEPA) latent captures the wake physics that reconstructive and linear baselines lose. Audience is new to JEPA, so I will spend a slide on what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Pure DNS, no model yet: motivate the difficulty. A moderate in-envelope gust (G = +2, train set); the lift swings by about 13 in C_L. Pitch to a control audience: the bottleneck for model-based control / RL is a reduced dynamics model that stays trustworthy under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 slide (no results yet): the wake challenge, the large-scale wake enstrophy definition (Gaussian split), and the goal: forward closure, especially of the wake. The predictive-vs-reconstructive Gaussian-split result comes later, in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central question. Closure = the rolled-out latent still lets you read off the physical observables. This is exactly the property a planner or RL agent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DNS claim bounded (solver-resolution metadata pending). Emphasise the six observables, wake enstrophy being the one that separates the methods; the 3D envelope shows test_c (|G|=4) sitting far outside the training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Pedagogic core for a non-ML audience. Same first three boxes; the only change is Decoder -&gt; Predictor and where the loss lives: pixels (AE) vs latent space (JEPA). No decoder in JEPA; the anti-collapse term stops the encoder collapsing.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JEPA slide: recipe (latent loss + anti-collapse, no decoder), cheap latent rollout, lineage, and the control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Conditioning split is deliberate: encoder = pure state map; the gust enters the dynamics. For control, an actuation channel would enter where the gust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diagram (slide 6);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architecture (slide 8);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Fairness is the whole point: only the encoder changes. The conditioning floor rules out 'the parameters did it'.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Headline. Wake enstrophy is where the predictive latent wins; forces are easy for every family. State the two unfamiliar observables and the per-observable-units point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Closure tightens at the shorter horizon, but the family separation persists.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 four frames out, the family separation holds on the wake.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Embedded MP4 (plays in PowerPoint; a still shows otherwise). Two observables (wake enstrophy and lift): original (DNS) vs encoded-latent reconstruction vs rolled-latent prediction, for a representative low-error gust encounter.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companion to the scalar forecast: same encounter, decoded with the frozen LapFiLM visualisation decoder (never part of the JEPA loss). Reconstruction is the representational ceiling; prediction is the rolled latent decoded.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explains the main result mechanistically at the representation level: the wake is a collective code only the predictive objective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version of 'it is the wake': the predictive reconstruction keeps the large-scale wake, the reconstructive one smooths it. These are encode-then-decode reconstructions; bands are mean +/- 1 s.d. over test_b. Moved here from the opening so results follow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Backs the 'it is the wake' story: the latent organises coordinates by physical function. Descriptive correlation only; the causal (SURD) part of this analysis is not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skeptic: isolate the cause before the mechanism. Honest two-part answer: objective carries it, but the wake head is a necessary ingredient.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Non-standard metric, so define it. Low one-step error is worthless if the rollout walks off the data manifold where probes are invalid. R2 here is probe-on-rolled-latent, not a direct predictor of the observables.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persistent homology simply: count loops that survive over a range of scales. Numbers: JEPA median 1 vs Fukami 3.5 H1 generators on z_dns (encounter-level MWU p~4e-8; all 10 cases consistent). Snapshots are encode-&gt;decode reconstructions; no temporal predictor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critical: 0.63&gt;0.45 is the per-encounter (within-trajectory) mean. Pooled over all encounters the reconstructive latent is higher (0.63 vs 0.38), so the JEPA alignment is local to each encounter, not a global isometry. Present strictly as trajectory-local transport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to match the figure (flow from pressure). The predictive-vs-reconstructive wake tracking is already on slide 3 (scale decomposition).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Dynamic companion to the static flow-recovery slide: a causal 6-frame pressure window at 16 TCSI taps -&gt; MLP -&gt; latent -&gt; frozen decoder, applied frame by frame. This is state ESTIMATION, not forecasting; the JEPA predictor is not used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venue hook: the predictive latent gives both a sensor-observable state and a useful pre-impact forecast, the two ingredients a controller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closing slide. What we built: forward-closed, compact, observable, wake-driven. Honest boundary: conditional model, not a validated controller. Outlook: actuation channel, closed loop, 3D observability, other flows. Point forward to the RL half of the colloquium.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Acknowledgements: author photos (Solera-Rico, Miró, Lehmkuhl) and the BBVA Foundation / Red Leonardo funding logos. Funding: 2024 Leonardo Grant, project PREVENT (LEO24-2-15988).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jp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6984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1F3864"/>
                </a:solidFill>
                <a:latin typeface="Calibri"/>
              </a:rPr>
              <a:t>Sparse-sensing state estimation of vortex-gust airfoil interactions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5210"/>
                </a:solidFill>
                <a:latin typeface="Calibri"/>
              </a:rPr>
              <a:t>Toward model-based flow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1188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242933"/>
                </a:solidFill>
                <a:latin typeface="Calibri"/>
              </a:rPr>
              <a:t>A. Solera-Rico, A. Miró, O. Lehmkuhl, </a:t>
            </a:r>
            <a:r>
              <a:rPr sz="1500" b="1">
                <a:solidFill>
                  <a:srgbClr val="1F3864"/>
                </a:solidFill>
                <a:latin typeface="Calibri"/>
              </a:rPr>
              <a:t>C. Sanmiguel Vila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05210"/>
                </a:solidFill>
                <a:latin typeface="Calibri"/>
              </a:rPr>
              <a:t>csanvil@inta.es</a:t>
            </a:r>
          </a:p>
        </p:txBody>
      </p:sp>
      <p:pic>
        <p:nvPicPr>
          <p:cNvPr id="6" name="Picture 5" descr="euromech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90906"/>
            <a:ext cx="1051560" cy="644652"/>
          </a:xfrm>
          <a:prstGeom prst="rect">
            <a:avLst/>
          </a:prstGeom>
        </p:spPr>
      </p:pic>
      <p:pic>
        <p:nvPicPr>
          <p:cNvPr id="7" name="Picture 6" descr="IMG_22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892040"/>
            <a:ext cx="603504" cy="603504"/>
          </a:xfrm>
          <a:prstGeom prst="rect">
            <a:avLst/>
          </a:prstGeom>
        </p:spPr>
      </p:pic>
      <p:pic>
        <p:nvPicPr>
          <p:cNvPr id="8" name="Picture 7" descr="IMG_2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4965192"/>
            <a:ext cx="1270367" cy="457200"/>
          </a:xfrm>
          <a:prstGeom prst="rect">
            <a:avLst/>
          </a:prstGeom>
        </p:spPr>
      </p:pic>
      <p:pic>
        <p:nvPicPr>
          <p:cNvPr id="9" name="Picture 8" descr="IMG_22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4895782"/>
            <a:ext cx="676656" cy="596018"/>
          </a:xfrm>
          <a:prstGeom prst="rect">
            <a:avLst/>
          </a:prstGeom>
        </p:spPr>
      </p:pic>
      <p:pic>
        <p:nvPicPr>
          <p:cNvPr id="10" name="Picture 9" descr="IMG_228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892040"/>
            <a:ext cx="603504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EUROMECH Colloquium  ·  Data-driven active control in flows: from model-based to reinforcement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control problem: gusts are fast, strong, nonlinear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5720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Small and micro air vehicles increasingly fly where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gust speed is comparable to or above the flight speed</a:t>
            </a:r>
            <a:r>
              <a:rPr sz="1500" b="0">
                <a:solidFill>
                  <a:srgbClr val="242933"/>
                </a:solidFill>
                <a:latin typeface="Calibri"/>
              </a:rPr>
              <a:t> (urban canyons, building and ship wakes): gust ratio </a:t>
            </a:r>
            <a:r>
              <a:rPr sz="1500" b="1">
                <a:solidFill>
                  <a:srgbClr val="1F3864"/>
                </a:solidFill>
                <a:latin typeface="Calibri"/>
              </a:rPr>
              <a:t>G &gt; 1</a:t>
            </a:r>
            <a:r>
              <a:rPr sz="1500" b="0">
                <a:solidFill>
                  <a:srgbClr val="242933"/>
                </a:solidFill>
                <a:latin typeface="Calibri"/>
              </a:rPr>
              <a:t> brings large, fast load transients classical models miss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vortex strikes the wing: a </a:t>
            </a:r>
            <a:r>
              <a:rPr sz="1500" b="1">
                <a:solidFill>
                  <a:srgbClr val="1F3864"/>
                </a:solidFill>
                <a:latin typeface="Calibri"/>
              </a:rPr>
              <a:t>leading-edge vortex</a:t>
            </a:r>
            <a:r>
              <a:rPr sz="1500" b="0">
                <a:solidFill>
                  <a:srgbClr val="242933"/>
                </a:solidFill>
                <a:latin typeface="Calibri"/>
              </a:rPr>
              <a:t> forms and sheds, and the lift swings strongly (right: DNS, a moderate </a:t>
            </a:r>
            <a:r>
              <a:rPr sz="1500" b="1">
                <a:solidFill>
                  <a:srgbClr val="1F3864"/>
                </a:solidFill>
                <a:latin typeface="Calibri"/>
              </a:rPr>
              <a:t>G = +2</a:t>
            </a:r>
            <a:r>
              <a:rPr sz="1500" b="0">
                <a:solidFill>
                  <a:srgbClr val="242933"/>
                </a:solidFill>
                <a:latin typeface="Calibri"/>
              </a:rPr>
              <a:t> gust, C_L from about -5 to +8)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Active control, model-based or RL, needs a </a:t>
            </a:r>
            <a:r>
              <a:rPr sz="1500" b="1">
                <a:solidFill>
                  <a:srgbClr val="1F3864"/>
                </a:solidFill>
                <a:latin typeface="Calibri"/>
              </a:rPr>
              <a:t>fast, faithful forward model</a:t>
            </a:r>
            <a:r>
              <a:rPr sz="1500" b="0">
                <a:solidFill>
                  <a:srgbClr val="242933"/>
                </a:solidFill>
                <a:latin typeface="Calibri"/>
              </a:rPr>
              <a:t> it can trust under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This talk: what reduced state is worth planning against?</a:t>
            </a:r>
          </a:p>
        </p:txBody>
      </p:sp>
      <p:pic>
        <p:nvPicPr>
          <p:cNvPr id="7" name="gust_motivation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40680" y="1600200"/>
            <a:ext cx="6126480" cy="4352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Objective: a reduced state that keeps the wake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load transient is built by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leading-edge vortex (LEV)</a:t>
            </a:r>
            <a:r>
              <a:rPr sz="1800" b="0">
                <a:solidFill>
                  <a:srgbClr val="242933"/>
                </a:solidFill>
                <a:latin typeface="Calibri"/>
              </a:rPr>
              <a:t> and the wake it leaves: the discriminating information is in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not the integrated forces C_L, C_D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We quantify it by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800" b="0">
                <a:solidFill>
                  <a:srgbClr val="242933"/>
                </a:solidFill>
                <a:latin typeface="Calibri"/>
              </a:rPr>
              <a:t>: a Gaussian scale split (Motoori &amp; Goto 2019) at σ/c = 0.05 isolates the load-bearing large-scale vorticity (LEV + shear layer) from fine turbulence, then integrates ω_L² over the wake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Objective:</a:t>
            </a:r>
            <a:r>
              <a:rPr sz="1800" b="0">
                <a:solidFill>
                  <a:srgbClr val="242933"/>
                </a:solidFill>
                <a:latin typeface="Calibri"/>
              </a:rPr>
              <a:t> find a reduced state that stays </a:t>
            </a:r>
            <a:r>
              <a:rPr sz="18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800" b="0">
                <a:solidFill>
                  <a:srgbClr val="242933"/>
                </a:solidFill>
                <a:latin typeface="Calibri"/>
              </a:rPr>
              <a:t>, every observable still recoverable as the state is propagated, in particular one that keeps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not just the forces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And </a:t>
            </a:r>
            <a:r>
              <a:rPr sz="1800" b="1">
                <a:solidFill>
                  <a:srgbClr val="1F3864"/>
                </a:solidFill>
                <a:latin typeface="Calibri"/>
              </a:rPr>
              <a:t>compare candidate states</a:t>
            </a:r>
            <a:r>
              <a:rPr sz="1800" b="0">
                <a:solidFill>
                  <a:srgbClr val="242933"/>
                </a:solidFill>
                <a:latin typeface="Calibri"/>
              </a:rPr>
              <a:t>, predictive vs reconstructive vs linear, under one matched protocol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LITERATURE AND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opening for JEPA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Most flow ROMs, POD/DMD, autoencoders, are trained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reconstruct the field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reconstruction fixes the latent only up to a diffeomorphism, so its geometry is not constrained to be predictable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Alternative: learn a state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by construction</a:t>
            </a:r>
            <a:r>
              <a:rPr sz="1800" b="0">
                <a:solidFill>
                  <a:srgbClr val="242933"/>
                </a:solidFill>
                <a:latin typeface="Calibri"/>
              </a:rPr>
              <a:t>, and plan against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10881360" cy="15544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91440" cy="155448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60520"/>
            <a:ext cx="10332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F3864"/>
                </a:solidFill>
                <a:latin typeface="Calibri"/>
              </a:rPr>
              <a:t>Which reduced state stays physically closed when propagated forward,
so that every observable remains recoverable along the rollout?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DNS</a:t>
            </a:r>
            <a:r>
              <a:rPr sz="1600" b="0">
                <a:solidFill>
                  <a:srgbClr val="242933"/>
                </a:solidFill>
                <a:latin typeface="Calibri"/>
              </a:rPr>
              <a:t> (SOD2D, no subgrid-scale model), NACA 0012, α = 14°, </a:t>
            </a:r>
            <a:r>
              <a:rPr sz="1600" b="1">
                <a:solidFill>
                  <a:srgbClr val="1F3864"/>
                </a:solidFill>
                <a:latin typeface="Calibri"/>
              </a:rPr>
              <a:t>Re = 5000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Taylor-vortex gusts parametrised by strength </a:t>
            </a:r>
            <a:r>
              <a:rPr sz="1600" b="1">
                <a:solidFill>
                  <a:srgbClr val="1F3864"/>
                </a:solidFill>
                <a:latin typeface="Calibri"/>
              </a:rPr>
              <a:t>G</a:t>
            </a:r>
            <a:r>
              <a:rPr sz="1600" b="0">
                <a:solidFill>
                  <a:srgbClr val="242933"/>
                </a:solidFill>
                <a:latin typeface="Calibri"/>
              </a:rPr>
              <a:t>, core diameter </a:t>
            </a:r>
            <a:r>
              <a:rPr sz="1600" b="1">
                <a:solidFill>
                  <a:srgbClr val="1F3864"/>
                </a:solidFill>
                <a:latin typeface="Calibri"/>
              </a:rPr>
              <a:t>D</a:t>
            </a:r>
            <a:r>
              <a:rPr sz="1600" b="0">
                <a:solidFill>
                  <a:srgbClr val="242933"/>
                </a:solidFill>
                <a:latin typeface="Calibri"/>
              </a:rPr>
              <a:t>, wall-normal offset </a:t>
            </a:r>
            <a:r>
              <a:rPr sz="1600" b="1">
                <a:solidFill>
                  <a:srgbClr val="1F3864"/>
                </a:solidFill>
                <a:latin typeface="Calibri"/>
              </a:rPr>
              <a:t>Y</a:t>
            </a:r>
            <a:r>
              <a:rPr sz="1600" b="0">
                <a:solidFill>
                  <a:srgbClr val="242933"/>
                </a:solidFill>
                <a:latin typeface="Calibri"/>
              </a:rPr>
              <a:t> (right: the 84-case envelope, isometric)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Impact-centred encounters; six observables: C_L, C_D, impulse I_y,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, ±circulation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Held-out </a:t>
            </a:r>
            <a:r>
              <a:rPr sz="16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600" b="0">
                <a:solidFill>
                  <a:srgbClr val="242933"/>
                </a:solidFill>
                <a:latin typeface="Calibri"/>
              </a:rPr>
              <a:t> (interpolation) and </a:t>
            </a:r>
            <a:r>
              <a:rPr sz="16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600" b="0">
                <a:solidFill>
                  <a:srgbClr val="242933"/>
                </a:solidFill>
                <a:latin typeface="Calibri"/>
              </a:rPr>
              <a:t> (|G| = 4 extrapolation)</a:t>
            </a:r>
          </a:p>
        </p:txBody>
      </p:sp>
      <p:pic>
        <p:nvPicPr>
          <p:cNvPr id="7" name="Picture 6" descr="paramspace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116" y="1664208"/>
            <a:ext cx="453608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10819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Y): train, test_b interpolation, test_c |G| = 4 extrapolation,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(1 /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Calibri"/>
              </a:rPr>
              <a:t>Autoencoder (most flow ROMs): reconstruct the field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029968"/>
            <a:ext cx="1188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029968"/>
            <a:ext cx="16459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Decoder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029968"/>
            <a:ext cx="2331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reconstructed field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774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4348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21792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85496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9806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03A2E"/>
                </a:solidFill>
                <a:latin typeface="Calibri"/>
              </a:rPr>
              <a:t>loss compares the reconstruction to the input in PIXEL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9417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4F"/>
                </a:solidFill>
                <a:latin typeface="Calibri"/>
              </a:rPr>
              <a:t>JEPA: predict the next latent, no decoder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133087"/>
            <a:ext cx="1188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z(t)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133087"/>
            <a:ext cx="16459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4133087"/>
            <a:ext cx="2331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predicted z(t+1)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3774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44348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21792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85496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01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E7D4F"/>
                </a:solidFill>
                <a:latin typeface="Calibri"/>
              </a:rPr>
              <a:t>loss compares predicted z(t+1) to z(t+1) = Encoder(next frame) in LATENT space; an anti-collapse term replaces the decoder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5099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Reconstruction ties the latent to pixels; prediction makes it forecastable</a:t>
            </a:r>
            <a:r>
              <a:rPr sz="1500" b="0">
                <a:solidFill>
                  <a:srgbClr val="1F3864"/>
                </a:solidFill>
                <a:latin typeface="Calibri"/>
              </a:rPr>
              <a:t>, which is what a controller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(2 / 2): the recipe and why for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Training, in one line:</a:t>
            </a:r>
            <a:r>
              <a:rPr sz="1700" b="0">
                <a:solidFill>
                  <a:srgbClr val="242933"/>
                </a:solidFill>
                <a:latin typeface="Calibri"/>
              </a:rPr>
              <a:t> minimise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prediction error plus an </a:t>
            </a:r>
            <a:r>
              <a:rPr sz="1700" b="1">
                <a:solidFill>
                  <a:srgbClr val="1F3864"/>
                </a:solidFill>
                <a:latin typeface="Calibri"/>
              </a:rPr>
              <a:t>anti-collapse term</a:t>
            </a:r>
            <a:r>
              <a:rPr sz="1700" b="0">
                <a:solidFill>
                  <a:srgbClr val="242933"/>
                </a:solidFill>
                <a:latin typeface="Calibri"/>
              </a:rPr>
              <a:t> so the encoder cannot cheat by mapping everything to a constant (no decoder, no pixel loss)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So the encoder </a:t>
            </a:r>
            <a:r>
              <a:rPr sz="1700" b="1">
                <a:solidFill>
                  <a:srgbClr val="1F3864"/>
                </a:solidFill>
                <a:latin typeface="Calibri"/>
              </a:rPr>
              <a:t>keeps only what predicts the future</a:t>
            </a:r>
            <a:r>
              <a:rPr sz="1700" b="0">
                <a:solidFill>
                  <a:srgbClr val="242933"/>
                </a:solidFill>
                <a:latin typeface="Calibri"/>
              </a:rPr>
              <a:t> (the control-relevant dynamics), and the predictor </a:t>
            </a:r>
            <a:r>
              <a:rPr sz="1700" b="1">
                <a:solidFill>
                  <a:srgbClr val="1F3864"/>
                </a:solidFill>
                <a:latin typeface="Calibri"/>
              </a:rPr>
              <a:t>gets no pixel-level shortcuts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Cheap to roll out:</a:t>
            </a:r>
            <a:r>
              <a:rPr sz="1700" b="0">
                <a:solidFill>
                  <a:srgbClr val="242933"/>
                </a:solidFill>
                <a:latin typeface="Calibri"/>
              </a:rPr>
              <a:t> planning happens in the d = 32-64 latent, two to three orders of magnitude cheaper than evolving the full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Lineage: I-JEPA / V-JEPA (image, video); from-pixels LeWM, LeJEPA, PLDM, so far only gridworld and toy visual tasks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Why for control:</a:t>
            </a:r>
            <a:r>
              <a:rPr sz="1700" b="0">
                <a:solidFill>
                  <a:srgbClr val="242933"/>
                </a:solidFill>
                <a:latin typeface="Calibri"/>
              </a:rPr>
              <a:t> a learned world-model that is </a:t>
            </a:r>
            <a:r>
              <a:rPr sz="1700" b="1">
                <a:solidFill>
                  <a:srgbClr val="1F3864"/>
                </a:solidFill>
                <a:latin typeface="Calibri"/>
              </a:rPr>
              <a:t>observable from sensors</a:t>
            </a:r>
            <a:r>
              <a:rPr sz="1700" b="0">
                <a:solidFill>
                  <a:srgbClr val="242933"/>
                </a:solidFill>
                <a:latin typeface="Calibri"/>
              </a:rPr>
              <a:t>; to our knowledge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first end-to-end JEPA on a parametric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Our architecture for gust encounters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mid-plane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vorticity ω(t)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Encoder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(CNN + ViT)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unconditional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6304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latent z(t)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d = 32 / 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783080"/>
            <a:ext cx="1783080" cy="868680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Predictor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(AR transformer)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1783080"/>
            <a:ext cx="182880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predicted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z(t+1)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774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4348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08076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27532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46520" y="3401568"/>
            <a:ext cx="1783080" cy="603504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gust c = (G, D, Y)</a:t>
            </a:r>
          </a:p>
        </p:txBody>
      </p:sp>
      <p:sp>
        <p:nvSpPr>
          <p:cNvPr id="16" name="Up Arrow 15"/>
          <p:cNvSpPr/>
          <p:nvPr/>
        </p:nvSpPr>
        <p:spPr>
          <a:xfrm>
            <a:off x="7178040" y="2724912"/>
            <a:ext cx="320040" cy="640080"/>
          </a:xfrm>
          <a:prstGeom prst="upArrow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52958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enters the predictor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109728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</a:t>
            </a:r>
            <a:r>
              <a:rPr sz="1500" b="1">
                <a:solidFill>
                  <a:srgbClr val="1F3864"/>
                </a:solidFill>
                <a:latin typeface="Calibri"/>
              </a:rPr>
              <a:t>encoder is unconditional</a:t>
            </a:r>
            <a:r>
              <a:rPr sz="1500" b="0">
                <a:solidFill>
                  <a:srgbClr val="242933"/>
                </a:solidFill>
                <a:latin typeface="Calibri"/>
              </a:rPr>
              <a:t>: a pure state map ω(t) → z; the gust never touches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gust </a:t>
            </a:r>
            <a:r>
              <a:rPr sz="1500" b="1">
                <a:solidFill>
                  <a:srgbClr val="1F3864"/>
                </a:solidFill>
                <a:latin typeface="Calibri"/>
              </a:rPr>
              <a:t>c = (G, D, Y) enters the predictor only</a:t>
            </a:r>
            <a:r>
              <a:rPr sz="1500" b="0">
                <a:solidFill>
                  <a:srgbClr val="242933"/>
                </a:solidFill>
                <a:latin typeface="Calibri"/>
              </a:rPr>
              <a:t> (AdaLN); 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is</a:t>
            </a:r>
            <a:r>
              <a:rPr sz="1500" b="0">
                <a:solidFill>
                  <a:srgbClr val="242933"/>
                </a:solidFill>
                <a:latin typeface="Calibri"/>
              </a:rPr>
              <a:t> the latent dynamics model you plan or learn against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</a:t>
            </a:r>
            <a:r>
              <a:rPr sz="1500" b="1">
                <a:solidFill>
                  <a:srgbClr val="1F3864"/>
                </a:solidFill>
                <a:latin typeface="Calibri"/>
              </a:rPr>
              <a:t>visualisation decoder</a:t>
            </a:r>
            <a:r>
              <a:rPr sz="1500" b="0">
                <a:solidFill>
                  <a:srgbClr val="242933"/>
                </a:solidFill>
                <a:latin typeface="Calibri"/>
              </a:rPr>
              <a:t> is trained on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frozen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encoder, never in the loss (figures only)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Compared at matched latent dimension against a reconstructive AE (Fukami) and POD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autoencoder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route (Fukami-Taira lineage):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encoder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, an </a:t>
            </a:r>
            <a:r>
              <a:rPr sz="1600" b="1">
                <a:solidFill>
                  <a:srgbClr val="1F3864"/>
                </a:solidFill>
                <a:latin typeface="Calibri"/>
              </a:rPr>
              <a:t>MLP latent ξ</a:t>
            </a:r>
            <a:r>
              <a:rPr sz="1600" b="0">
                <a:solidFill>
                  <a:srgbClr val="242933"/>
                </a:solidFill>
                <a:latin typeface="Calibri"/>
              </a:rPr>
              <a:t> (which also feeds a lift head to C_L), and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loss compares the reconstructed field to the input in </a:t>
            </a:r>
            <a:r>
              <a:rPr sz="1600" b="1">
                <a:solidFill>
                  <a:srgbClr val="1F3864"/>
                </a:solidFill>
                <a:latin typeface="Calibri"/>
              </a:rPr>
              <a:t>pixel space</a:t>
            </a:r>
          </a:p>
        </p:txBody>
      </p:sp>
      <p:pic>
        <p:nvPicPr>
          <p:cNvPr id="7" name="Picture 6" descr="fukami_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0449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An autoencoder reconstructs the field; the latent is shaped by pixel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JEPA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Same encoder, but a </a:t>
            </a:r>
            <a:r>
              <a:rPr sz="160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600" b="0">
                <a:solidFill>
                  <a:srgbClr val="242933"/>
                </a:solidFill>
                <a:latin typeface="Calibri"/>
              </a:rPr>
              <a:t> advances the latent and the loss lives in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 space</a:t>
            </a:r>
            <a:r>
              <a:rPr sz="1600" b="0">
                <a:solidFill>
                  <a:srgbClr val="242933"/>
                </a:solidFill>
                <a:latin typeface="Calibri"/>
              </a:rPr>
              <a:t>, with </a:t>
            </a:r>
            <a:r>
              <a:rPr sz="1600" b="1">
                <a:solidFill>
                  <a:srgbClr val="1F3864"/>
                </a:solidFill>
                <a:latin typeface="Calibri"/>
              </a:rPr>
              <a:t>no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 (an anti-collapse term keeps z informative); the gust c = (G, D, Y) enters the predictor only</a:t>
            </a:r>
          </a:p>
        </p:txBody>
      </p:sp>
      <p:pic>
        <p:nvPicPr>
          <p:cNvPr id="7" name="Picture 6" descr="fukami_je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209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7044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JEPA predicts the next latent in latent space, with no field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Forward-closure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28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Forward closure:</a:t>
            </a:r>
            <a:r>
              <a:rPr sz="1700" b="0">
                <a:solidFill>
                  <a:srgbClr val="242933"/>
                </a:solidFill>
                <a:latin typeface="Calibri"/>
              </a:rPr>
              <a:t> roll the predictor recursively to </a:t>
            </a:r>
            <a:r>
              <a:rPr sz="1700" b="1">
                <a:solidFill>
                  <a:srgbClr val="1F3864"/>
                </a:solidFill>
                <a:latin typeface="Calibri"/>
              </a:rPr>
              <a:t>H = 16</a:t>
            </a:r>
            <a:r>
              <a:rPr sz="1700" b="0">
                <a:solidFill>
                  <a:srgbClr val="242933"/>
                </a:solidFill>
                <a:latin typeface="Calibri"/>
              </a:rPr>
              <a:t> frames after impact, then probe each observable from the predicted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Matched protocol:</a:t>
            </a:r>
            <a:r>
              <a:rPr sz="1700" b="0">
                <a:solidFill>
                  <a:srgbClr val="242933"/>
                </a:solidFill>
                <a:latin typeface="Calibri"/>
              </a:rPr>
              <a:t> same predictor architecture and same probe family,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trained / fitted separately per 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, so differences are the encoder's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floor:</a:t>
            </a:r>
            <a:r>
              <a:rPr sz="1700" b="0">
                <a:solidFill>
                  <a:srgbClr val="242933"/>
                </a:solidFill>
                <a:latin typeface="Calibri"/>
              </a:rPr>
              <a:t> can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three gust numbers (G, D, Y) alone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 each observable (a kernel-ridge fit)? A latent that only matches this has merely re-encoded its known inputs; </a:t>
            </a:r>
            <a:r>
              <a:rPr sz="1700" b="1">
                <a:solidFill>
                  <a:srgbClr val="1F3864"/>
                </a:solidFill>
                <a:latin typeface="Calibri"/>
              </a:rPr>
              <a:t>beating the floor proves the latent carries flow state beyond the parameters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Reported with bootstrap CIs, 3 encoder seeds, 5-fold probe CV; held-out test_b / test_c</a:t>
            </a:r>
          </a:p>
        </p:txBody>
      </p:sp>
      <p:pic>
        <p:nvPicPr>
          <p:cNvPr id="7" name="Picture 6" descr="eval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572" y="3977639"/>
            <a:ext cx="7080374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161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same predictor and probe map every encoder family to the observables, in two modes.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Main result: forward closure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537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Closure R² (rolled-out latent to observable, mean over six): </a:t>
            </a:r>
            <a:r>
              <a:rPr sz="1600" b="1">
                <a:solidFill>
                  <a:srgbClr val="1F3864"/>
                </a:solidFill>
                <a:latin typeface="Calibri"/>
              </a:rPr>
              <a:t>JEPA 0.84 · Fukami 0.43 · POD 0.56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is the discriminator: </a:t>
            </a:r>
            <a:r>
              <a:rPr sz="1600" b="1">
                <a:solidFill>
                  <a:srgbClr val="1F3864"/>
                </a:solidFill>
                <a:latin typeface="Calibri"/>
              </a:rPr>
              <a:t>0.93</a:t>
            </a:r>
            <a:r>
              <a:rPr sz="1600" b="0">
                <a:solidFill>
                  <a:srgbClr val="242933"/>
                </a:solidFill>
                <a:latin typeface="Calibri"/>
              </a:rPr>
              <a:t> vs 0.28 / 0.37; held-out MAE </a:t>
            </a:r>
            <a:r>
              <a:rPr sz="1600" b="1">
                <a:solidFill>
                  <a:srgbClr val="1F3864"/>
                </a:solidFill>
                <a:latin typeface="Calibri"/>
              </a:rPr>
              <a:t>2.4 to 3× lower</a:t>
            </a:r>
            <a:r>
              <a:rPr sz="1600" b="0">
                <a:solidFill>
                  <a:srgbClr val="242933"/>
                </a:solidFill>
                <a:latin typeface="Calibri"/>
              </a:rPr>
              <a:t>. POD competes only on the impulse I_y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E_w = ∫ ω_z² over the wake (x/c ∈ [0.5, 4], |y/c| ≤ 1):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intensity of the wake's rotational structures</a:t>
            </a:r>
            <a:r>
              <a:rPr sz="1600" b="0">
                <a:solidFill>
                  <a:srgbClr val="242933"/>
                </a:solidFill>
                <a:latin typeface="Calibri"/>
              </a:rPr>
              <a:t> (LEV + shed vortices) that set the future load, the part reconstruction-only states smooth away, so it is the hard, discriminating target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Impulse</a:t>
            </a:r>
            <a:r>
              <a:rPr sz="1600" b="0">
                <a:solidFill>
                  <a:srgbClr val="242933"/>
                </a:solidFill>
                <a:latin typeface="Calibri"/>
              </a:rPr>
              <a:t> I_y = ∫ x·ω_z over the slice: a </a:t>
            </a:r>
            <a:r>
              <a:rPr sz="1600" b="1">
                <a:solidFill>
                  <a:srgbClr val="1F3864"/>
                </a:solidFill>
                <a:latin typeface="Calibri"/>
              </a:rPr>
              <a:t>vortical-transport</a:t>
            </a:r>
            <a:r>
              <a:rPr sz="1600" b="0">
                <a:solidFill>
                  <a:srgbClr val="242933"/>
                </a:solidFill>
                <a:latin typeface="Calibri"/>
              </a:rPr>
              <a:t> integral tying the wake's vorticity distribution to the loading; smooth and low-rank, so even POD captures it, the *easy* contrast that isolates where the wake is hard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Each panel's MAE is in that observable's own units; R² is the cross-observable comparison</a:t>
            </a:r>
          </a:p>
        </p:txBody>
      </p:sp>
      <p:pic>
        <p:nvPicPr>
          <p:cNvPr id="7" name="Picture 6" descr="closure_H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64208"/>
            <a:ext cx="4480560" cy="3509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61081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16 by observable (test B top, test C bottom); each observable in its own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same comparison, 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8</a:t>
            </a:r>
            <a:r>
              <a:rPr sz="1600" b="0">
                <a:solidFill>
                  <a:srgbClr val="242933"/>
                </a:solidFill>
                <a:latin typeface="Calibri"/>
              </a:rPr>
              <a:t> instead of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family ordering is unchanged: the predictive latent is lowest on the wake, near the DNS-oracle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Absolute errors are smaller at the shorter horizon: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30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JEPA, vs ≈ 41 at H =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and POD stay well above the floor on the wake</a:t>
            </a:r>
          </a:p>
        </p:txBody>
      </p:sp>
      <p:pic>
        <p:nvPicPr>
          <p:cNvPr id="7" name="Picture 6" descr="closure_H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399" y="1664208"/>
            <a:ext cx="554176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8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4</a:t>
            </a:r>
            <a:r>
              <a:rPr sz="1600" b="0">
                <a:solidFill>
                  <a:srgbClr val="242933"/>
                </a:solidFill>
                <a:latin typeface="Calibri"/>
              </a:rPr>
              <a:t>, four frames after impact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latent is still lowest on the wake enstrophy and closest to the 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Errors shrink further: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27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JEPA; the wake stays the discriminating observable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advantage holds at </a:t>
            </a:r>
            <a:r>
              <a:rPr sz="1600" b="1">
                <a:solidFill>
                  <a:srgbClr val="1F3864"/>
                </a:solidFill>
                <a:latin typeface="Calibri"/>
              </a:rPr>
              <a:t>every horizon we test</a:t>
            </a:r>
            <a:r>
              <a:rPr sz="1600" b="0">
                <a:solidFill>
                  <a:srgbClr val="242933"/>
                </a:solidFill>
                <a:latin typeface="Calibri"/>
              </a:rPr>
              <a:t>, not only H = 16</a:t>
            </a:r>
          </a:p>
        </p:txBody>
      </p:sp>
      <p:pic>
        <p:nvPicPr>
          <p:cNvPr id="7" name="Picture 6" descr="closure_H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916" y="1664208"/>
            <a:ext cx="552472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4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in action: the rollout tracks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4297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rolls the latent forward from impact</a:t>
            </a:r>
            <a:r>
              <a:rPr sz="1500" b="0">
                <a:solidFill>
                  <a:srgbClr val="242933"/>
                </a:solidFill>
                <a:latin typeface="Calibri"/>
              </a:rPr>
              <a:t>; each scalar is read off the rolled latent by a fixed linear probe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500" b="0">
                <a:solidFill>
                  <a:srgbClr val="242933"/>
                </a:solidFill>
                <a:latin typeface="Calibri"/>
              </a:rPr>
              <a:t>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lift</a:t>
            </a:r>
            <a:r>
              <a:rPr sz="1500" b="0">
                <a:solidFill>
                  <a:srgbClr val="242933"/>
                </a:solidFill>
                <a:latin typeface="Calibri"/>
              </a:rPr>
              <a:t> track the DNS truth (black) through impact and the lift dip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Reconstruction (green) = encoded-latent </a:t>
            </a:r>
            <a:r>
              <a:rPr sz="1500" b="1">
                <a:solidFill>
                  <a:srgbClr val="1F3864"/>
                </a:solidFill>
                <a:latin typeface="Calibri"/>
              </a:rPr>
              <a:t>ceiling</a:t>
            </a:r>
            <a:r>
              <a:rPr sz="1500" b="0">
                <a:solidFill>
                  <a:srgbClr val="242933"/>
                </a:solidFill>
                <a:latin typeface="Calibri"/>
              </a:rPr>
              <a:t>; prediction (orange) =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forecast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representative </a:t>
            </a:r>
            <a:r>
              <a:rPr sz="1500" b="1">
                <a:solidFill>
                  <a:srgbClr val="1F3864"/>
                </a:solidFill>
                <a:latin typeface="Calibri"/>
              </a:rPr>
              <a:t>low-error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encounter (G = -1.5), not the hardest case</a:t>
            </a:r>
          </a:p>
        </p:txBody>
      </p:sp>
      <p:pic>
        <p:nvPicPr>
          <p:cNvPr id="7" name="forecast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12080" y="1600200"/>
            <a:ext cx="6309360" cy="4553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same forecast in physical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933"/>
                </a:solidFill>
                <a:latin typeface="Calibri"/>
              </a:rPr>
              <a:t>Decode the rolled latent every frame: the forecast as full vorticity fields, not just scalars.</a:t>
            </a:r>
          </a:p>
        </p:txBody>
      </p:sp>
      <p:pic>
        <p:nvPicPr>
          <p:cNvPr id="7" name="field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77240" y="2057400"/>
            <a:ext cx="10607040" cy="2798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vs reconstruction (JEPA encode→decode of the latent) vs prediction (rolled latent), G = -1.5. At impact (H = 0) prediction = reconstruction; they diverge with horizon. SSIM(prediction) 0.77 at impact, 0.53 at H = 16. The latent keeps the LEV and shear layer; fine-scale wake is not retained at d = 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It is the wake, not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Forces</a:t>
            </a:r>
            <a:r>
              <a:rPr sz="1700" b="0">
                <a:solidFill>
                  <a:srgbClr val="242933"/>
                </a:solidFill>
                <a:latin typeface="Calibri"/>
              </a:rPr>
              <a:t> (C_L, C_D) are forecast </a:t>
            </a:r>
            <a:r>
              <a:rPr sz="1700" b="1">
                <a:solidFill>
                  <a:srgbClr val="1F3864"/>
                </a:solidFill>
                <a:latin typeface="Calibri"/>
              </a:rPr>
              <a:t>redundantly by every family</a:t>
            </a:r>
            <a:r>
              <a:rPr sz="1700" b="0">
                <a:solidFill>
                  <a:srgbClr val="242933"/>
                </a:solidFill>
                <a:latin typeface="Calibri"/>
              </a:rPr>
              <a:t>, many coordinates carry them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Only the predictive latent carries a </a:t>
            </a:r>
            <a:r>
              <a:rPr sz="1700" b="1">
                <a:solidFill>
                  <a:srgbClr val="1F3864"/>
                </a:solidFill>
                <a:latin typeface="Calibri"/>
              </a:rPr>
              <a:t>distributed wake-forecast code</a:t>
            </a:r>
            <a:r>
              <a:rPr sz="1700" b="0">
                <a:solidFill>
                  <a:srgbClr val="242933"/>
                </a:solidFill>
                <a:latin typeface="Calibri"/>
              </a:rPr>
              <a:t> (rank corr 0.83; best single coordinate 0.44)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Reconstructive / linear: best single coordinate ≈ the whole latent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 collective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And it clears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</a:t>
            </a:r>
            <a:r>
              <a:rPr sz="1700" b="0">
                <a:solidFill>
                  <a:srgbClr val="242933"/>
                </a:solidFill>
                <a:latin typeface="Calibri"/>
              </a:rPr>
              <a:t> → the latent, not the parameters, does the work</a:t>
            </a:r>
          </a:p>
        </p:txBody>
      </p:sp>
      <p:pic>
        <p:nvPicPr>
          <p:cNvPr id="7" name="Picture 6" descr="wake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55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Wake forecast skill: full latent (dark) vs best single coordinate (light).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wake in physical space: the Gaussian scale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Gaussian scale split</a:t>
            </a:r>
            <a:r>
              <a:rPr sz="1400" b="0">
                <a:solidFill>
                  <a:srgbClr val="242933"/>
                </a:solidFill>
                <a:latin typeface="Calibri"/>
              </a:rPr>
              <a:t> (Motoori &amp; Goto 2019): low-pass the vorticity at σ/c = 0.05 into a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</a:t>
            </a:r>
            <a:r>
              <a:rPr sz="1400" b="0">
                <a:solidFill>
                  <a:srgbClr val="242933"/>
                </a:solidFill>
                <a:latin typeface="Calibri"/>
              </a:rPr>
              <a:t> part (LEV + shear layer, carries the lift) and a fine part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Top: large-scale vorticity at impact+16 for the strongest test gust (G = -3, D = 1.5, Y = -0.1), simulation vs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predictive</a:t>
            </a:r>
            <a:r>
              <a:rPr sz="1400" b="0">
                <a:solidFill>
                  <a:srgbClr val="242933"/>
                </a:solidFill>
                <a:latin typeface="Calibri"/>
              </a:rPr>
              <a:t> and </a:t>
            </a:r>
            <a:r>
              <a:rPr sz="1400" b="1">
                <a:solidFill>
                  <a:srgbClr val="1F3864"/>
                </a:solidFill>
                <a:latin typeface="Calibri"/>
              </a:rPr>
              <a:t>reconstructive</a:t>
            </a:r>
            <a:r>
              <a:rPr sz="1400" b="0">
                <a:solidFill>
                  <a:srgbClr val="242933"/>
                </a:solidFill>
                <a:latin typeface="Calibri"/>
              </a:rPr>
              <a:t> encode-then-decode reconstructions: predictive keeps the LEV/wake, reconstructive smooths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Bottom: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400" b="0">
                <a:solidFill>
                  <a:srgbClr val="242933"/>
                </a:solidFill>
                <a:latin typeface="Calibri"/>
              </a:rPr>
              <a:t> through the encounter; bands = mean ± 1 s.d. across test_b encounters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So 'it is the wake' is visible in </a:t>
            </a:r>
            <a:r>
              <a:rPr sz="1400" b="1">
                <a:solidFill>
                  <a:srgbClr val="1F3864"/>
                </a:solidFill>
                <a:latin typeface="Calibri"/>
              </a:rPr>
              <a:t>physical space</a:t>
            </a:r>
            <a:r>
              <a:rPr sz="1400" b="0">
                <a:solidFill>
                  <a:srgbClr val="242933"/>
                </a:solidFill>
                <a:latin typeface="Calibri"/>
              </a:rPr>
              <a:t>, not only in the scalar closure</a:t>
            </a:r>
          </a:p>
        </p:txBody>
      </p:sp>
      <p:pic>
        <p:nvPicPr>
          <p:cNvPr id="7" name="Picture 6" descr="scale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898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Large-scale (σ/c = 0.05) wake vorticity at impact+16 (top) and large-scale wake enstrophy vs frame (bottom), by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Latent coordinates group by physical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257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Profile each of the 64 predictive-latent coordinates by its |Spearman| correlation with nine descriptors (gust G, forces, wake enstrophy, circulations Γ±, wake thickness, centroid)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Clustering the profiles recovers </a:t>
            </a:r>
            <a:r>
              <a:rPr sz="1500" b="1">
                <a:solidFill>
                  <a:srgbClr val="1F3864"/>
                </a:solidFill>
                <a:latin typeface="Calibri"/>
              </a:rPr>
              <a:t>functional groups</a:t>
            </a:r>
            <a:r>
              <a:rPr sz="1500" b="0">
                <a:solidFill>
                  <a:srgbClr val="242933"/>
                </a:solidFill>
                <a:latin typeface="Calibri"/>
              </a:rPr>
              <a:t>: </a:t>
            </a:r>
            <a:r>
              <a:rPr sz="1500" b="1">
                <a:solidFill>
                  <a:srgbClr val="1F3864"/>
                </a:solidFill>
                <a:latin typeface="Calibri"/>
              </a:rPr>
              <a:t>~51 wake-vorticity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(G1, G2)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11 gust-forcing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(G3); two near-silent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Alone, the wake groups forecast the future wake at </a:t>
            </a:r>
            <a:r>
              <a:rPr sz="1500" b="1">
                <a:solidFill>
                  <a:srgbClr val="1F3864"/>
                </a:solidFill>
                <a:latin typeface="Calibri"/>
              </a:rPr>
              <a:t>≈ 0.7</a:t>
            </a:r>
            <a:r>
              <a:rPr sz="1500" b="0">
                <a:solidFill>
                  <a:srgbClr val="242933"/>
                </a:solidFill>
                <a:latin typeface="Calibri"/>
              </a:rPr>
              <a:t>, the forcing group at </a:t>
            </a:r>
            <a:r>
              <a:rPr sz="1500" b="1">
                <a:solidFill>
                  <a:srgbClr val="1F3864"/>
                </a:solidFill>
                <a:latin typeface="Calibri"/>
              </a:rPr>
              <a:t>0.45</a:t>
            </a:r>
            <a:r>
              <a:rPr sz="1500" b="0">
                <a:solidFill>
                  <a:srgbClr val="242933"/>
                </a:solidFill>
                <a:latin typeface="Calibri"/>
              </a:rPr>
              <a:t> (all 64 together: 0.83), the collective wake code seen earlier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Read </a:t>
            </a:r>
            <a:r>
              <a:rPr sz="1500" b="1">
                <a:solidFill>
                  <a:srgbClr val="1F3864"/>
                </a:solidFill>
                <a:latin typeface="Calibri"/>
              </a:rPr>
              <a:t>descriptively</a:t>
            </a:r>
            <a:r>
              <a:rPr sz="1500" b="0">
                <a:solidFill>
                  <a:srgbClr val="242933"/>
                </a:solidFill>
                <a:latin typeface="Calibri"/>
              </a:rPr>
              <a:t>, not as a causal claim</a:t>
            </a:r>
          </a:p>
        </p:txBody>
      </p:sp>
      <p:pic>
        <p:nvPicPr>
          <p:cNvPr id="7" name="Picture 6" descr="coord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64208"/>
            <a:ext cx="5852160" cy="41840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610819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Per-coordinate |ρ| with each descriptor; rows grouped into functional clusters (G1-G4), labelled with coord count and held-out wake-forecast skill.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Controls: objective and supervision, not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 × 2:</a:t>
            </a:r>
            <a:r>
              <a:rPr sz="1700" b="0">
                <a:solidFill>
                  <a:srgbClr val="242933"/>
                </a:solidFill>
                <a:latin typeface="Calibri"/>
              </a:rPr>
              <a:t> objective {predictive, reconstructive} × architecture {CNN, CNN+ViT}, auxiliary heads matched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Predictive beats reconstructive at </a:t>
            </a:r>
            <a:r>
              <a:rPr sz="1700" b="1">
                <a:solidFill>
                  <a:srgbClr val="1F3864"/>
                </a:solidFill>
                <a:latin typeface="Calibri"/>
              </a:rPr>
              <a:t>both</a:t>
            </a:r>
            <a:r>
              <a:rPr sz="1700" b="0">
                <a:solidFill>
                  <a:srgbClr val="242933"/>
                </a:solidFill>
                <a:latin typeface="Calibri"/>
              </a:rPr>
              <a:t> architectures (wake R² 0.46 / 0.45 vs 0.16 / 0.29)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not the ViT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Remove the wake head from the predictive model → wake closure </a:t>
            </a:r>
            <a:r>
              <a:rPr sz="1700" b="1">
                <a:solidFill>
                  <a:srgbClr val="1F3864"/>
                </a:solidFill>
                <a:latin typeface="Calibri"/>
              </a:rPr>
              <a:t>collapses below floor (R² = −1.03)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→ the gain needs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predictive objective and wake supervision together</a:t>
            </a:r>
          </a:p>
        </p:txBody>
      </p:sp>
      <p:pic>
        <p:nvPicPr>
          <p:cNvPr id="7" name="Picture 6" descr="controls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972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Objective × architecture controls, three seeds per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1: latent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 this question:</a:t>
            </a:r>
            <a:r>
              <a:rPr sz="1400" b="0">
                <a:solidFill>
                  <a:srgbClr val="242933"/>
                </a:solidFill>
                <a:latin typeface="Calibri"/>
              </a:rPr>
              <a:t> a planner / RL agent queries the model at states reached by its </a:t>
            </a:r>
            <a:r>
              <a:rPr sz="1400" b="1">
                <a:solidFill>
                  <a:srgbClr val="1F3864"/>
                </a:solidFill>
                <a:latin typeface="Calibri"/>
              </a:rPr>
              <a:t>own rollout</a:t>
            </a:r>
            <a:r>
              <a:rPr sz="1400" b="0">
                <a:solidFill>
                  <a:srgbClr val="242933"/>
                </a:solidFill>
                <a:latin typeface="Calibri"/>
              </a:rPr>
              <a:t>, one-step error is not enough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Mahalanobis distance:</a:t>
            </a:r>
            <a:r>
              <a:rPr sz="1400" b="0">
                <a:solidFill>
                  <a:srgbClr val="242933"/>
                </a:solidFill>
                <a:latin typeface="Calibri"/>
              </a:rPr>
              <a:t> covariance-aware distance from a reference cloud, d = sqrt((z−μ)' S^-1 (z−μ)); ≈ 1 is one standard-deviation unit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We compare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rolled-out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 to the distribution of </a:t>
            </a:r>
            <a:r>
              <a:rPr sz="1400" b="1">
                <a:solidFill>
                  <a:srgbClr val="1F3864"/>
                </a:solidFill>
                <a:latin typeface="Calibri"/>
              </a:rPr>
              <a:t>DNS-encoded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latents (ratio = rollout / encoded)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reconstructive rollout drifts </a:t>
            </a:r>
            <a:r>
              <a:rPr sz="1400" b="1">
                <a:solidFill>
                  <a:srgbClr val="1F3864"/>
                </a:solidFill>
                <a:latin typeface="Calibri"/>
              </a:rPr>
              <a:t>~10× off-manifold (9.9)</a:t>
            </a:r>
            <a:r>
              <a:rPr sz="1400" b="0">
                <a:solidFill>
                  <a:srgbClr val="242933"/>
                </a:solidFill>
                <a:latin typeface="Calibri"/>
              </a:rPr>
              <a:t>; JEPA 0.85 and POD 0.81 stay inside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The R² in the plot is </a:t>
            </a:r>
            <a:r>
              <a:rPr sz="1400" b="1">
                <a:solidFill>
                  <a:srgbClr val="1F3864"/>
                </a:solidFill>
                <a:latin typeface="Calibri"/>
              </a:rPr>
              <a:t>forward closure via a probe</a:t>
            </a:r>
            <a:r>
              <a:rPr sz="1400" b="0">
                <a:solidFill>
                  <a:srgbClr val="242933"/>
                </a:solidFill>
                <a:latin typeface="Calibri"/>
              </a:rPr>
              <a:t>: the predictor advances only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400" b="0">
                <a:solidFill>
                  <a:srgbClr val="242933"/>
                </a:solidFill>
                <a:latin typeface="Calibri"/>
              </a:rPr>
              <a:t>, and a fixed linear probe reads each observable off the rolled-out latent (no direct predictor of C_L or the wake)</a:t>
            </a:r>
          </a:p>
        </p:txBody>
      </p:sp>
      <p:pic>
        <p:nvPicPr>
          <p:cNvPr id="7" name="Picture 6" descr="horizon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Forward-closure R² vs rollout horizon (test_b): the predictor advances the latent; a linear probe reads each observable off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2: topology of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Why:</a:t>
            </a:r>
            <a:r>
              <a:rPr sz="1400" b="0">
                <a:solidFill>
                  <a:srgbClr val="242933"/>
                </a:solidFill>
                <a:latin typeface="Calibri"/>
              </a:rPr>
              <a:t> shedding and gust encounters are </a:t>
            </a:r>
            <a:r>
              <a:rPr sz="1400" b="1">
                <a:solidFill>
                  <a:srgbClr val="1F3864"/>
                </a:solidFill>
                <a:latin typeface="Calibri"/>
              </a:rPr>
              <a:t>cyclic</a:t>
            </a:r>
            <a:r>
              <a:rPr sz="1400" b="0">
                <a:solidFill>
                  <a:srgbClr val="242933"/>
                </a:solidFill>
                <a:latin typeface="Calibri"/>
              </a:rPr>
              <a:t>; a faithful state should trace </a:t>
            </a:r>
            <a:r>
              <a:rPr sz="1400" b="1">
                <a:solidFill>
                  <a:srgbClr val="1F3864"/>
                </a:solidFill>
                <a:latin typeface="Calibri"/>
              </a:rPr>
              <a:t>one loop</a:t>
            </a:r>
            <a:r>
              <a:rPr sz="1400" b="0">
                <a:solidFill>
                  <a:srgbClr val="242933"/>
                </a:solidFill>
                <a:latin typeface="Calibri"/>
              </a:rPr>
              <a:t> per encounter, not a tangle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Persistent homology</a:t>
            </a:r>
            <a:r>
              <a:rPr sz="1400" b="0">
                <a:solidFill>
                  <a:srgbClr val="242933"/>
                </a:solidFill>
                <a:latin typeface="Calibri"/>
              </a:rPr>
              <a:t> (coordinate-free): it grows a distance scale on the latent trajectory and counts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loops (1-cycles) that persist</a:t>
            </a:r>
            <a:r>
              <a:rPr sz="1400" b="0">
                <a:solidFill>
                  <a:srgbClr val="242933"/>
                </a:solidFill>
                <a:latin typeface="Calibri"/>
              </a:rPr>
              <a:t> over a long scale range, i.e. the genuine cycles, not noise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 (encoded latent, 42 test_b encounters):</a:t>
            </a:r>
            <a:r>
              <a:rPr sz="1400" b="0">
                <a:solidFill>
                  <a:srgbClr val="242933"/>
                </a:solidFill>
                <a:latin typeface="Calibri"/>
              </a:rPr>
              <a:t> JEPA has </a:t>
            </a:r>
            <a:r>
              <a:rPr sz="1400" b="1">
                <a:solidFill>
                  <a:srgbClr val="1F3864"/>
                </a:solidFill>
                <a:latin typeface="Calibri"/>
              </a:rPr>
              <a:t>median 1</a:t>
            </a:r>
            <a:r>
              <a:rPr sz="1400" b="0">
                <a:solidFill>
                  <a:srgbClr val="242933"/>
                </a:solidFill>
                <a:latin typeface="Calibri"/>
              </a:rPr>
              <a:t> persistent loop vs reconstructive </a:t>
            </a:r>
            <a:r>
              <a:rPr sz="1400" b="1">
                <a:solidFill>
                  <a:srgbClr val="1F3864"/>
                </a:solidFill>
                <a:latin typeface="Calibri"/>
              </a:rPr>
              <a:t>median 3.5</a:t>
            </a:r>
            <a:r>
              <a:rPr sz="1400" b="0">
                <a:solidFill>
                  <a:srgbClr val="242933"/>
                </a:solidFill>
                <a:latin typeface="Calibri"/>
              </a:rPr>
              <a:t> (Mann-Whitney p ≈ 4×10⁻⁸); at case level </a:t>
            </a:r>
            <a:r>
              <a:rPr sz="1400" b="1">
                <a:solidFill>
                  <a:srgbClr val="1F3864"/>
                </a:solidFill>
                <a:latin typeface="Calibri"/>
              </a:rPr>
              <a:t>all 10 cases</a:t>
            </a:r>
            <a:r>
              <a:rPr sz="1400" b="0">
                <a:solidFill>
                  <a:srgbClr val="242933"/>
                </a:solidFill>
                <a:latin typeface="Calibri"/>
              </a:rPr>
              <a:t> have fewer loops for JEPA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So the predictive state is a </a:t>
            </a:r>
            <a:r>
              <a:rPr sz="1400" b="1">
                <a:solidFill>
                  <a:srgbClr val="1F3864"/>
                </a:solidFill>
                <a:latin typeface="Calibri"/>
              </a:rPr>
              <a:t>single clean cycle</a:t>
            </a:r>
            <a:r>
              <a:rPr sz="1400" b="0">
                <a:solidFill>
                  <a:srgbClr val="242933"/>
                </a:solidFill>
                <a:latin typeface="Calibri"/>
              </a:rPr>
              <a:t>, the reconstructive one </a:t>
            </a:r>
            <a:r>
              <a:rPr sz="1400" b="1">
                <a:solidFill>
                  <a:srgbClr val="1F3864"/>
                </a:solidFill>
                <a:latin typeface="Calibri"/>
              </a:rPr>
              <a:t>fragments</a:t>
            </a:r>
            <a:r>
              <a:rPr sz="1400" b="0">
                <a:solidFill>
                  <a:srgbClr val="242933"/>
                </a:solidFill>
                <a:latin typeface="Calibri"/>
              </a:rPr>
              <a:t>. This is the *topological count*, </a:t>
            </a:r>
            <a:r>
              <a:rPr sz="1400" b="1">
                <a:solidFill>
                  <a:srgbClr val="1F3864"/>
                </a:solidFill>
                <a:latin typeface="Calibri"/>
              </a:rPr>
              <a:t>not</a:t>
            </a:r>
            <a:r>
              <a:rPr sz="1400" b="0">
                <a:solidFill>
                  <a:srgbClr val="242933"/>
                </a:solidFill>
                <a:latin typeface="Calibri"/>
              </a:rPr>
              <a:t> a claim that the PCA curve visually closes (panels are encode→decode, no predictor; the orbit departs the baseline cycle and only partially returns in 120 frames)</a:t>
            </a:r>
          </a:p>
        </p:txBody>
      </p:sp>
      <p:pic>
        <p:nvPicPr>
          <p:cNvPr id="7" name="Picture 6" descr="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571" y="1664208"/>
            <a:ext cx="460149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(a, b) PCA of the encoded-latent trajectory; (c) staged decodes (reconstructions) with OT distances. Single-cycle = median 1 persistent H1 generator (vs 3.5); the orbit need not visually close in the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3: transport geometry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Why:</a:t>
            </a:r>
            <a:r>
              <a:rPr sz="1400" b="0">
                <a:solidFill>
                  <a:srgbClr val="242933"/>
                </a:solidFill>
                <a:latin typeface="Calibri"/>
              </a:rPr>
              <a:t> Euclidean / pixel distance ignores </a:t>
            </a:r>
            <a:r>
              <a:rPr sz="1400" b="1">
                <a:solidFill>
                  <a:srgbClr val="1F3864"/>
                </a:solidFill>
                <a:latin typeface="Calibri"/>
              </a:rPr>
              <a:t>where structures move</a:t>
            </a:r>
            <a:r>
              <a:rPr sz="1400" b="0">
                <a:solidFill>
                  <a:srgbClr val="242933"/>
                </a:solidFill>
                <a:latin typeface="Calibri"/>
              </a:rPr>
              <a:t>; control cares about advection of the LEV and shear layer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Optimal-transport (OT) distance: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least cost to rearrange one vorticity field into another, so it measures transport, not just intensity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Per encounter, Spearman-correlate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400" b="0">
                <a:solidFill>
                  <a:srgbClr val="242933"/>
                </a:solidFill>
                <a:latin typeface="Calibri"/>
              </a:rPr>
              <a:t> distance matrix with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OT</a:t>
            </a:r>
            <a:r>
              <a:rPr sz="1400" b="0">
                <a:solidFill>
                  <a:srgbClr val="242933"/>
                </a:solidFill>
                <a:latin typeface="Calibri"/>
              </a:rPr>
              <a:t> distance matrix (n = 42 test_b)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Within-encounter:</a:t>
            </a:r>
            <a:r>
              <a:rPr sz="1400" b="0">
                <a:solidFill>
                  <a:srgbClr val="242933"/>
                </a:solidFill>
                <a:latin typeface="Calibri"/>
              </a:rPr>
              <a:t> JEPA </a:t>
            </a:r>
            <a:r>
              <a:rPr sz="1400" b="1">
                <a:solidFill>
                  <a:srgbClr val="1F3864"/>
                </a:solidFill>
                <a:latin typeface="Calibri"/>
              </a:rPr>
              <a:t>0.63 ± 0.15</a:t>
            </a:r>
            <a:r>
              <a:rPr sz="1400" b="0">
                <a:solidFill>
                  <a:srgbClr val="242933"/>
                </a:solidFill>
                <a:latin typeface="Calibri"/>
              </a:rPr>
              <a:t> vs reconstructive </a:t>
            </a:r>
            <a:r>
              <a:rPr sz="1400" b="1">
                <a:solidFill>
                  <a:srgbClr val="1F3864"/>
                </a:solidFill>
                <a:latin typeface="Calibri"/>
              </a:rPr>
              <a:t>0.45</a:t>
            </a:r>
            <a:r>
              <a:rPr sz="1400" b="0">
                <a:solidFill>
                  <a:srgbClr val="242933"/>
                </a:solidFill>
                <a:latin typeface="Calibri"/>
              </a:rPr>
              <a:t>, order-preservation along the trajectory, </a:t>
            </a:r>
            <a:r>
              <a:rPr sz="1400" b="1">
                <a:solidFill>
                  <a:srgbClr val="1F3864"/>
                </a:solidFill>
                <a:latin typeface="Calibri"/>
              </a:rPr>
              <a:t>not</a:t>
            </a:r>
            <a:r>
              <a:rPr sz="1400" b="0">
                <a:solidFill>
                  <a:srgbClr val="242933"/>
                </a:solidFill>
                <a:latin typeface="Calibri"/>
              </a:rPr>
              <a:t> an isometry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Honest caveat:</a:t>
            </a:r>
            <a:r>
              <a:rPr sz="1400" b="0">
                <a:solidFill>
                  <a:srgbClr val="242933"/>
                </a:solidFill>
                <a:latin typeface="Calibri"/>
              </a:rPr>
              <a:t> *pooled across* encounters the ranking </a:t>
            </a:r>
            <a:r>
              <a:rPr sz="1400" b="1">
                <a:solidFill>
                  <a:srgbClr val="1F3864"/>
                </a:solidFill>
                <a:latin typeface="Calibri"/>
              </a:rPr>
              <a:t>reverses</a:t>
            </a:r>
            <a:r>
              <a:rPr sz="1400" b="0">
                <a:solidFill>
                  <a:srgbClr val="242933"/>
                </a:solidFill>
                <a:latin typeface="Calibri"/>
              </a:rPr>
              <a:t> (JEPA 0.38 vs 0.63), so this alignment is </a:t>
            </a:r>
            <a:r>
              <a:rPr sz="1400" b="1">
                <a:solidFill>
                  <a:srgbClr val="1F3864"/>
                </a:solidFill>
                <a:latin typeface="Calibri"/>
              </a:rPr>
              <a:t>trajectory-local</a:t>
            </a:r>
            <a:r>
              <a:rPr sz="1400" b="0">
                <a:solidFill>
                  <a:srgbClr val="242933"/>
                </a:solidFill>
                <a:latin typeface="Calibri"/>
              </a:rPr>
              <a:t>, not a global latent metric</a:t>
            </a:r>
          </a:p>
        </p:txBody>
      </p:sp>
      <p:pic>
        <p:nvPicPr>
          <p:cNvPr id="7" name="Picture 6" descr="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2309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Per-encounter latent-vs-OT distance alignment (Shepard). Headline is the within-encounter Spearman (0.63 vs 0.45); pooled over all encounters it does not hold (0.38 vs 0.63).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Decoded reconstructions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Decoded fields: predictive vs reconstructive vs POD vs DNS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predictive decode is </a:t>
            </a:r>
            <a:r>
              <a:rPr sz="1700" b="1">
                <a:solidFill>
                  <a:srgbClr val="1F3864"/>
                </a:solidFill>
                <a:latin typeface="Calibri"/>
              </a:rPr>
              <a:t>blurrier pixel-wise</a:t>
            </a:r>
            <a:r>
              <a:rPr sz="1700" b="0">
                <a:solidFill>
                  <a:srgbClr val="242933"/>
                </a:solidFill>
                <a:latin typeface="Calibri"/>
              </a:rPr>
              <a:t> but preserves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transported large-scale wake</a:t>
            </a:r>
            <a:r>
              <a:rPr sz="1700" b="0">
                <a:solidFill>
                  <a:srgbClr val="242933"/>
                </a:solidFill>
                <a:latin typeface="Calibri"/>
              </a:rPr>
              <a:t>; the reconstructive decode is sharp yet drifts under rollout</a:t>
            </a:r>
          </a:p>
        </p:txBody>
      </p:sp>
      <p:pic>
        <p:nvPicPr>
          <p:cNvPr id="7" name="Picture 6" descr="reconstru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833" y="3108960"/>
            <a:ext cx="6005853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reconstructions; the predictive objective trades pixel sharpness for transported 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 sensor 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Sparse wall-pressure sensors selected by </a:t>
            </a:r>
            <a:r>
              <a:rPr sz="1700" b="1">
                <a:solidFill>
                  <a:srgbClr val="1F3864"/>
                </a:solidFill>
                <a:latin typeface="Calibri"/>
              </a:rPr>
              <a:t>TCSI / qDEIM</a:t>
            </a:r>
            <a:r>
              <a:rPr sz="1700" b="0">
                <a:solidFill>
                  <a:srgbClr val="242933"/>
                </a:solidFill>
                <a:latin typeface="Calibri"/>
              </a:rPr>
              <a:t> vs uniform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Pressure → latent map: KernelRidge(RBF) on the K-sensor × pre-impact-window vector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K = 2 / 4 / 8 / 16; the LSTM/KRR comparison is 5-fold-CV selected to guard small-sample overfitting</a:t>
            </a:r>
          </a:p>
        </p:txBody>
      </p:sp>
      <p:pic>
        <p:nvPicPr>
          <p:cNvPr id="7" name="Picture 6" descr="sensor_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21" y="3200400"/>
            <a:ext cx="6985876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Optimal sparse sensor placement on the airfoil surface.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Flow recovered from sparse wall pressure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Model:</a:t>
            </a:r>
            <a:r>
              <a:rPr sz="1600" b="0">
                <a:solidFill>
                  <a:srgbClr val="242933"/>
                </a:solidFill>
                <a:latin typeface="Calibri"/>
              </a:rPr>
              <a:t> a </a:t>
            </a:r>
            <a:r>
              <a:rPr sz="1600" b="1">
                <a:solidFill>
                  <a:srgbClr val="1F3864"/>
                </a:solidFill>
                <a:latin typeface="Calibri"/>
              </a:rPr>
              <a:t>KernelRidge (RBF kernel)</a:t>
            </a:r>
            <a:r>
              <a:rPr sz="1600" b="0">
                <a:solidFill>
                  <a:srgbClr val="242933"/>
                </a:solidFill>
                <a:latin typeface="Calibri"/>
              </a:rPr>
              <a:t> regressor maps the K wall-pressure taps over a pre-impact window to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impact-frame latent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frozen decoder then renders the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8 taps</a:t>
            </a:r>
            <a:r>
              <a:rPr sz="1600" b="0">
                <a:solidFill>
                  <a:srgbClr val="242933"/>
                </a:solidFill>
                <a:latin typeface="Calibri"/>
              </a:rPr>
              <a:t> recover the leading-edge vortex and shear layer;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2</a:t>
            </a:r>
            <a:r>
              <a:rPr sz="1600" b="0">
                <a:solidFill>
                  <a:srgbClr val="242933"/>
                </a:solidFill>
                <a:latin typeface="Calibri"/>
              </a:rPr>
              <a:t> coarsens but keeps the gross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Benchmarked against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oracle decode</a:t>
            </a:r>
            <a:r>
              <a:rPr sz="1600" b="0">
                <a:solidFill>
                  <a:srgbClr val="242933"/>
                </a:solidFill>
                <a:latin typeface="Calibri"/>
              </a:rPr>
              <a:t> (decode of the simulation-encoded latent) and the simulation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reconstructible from a few wall sensors</a:t>
            </a:r>
            <a:r>
              <a:rPr sz="1600" b="0">
                <a:solidFill>
                  <a:srgbClr val="242933"/>
                </a:solidFill>
                <a:latin typeface="Calibri"/>
              </a:rPr>
              <a:t>, a deployment-relevant observability result</a:t>
            </a:r>
          </a:p>
        </p:txBody>
      </p:sp>
      <p:pic>
        <p:nvPicPr>
          <p:cNvPr id="7" name="Picture 6" descr="flow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7287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Flow recovered from sparse wall pressure: simulation, oracle decode, and decode of the latent estimated from K = 8 and K = 2 taps (held-out encounters).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Sparse-sensor state estimation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242933"/>
                </a:solidFill>
                <a:latin typeface="Calibri"/>
              </a:rPr>
              <a:t>No predictor here: a per-frame </a:t>
            </a:r>
            <a:r>
              <a:rPr sz="1600" b="1">
                <a:solidFill>
                  <a:srgbClr val="1F3864"/>
                </a:solidFill>
                <a:latin typeface="Calibri"/>
              </a:rPr>
              <a:t>MLP</a:t>
            </a:r>
            <a:r>
              <a:rPr sz="1600" b="0">
                <a:solidFill>
                  <a:srgbClr val="242933"/>
                </a:solidFill>
                <a:latin typeface="Calibri"/>
              </a:rPr>
              <a:t> maps a causal 6-frame window of 16 wall-pressure taps to the latent, then the frozen decoder renders the field.</a:t>
            </a:r>
          </a:p>
        </p:txBody>
      </p:sp>
      <p:pic>
        <p:nvPicPr>
          <p:cNvPr id="7" name="sensing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00200" y="1965960"/>
            <a:ext cx="8961120" cy="32826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(green dots mark the 16 TCSI taps) vs the field recovered from wall pressure alone, on a held-out encounter. Held-out-encounter latent R-squared = 0.72, SSIM ~ 0.5. Wall pressure fixes the near-body LEV and shear layer; the far wake is not surface-observable.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 relevance: observable and forecastable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0807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observable from sparse wall pressure</a:t>
            </a:r>
            <a:r>
              <a:rPr sz="1600" b="0">
                <a:solidFill>
                  <a:srgbClr val="242933"/>
                </a:solidFill>
                <a:latin typeface="Calibri"/>
              </a:rPr>
              <a:t>: (G, D) recoverable from the latent (R² ≈ 0.46 / 0.80 on test_b)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Lead-time impact-C_L:</a:t>
            </a:r>
            <a:r>
              <a:rPr sz="1600" b="0">
                <a:solidFill>
                  <a:srgbClr val="242933"/>
                </a:solidFill>
                <a:latin typeface="Calibri"/>
              </a:rPr>
              <a:t> predictor-in-loop </a:t>
            </a:r>
            <a:r>
              <a:rPr sz="1600" b="1">
                <a:solidFill>
                  <a:srgbClr val="1F3864"/>
                </a:solidFill>
                <a:latin typeface="Calibri"/>
              </a:rPr>
              <a:t>R² = 0.35 at 10 frames pre-impact</a:t>
            </a:r>
            <a:r>
              <a:rPr sz="1600" b="0">
                <a:solidFill>
                  <a:srgbClr val="242933"/>
                </a:solidFill>
                <a:latin typeface="Calibri"/>
              </a:rPr>
              <a:t>, vs 0.13 from direct pressure sensing (oracle 0.68)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reconstructive latent's oracle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negative</a:t>
            </a:r>
            <a:r>
              <a:rPr sz="1600" b="0">
                <a:solidFill>
                  <a:srgbClr val="242933"/>
                </a:solidFill>
                <a:latin typeface="Calibri"/>
              </a:rPr>
              <a:t>, a representation failure, not a probe failure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 deployment-relevant </a:t>
            </a:r>
            <a:r>
              <a:rPr sz="1600" b="1">
                <a:solidFill>
                  <a:srgbClr val="1F3864"/>
                </a:solidFill>
                <a:latin typeface="Calibri"/>
              </a:rPr>
              <a:t>state estimate plus short-horizon forecast</a:t>
            </a:r>
            <a:r>
              <a:rPr sz="1600" b="0">
                <a:solidFill>
                  <a:srgbClr val="242933"/>
                </a:solidFill>
                <a:latin typeface="Calibri"/>
              </a:rPr>
              <a:t>: the ingredients a controller consumes</a:t>
            </a:r>
          </a:p>
        </p:txBody>
      </p:sp>
      <p:pic>
        <p:nvPicPr>
          <p:cNvPr id="7" name="Picture 6" descr="cl_inference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64208"/>
            <a:ext cx="5029200" cy="29217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6108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Impact-C_L inferred at each lead time before impact (test_b R²): oracle = probe on the DNS-encoded latent; direct = pressure sensors to C_L; predictor-in-loop = roll the latent to impact, then probe.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objective + wake supervision</a:t>
            </a:r>
            <a:r>
              <a:rPr sz="1800" b="0">
                <a:solidFill>
                  <a:srgbClr val="242933"/>
                </a:solidFill>
                <a:latin typeface="Calibri"/>
              </a:rPr>
              <a:t> yields a latent dynamics model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800" b="0">
                <a:solidFill>
                  <a:srgbClr val="242933"/>
                </a:solidFill>
                <a:latin typeface="Calibri"/>
              </a:rPr>
              <a:t> (wake R² 0.75 representational / 0.84 mean), stays </a:t>
            </a:r>
            <a:r>
              <a:rPr sz="1800" b="1">
                <a:solidFill>
                  <a:srgbClr val="1F3864"/>
                </a:solidFill>
                <a:latin typeface="Calibri"/>
              </a:rPr>
              <a:t>on-manifold</a:t>
            </a:r>
            <a:r>
              <a:rPr sz="1800" b="0">
                <a:solidFill>
                  <a:srgbClr val="242933"/>
                </a:solidFill>
                <a:latin typeface="Calibri"/>
              </a:rPr>
              <a:t> under rollout, is a </a:t>
            </a:r>
            <a:r>
              <a:rPr sz="1800" b="1">
                <a:solidFill>
                  <a:srgbClr val="1F3864"/>
                </a:solidFill>
                <a:latin typeface="Calibri"/>
              </a:rPr>
              <a:t>single cycle</a:t>
            </a:r>
            <a:r>
              <a:rPr sz="1800" b="0">
                <a:solidFill>
                  <a:srgbClr val="242933"/>
                </a:solidFill>
                <a:latin typeface="Calibri"/>
              </a:rPr>
              <a:t>, and is </a:t>
            </a:r>
            <a:r>
              <a:rPr sz="1800" b="1">
                <a:solidFill>
                  <a:srgbClr val="1F3864"/>
                </a:solidFill>
                <a:latin typeface="Calibri"/>
              </a:rPr>
              <a:t>transport-aligned along each encounter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compact</a:t>
            </a:r>
            <a:r>
              <a:rPr sz="1500" b="0">
                <a:solidFill>
                  <a:srgbClr val="6B7280"/>
                </a:solidFill>
                <a:latin typeface="Calibri"/>
              </a:rPr>
              <a:t> (d = 32 ≈ d = 64, participation ratio ≈ 1.7)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observable</a:t>
            </a:r>
            <a:r>
              <a:rPr sz="1500" b="0">
                <a:solidFill>
                  <a:srgbClr val="6B7280"/>
                </a:solidFill>
                <a:latin typeface="Calibri"/>
              </a:rPr>
              <a:t> from sparse wall pressure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discriminator throughout is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which force-only and reconstruction-only states lose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It is a </a:t>
            </a:r>
            <a:r>
              <a:rPr sz="1800" b="1">
                <a:solidFill>
                  <a:srgbClr val="1F3864"/>
                </a:solidFill>
                <a:latin typeface="Calibri"/>
              </a:rPr>
              <a:t>conditional forward-closure model</a:t>
            </a:r>
            <a:r>
              <a:rPr sz="1800" b="0">
                <a:solidFill>
                  <a:srgbClr val="242933"/>
                </a:solidFill>
                <a:latin typeface="Calibri"/>
              </a:rPr>
              <a:t>, a substrate for model-based control and RL world-models, </a:t>
            </a:r>
            <a:r>
              <a:rPr sz="1800" b="1">
                <a:solidFill>
                  <a:srgbClr val="1F3864"/>
                </a:solidFill>
                <a:latin typeface="Calibri"/>
              </a:rPr>
              <a:t>not yet a validated controller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Next:</a:t>
            </a:r>
            <a:r>
              <a:rPr sz="1800" b="0">
                <a:solidFill>
                  <a:srgbClr val="242933"/>
                </a:solidFill>
                <a:latin typeface="Calibri"/>
              </a:rPr>
              <a:t> swap the gust conditioning for an </a:t>
            </a:r>
            <a:r>
              <a:rPr sz="1800" b="1">
                <a:solidFill>
                  <a:srgbClr val="1F3864"/>
                </a:solidFill>
                <a:latin typeface="Calibri"/>
              </a:rPr>
              <a:t>actuation channel</a:t>
            </a:r>
            <a:r>
              <a:rPr sz="1800" b="0">
                <a:solidFill>
                  <a:srgbClr val="242933"/>
                </a:solidFill>
                <a:latin typeface="Calibri"/>
              </a:rPr>
              <a:t> (same machinery), </a:t>
            </a:r>
            <a:r>
              <a:rPr sz="1800" b="1">
                <a:solidFill>
                  <a:srgbClr val="1F3864"/>
                </a:solidFill>
                <a:latin typeface="Calibri"/>
              </a:rPr>
              <a:t>close the loop</a:t>
            </a:r>
            <a:r>
              <a:rPr sz="1800" b="0">
                <a:solidFill>
                  <a:srgbClr val="242933"/>
                </a:solidFill>
                <a:latin typeface="Calibri"/>
              </a:rPr>
              <a:t>, push to </a:t>
            </a:r>
            <a:r>
              <a:rPr sz="1800" b="1">
                <a:solidFill>
                  <a:srgbClr val="1F3864"/>
                </a:solidFill>
                <a:latin typeface="Calibri"/>
              </a:rPr>
              <a:t>3D observability</a:t>
            </a:r>
            <a:r>
              <a:rPr sz="1800" b="0">
                <a:solidFill>
                  <a:srgbClr val="242933"/>
                </a:solidFill>
                <a:latin typeface="Calibri"/>
              </a:rPr>
              <a:t> at |G| = 4, and carry the recipe to </a:t>
            </a:r>
            <a:r>
              <a:rPr sz="1800" b="1">
                <a:solidFill>
                  <a:srgbClr val="1F3864"/>
                </a:solidFill>
                <a:latin typeface="Calibri"/>
              </a:rPr>
              <a:t>other parametric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Acknowledgements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42933"/>
                </a:solidFill>
                <a:latin typeface="Calibri"/>
              </a:rPr>
              <a:t>This work is a collaboration with:</a:t>
            </a:r>
          </a:p>
        </p:txBody>
      </p:sp>
      <p:pic>
        <p:nvPicPr>
          <p:cNvPr id="7" name="Picture 6" descr="photo_solera_s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79" y="2011680"/>
            <a:ext cx="155448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79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Alberto Solera-Rico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INTA · UC3M</a:t>
            </a:r>
          </a:p>
        </p:txBody>
      </p:sp>
      <p:pic>
        <p:nvPicPr>
          <p:cNvPr id="9" name="Picture 8" descr="photo_miro_s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0116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Arnau Miró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UPC · BSC</a:t>
            </a:r>
          </a:p>
        </p:txBody>
      </p:sp>
      <p:pic>
        <p:nvPicPr>
          <p:cNvPr id="11" name="Picture 10" descr="photo_lehmkuhl_s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011680"/>
            <a:ext cx="1554480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Oriol Lehmkuhl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BSC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10881360" cy="16002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617720"/>
            <a:ext cx="91440" cy="160020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773168"/>
            <a:ext cx="74980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2933"/>
                </a:solidFill>
                <a:latin typeface="Calibri"/>
              </a:rPr>
              <a:t>Work produced with the support of a 2024 Leonardo Grant for Researchers and Cultural Creators, BBVA Foundation, project PREVENT (grant LEO24-2-15988). The Foundation takes no responsibility for the opinions, statements and contents of this project, which are entirely the responsibility of its authors.</a:t>
            </a:r>
          </a:p>
        </p:txBody>
      </p:sp>
      <p:pic>
        <p:nvPicPr>
          <p:cNvPr id="16" name="Picture 15" descr="IMG_2283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630" y="4846320"/>
            <a:ext cx="1008659" cy="566928"/>
          </a:xfrm>
          <a:prstGeom prst="rect">
            <a:avLst/>
          </a:prstGeom>
        </p:spPr>
      </p:pic>
      <p:pic>
        <p:nvPicPr>
          <p:cNvPr id="17" name="Picture 16" descr="IMG_22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7124" y="5532120"/>
            <a:ext cx="999671" cy="5669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Backup slides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600" b="0">
                <a:solidFill>
                  <a:srgbClr val="C9D3E6"/>
                </a:solidFill>
                <a:latin typeface="Calibri"/>
              </a:rPr>
              <a:t>Supporting detail and ablations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88620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Dataset and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Partition </a:t>
            </a:r>
            <a:r>
              <a:rPr sz="1700" b="1">
                <a:solidFill>
                  <a:srgbClr val="1F3864"/>
                </a:solidFill>
                <a:latin typeface="Calibri"/>
              </a:rPr>
              <a:t>v2</a:t>
            </a:r>
            <a:r>
              <a:rPr sz="1700" b="0">
                <a:solidFill>
                  <a:srgbClr val="242933"/>
                </a:solidFill>
                <a:latin typeface="Calibri"/>
              </a:rPr>
              <a:t> (locked, sha256-anchored): 84 cases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226</a:t>
            </a:r>
            <a:r>
              <a:rPr sz="1700" b="0">
                <a:solidFill>
                  <a:srgbClr val="242933"/>
                </a:solidFill>
                <a:latin typeface="Calibri"/>
              </a:rPr>
              <a:t> train encounters · </a:t>
            </a:r>
            <a:r>
              <a:rPr sz="1700" b="1">
                <a:solidFill>
                  <a:srgbClr val="1F3864"/>
                </a:solidFill>
                <a:latin typeface="Calibri"/>
              </a:rPr>
              <a:t>42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test_b · </a:t>
            </a:r>
            <a:r>
              <a:rPr sz="1700" b="1">
                <a:solidFill>
                  <a:srgbClr val="1F3864"/>
                </a:solidFill>
                <a:latin typeface="Calibri"/>
              </a:rPr>
              <a:t>24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test_c (|G| = 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ω_z pipeline v1: spatial mask + p99.99 clip + 3σ scale (train_std 3.55), no mean shift (preserves vorticity antisymmetry)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Reporting: bootstrap n = 2000 CIs · 3 encoder seeds · 5-fold probe CV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1985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Matched-capacity: d = 32 vs d = 64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Halving the latent leaves the representation and </a:t>
            </a:r>
            <a:r>
              <a:rPr sz="1800" b="1">
                <a:solidFill>
                  <a:srgbClr val="1F3864"/>
                </a:solidFill>
                <a:latin typeface="Calibri"/>
              </a:rPr>
              <a:t>every mechanism diagnostic</a:t>
            </a:r>
            <a:r>
              <a:rPr sz="1800" b="0">
                <a:solidFill>
                  <a:srgbClr val="242933"/>
                </a:solidFill>
                <a:latin typeface="Calibri"/>
              </a:rPr>
              <a:t> intact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representational wake R² 0.74 (d=32) vs 0.75 (d=64); drift ratio 0.86 vs 0.85; OT 0.61 vs 0.63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Cost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in-distribution forecast sharpness</a:t>
            </a:r>
            <a:r>
              <a:rPr sz="1800" b="0">
                <a:solidFill>
                  <a:srgbClr val="242933"/>
                </a:solidFill>
                <a:latin typeface="Calibri"/>
              </a:rPr>
              <a:t>: H = 16 wake closure 0.45 → 0.21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Participation ratio ≈ 1.7, leading PC ≈ ¾ of variance → the effective dimension is a handful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Seed variance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Three encoder seeds per cell; wake-closure means reported ± standard deviation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reconstructive CNN+ViT cell has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 seed variance (±0.27)</a:t>
            </a:r>
            <a:r>
              <a:rPr sz="1800" b="0">
                <a:solidFill>
                  <a:srgbClr val="242933"/>
                </a:solidFill>
                <a:latin typeface="Calibri"/>
              </a:rPr>
              <a:t>, consistent with the drift mechanism: without a forward-predictable geometry, closure is unstable across initialisations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Predictive cells are tight (±0.03–0.06)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Parameter observability from the latent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z → (G, D, Y) probe R² from the rolled-out latent, K = 8 pre-impact sensors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test_b: </a:t>
            </a:r>
            <a:r>
              <a:rPr sz="1700" b="1">
                <a:solidFill>
                  <a:srgbClr val="1F3864"/>
                </a:solidFill>
                <a:latin typeface="Calibri"/>
              </a:rPr>
              <a:t>G 0.46 · D 0.80 · Y 0.10</a:t>
            </a:r>
            <a:r>
              <a:rPr sz="1700" b="0">
                <a:solidFill>
                  <a:srgbClr val="242933"/>
                </a:solidFill>
                <a:latin typeface="Calibri"/>
              </a:rPr>
              <a:t>, gust impulse and depth recoverable; cross-stream offset Y is marginal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test_c (|G| = 4): negative, the 3D observability boundary of a single mid-plane slice</a:t>
            </a:r>
          </a:p>
        </p:txBody>
      </p:sp>
      <p:pic>
        <p:nvPicPr>
          <p:cNvPr id="7" name="Picture 6" descr="pressure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80" y="3383280"/>
            <a:ext cx="10696559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Gust parameters implicit in the latent on held-out cases.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SSIM convention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Reconstruction SSIM uses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Wang convention</a:t>
            </a:r>
            <a:r>
              <a:rPr sz="1800" b="0">
                <a:solidFill>
                  <a:srgbClr val="242933"/>
                </a:solidFill>
                <a:latin typeface="Calibri"/>
              </a:rPr>
              <a:t> (K1 = 0.01, K2 = 0.03) on pipeline-normalised 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Data range </a:t>
            </a:r>
            <a:r>
              <a:rPr sz="1800" b="1">
                <a:solidFill>
                  <a:srgbClr val="1F3864"/>
                </a:solidFill>
                <a:latin typeface="Calibri"/>
              </a:rPr>
              <a:t>L = 2 · global p99.9(|target|) ≈ 8.31</a:t>
            </a:r>
            <a:r>
              <a:rPr sz="1800" b="0">
                <a:solidFill>
                  <a:srgbClr val="242933"/>
                </a:solidFill>
                <a:latin typeface="Calibri"/>
              </a:rPr>
              <a:t> (split v2)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Decoder test_a SSIM ≈ </a:t>
            </a:r>
            <a:r>
              <a:rPr sz="1800" b="1">
                <a:solidFill>
                  <a:srgbClr val="1F3864"/>
                </a:solidFill>
                <a:latin typeface="Calibri"/>
              </a:rPr>
              <a:t>0.71</a:t>
            </a:r>
            <a:r>
              <a:rPr sz="1800" b="0">
                <a:solidFill>
                  <a:srgbClr val="242933"/>
                </a:solidFill>
                <a:latin typeface="Calibri"/>
              </a:rPr>
              <a:t> at this convention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Conditioning-only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KRR-RBF on (G, D, Y) → observable at impact; train / test_b / test_c R²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on train, (G, D, Y) interpolates C_L and C_D well (226 points in 3-D)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800" b="0">
                <a:solidFill>
                  <a:srgbClr val="242933"/>
                </a:solidFill>
                <a:latin typeface="Calibri"/>
              </a:rPr>
              <a:t> the floor </a:t>
            </a:r>
            <a:r>
              <a:rPr sz="1800" b="1">
                <a:solidFill>
                  <a:srgbClr val="1F3864"/>
                </a:solidFill>
                <a:latin typeface="Calibri"/>
              </a:rPr>
              <a:t>collapses</a:t>
            </a:r>
            <a:r>
              <a:rPr sz="1800" b="0">
                <a:solidFill>
                  <a:srgbClr val="242933"/>
                </a:solidFill>
                <a:latin typeface="Calibri"/>
              </a:rPr>
              <a:t> across observables; 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800" b="0">
                <a:solidFill>
                  <a:srgbClr val="242933"/>
                </a:solidFill>
                <a:latin typeface="Calibri"/>
              </a:rPr>
              <a:t> it is negative for 5 of 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→ JEPA's generalisation is </a:t>
            </a:r>
            <a:r>
              <a:rPr sz="1800" b="1">
                <a:solidFill>
                  <a:srgbClr val="1F3864"/>
                </a:solidFill>
                <a:latin typeface="Calibri"/>
              </a:rPr>
              <a:t>not</a:t>
            </a:r>
            <a:r>
              <a:rPr sz="1800" b="0">
                <a:solidFill>
                  <a:srgbClr val="242933"/>
                </a:solidFill>
                <a:latin typeface="Calibri"/>
              </a:rPr>
              <a:t> explained by the conditioning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Model detail: encoder and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Encoder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CNN stem (3 down-sampling stages) + a 6-layer Vision Transformer; the field becomes 288 patch tokens, and a learned [CLS] token is mapped by a small MLP (with BatchNorm) to the latent z (d = 32 / 64)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6-layer autoregressive transformer (hidden 384, 16 heads, dropout 0.1): it reads z(t) and emits the next latent z(t+1)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Causal mask:</a:t>
            </a:r>
            <a:r>
              <a:rPr sz="1250" b="0">
                <a:solidFill>
                  <a:srgbClr val="242933"/>
                </a:solidFill>
                <a:latin typeface="Calibri"/>
              </a:rPr>
              <a:t> each step sees only past steps, never the future; </a:t>
            </a:r>
            <a:r>
              <a:rPr sz="1250" b="1">
                <a:solidFill>
                  <a:srgbClr val="1F3864"/>
                </a:solidFill>
                <a:latin typeface="Calibri"/>
              </a:rPr>
              <a:t>RoPE</a:t>
            </a:r>
            <a:r>
              <a:rPr sz="1250" b="0">
                <a:solidFill>
                  <a:srgbClr val="242933"/>
                </a:solidFill>
                <a:latin typeface="Calibri"/>
              </a:rPr>
              <a:t> encodes the frame ordering so the transformer knows what is earlier or later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AdaLN-Zero:</a:t>
            </a:r>
            <a:r>
              <a:rPr sz="1250" b="0">
                <a:solidFill>
                  <a:srgbClr val="242933"/>
                </a:solidFill>
                <a:latin typeface="Calibri"/>
              </a:rPr>
              <a:t> how the gust (G, D, Y) and shedding phase φ enter, they rescale the transformer's internal normalisation, initialised to do nothing so they perturb training gently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Training:</a:t>
            </a:r>
            <a:r>
              <a:rPr sz="1250" b="0">
                <a:solidFill>
                  <a:srgbClr val="242933"/>
                </a:solidFill>
                <a:latin typeface="Calibri"/>
              </a:rPr>
              <a:t> match the next latent (teacher forcing)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scheduled sampling</a:t>
            </a:r>
            <a:r>
              <a:rPr sz="1250" b="0">
                <a:solidFill>
                  <a:srgbClr val="242933"/>
                </a:solidFill>
                <a:latin typeface="Calibri"/>
              </a:rPr>
              <a:t> (feed the model its own predictions over an 8-step rollout, so it tolerates its own errors)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SIGReg</a:t>
            </a:r>
            <a:r>
              <a:rPr sz="1250" b="0">
                <a:solidFill>
                  <a:srgbClr val="242933"/>
                </a:solidFill>
                <a:latin typeface="Calibri"/>
              </a:rPr>
              <a:t> anti-collapse (keeps z informative without a decoder); AdamW, bf16, 80k steps</a:t>
            </a:r>
          </a:p>
        </p:txBody>
      </p:sp>
      <p:pic>
        <p:nvPicPr>
          <p:cNvPr id="7" name="Picture 6" descr="predictor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251" y="1664208"/>
            <a:ext cx="490637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Phase–amplitude 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46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Phase–amplitude decomposition of the encounter cycle in the predictive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Connects the predictor to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sensitivity-function control</a:t>
            </a:r>
            <a:r>
              <a:rPr sz="1700" b="0">
                <a:solidFill>
                  <a:srgbClr val="242933"/>
                </a:solidFill>
                <a:latin typeface="Calibri"/>
              </a:rPr>
              <a:t> designed for these flows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 actuation channel would enter where the gust does, the predictor conditioning</a:t>
            </a:r>
          </a:p>
        </p:txBody>
      </p:sp>
      <p:pic>
        <p:nvPicPr>
          <p:cNvPr id="7" name="Picture 6" descr="phase_ampl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64208"/>
            <a:ext cx="4572000" cy="3627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