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extreme gust control needs a fast, faithful forward model. Our work asks which reduced state is worth planning against, and shows a predictive (JEPA) latent captures the wake physics that reconstructive and linear baselines lose. Audience is new to JEPA, so I will spend a slide on what it 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Pure DNS, no model yet: motivate the difficulty. A moderate in-envelope gust (G = -2, D = 0.5, train set) on Fukami's canonical core; the lift swings by about 4 in C_L, in his recognisable range (baseline C_L 0.73 matches Fukami's 0.73). Pitch to a control audience: the bottleneck for model-based control / RL is a reduced dynamics model trustworthy under rollout.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Objective slide (no results yet): the wake challenge, the large-scale wake enstrophy definition (Gaussian split), and the goal: a reduced state that ENCODES the wake (which reconstruction loses) and is recoverable from sensors. The predictive-vs-reconstructive Gaussian-split result comes later, in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central question. The state should ENCODE the wake (which reconstruction-only states lose) and be recoverable from sensors. This is exactly the property a planner or RL agent needs to consume.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DNS claim bounded (solver-resolution metadata pending). Emphasise the six observables, wake enstrophy being the one that separates the methods; the 3D envelope shows test_c (|G|=4) sitting far outside the training cloud.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Pedagogic core for a non-ML audience. Same first three boxes; the only change is Decoder -&gt; Predictor and where the loss lives: pixels (AE) vs latent space (JEPA). No decoder in JEPA; the anti-collapse term stops the encoder collapsing.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JEPA slide: recipe (latent loss + anti-collapse, no decoder), cheap latent rollout, lineage, and the control framing.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Encoder is a pure state map; the predictor advances the latent. For control, an actuation channel is the natural next input.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visualisation decoder is a SEPARATE stage on the frozen encoder, never in the JEPA objective. LapFiLM = 5-level Laplacian pyramid + FiLM modulation + pixelshuffle upsampling, ~0.9M params. Why this and not a plain CNN/ViT decoder: a transposed-conv CNN under pixel MSE blurs the wake and adds checkerboard artefacts, and a ViT decoder is heavier and patch-blocky; the pyramid synthesises coarse-to-fine (large-scale wake first), FiLM lets the 64-D latent modulate every scale cheaply, and pixelshuffle (sub-pixel conv) upsamples without checkerboards. Loss is a multi-term region + Laplacian-pyramid + gradient + spectral-amplitude objective (plus small enstrophy/circulation terms). Why SSIM not MSE: MSE is pointwise and rewards a blurred mean field, whereas SSIM scores local luminance/contrast/structure, so it tracks whether the wake PATTERN is right. Held-out SSIM ~0.73. Used only to visualise latents as fields in the rollout / recovery figures.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Moved from backup into the architecture block (after the decoder slide). Encoder = CNN stem + 6-layer ViT, [CLS]-&gt;MLP(BatchNorm)-&gt;z. Predictor = 6-layer AR transformer, unconditioned (no gust parameters). Causal mask + RoPE. Trained with teacher forcing + scheduled sampling (8-step) + SIGReg. Lineage: I-JEPA/V-JEPA, LeWM, LeJEPA.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Illustrated alternative to the box diagram (slide 6); keep whichever style you prefer.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Illustrated alternative to the box architecture (slide 8); keep whichever style you prefer.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Fairness is the whole point: only the encoder changes. Headline is REPRESENTATIONAL closure (probe the encoded latent); the forward rollout is shown qualitatively only. The parameter-only floor rules out 'the parameters did it'. Reported with bootstrap CIs, 3 encoder seeds, 5-fold probe CV; held-out test_b / test_c.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Headline, reframed to REPRESENTATIONAL closure of the unconditioned tf-no-c latent. Probe the ENCODED latent (z_dns), no rollout: wake-enstrophy R^2 = 0.71 (conditioned 0.75), vs Fukami 0.06 / POD negative. I_y is excluded (the latent does not encode it; not comparable to the others). No 'rolled-out 0.84/0.93' claim; the rollout is shown only qualitatively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Embedded MP4 (plays in PowerPoint; a still shows otherwise). Two observables (wake enstrophy and lift). GREEN reconstruction = the model's OWN encoded latent decoded with NO rollout (encode-then-decode of the true frame), i.e. the representational ceiling, NOT a separate reconstructive autoencoder. ORANGE prediction = the rolled latent (predictor advanced forward, then decoded). Representative low-error gust encounter (G = +1.5, the unconditioned tf-no-c rollout). Qualitative: the rolled latent tracks the wake; no closure R^2 is claimed.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Physical-space companion to the scalar rollout: same encounter (G = +1.5, unconditioned tf-no-c), decoded with the frozen LapFiLM visualisation decoder (never part of the JEPA loss). Reconstruction is the representational ceiling; prediction is the rolled latent decoded. Qualitative: the rolled latent tracks the wake.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Mechanistic reading of the main result. Each bar = how well the FUTURE WAKE is forecast; dark = the full latent (all 64 coordinates together), light = the single best coordinate. For the predictive JEPA the full latent (0.84) far exceeds the best single coordinate (0.48): the wake is a DISTRIBUTED code. For reconstructive / POD the best single coordinate is already as good as the whole latent, so there is NO distributed/collective wake code to find. Forces are carried redundantly by every family.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Physical-space version of 'it is the wake': the predictive reconstruction keeps the large-scale wake, the reconstructive one smooths it. These are encode-then-decode reconstructions; bands are mean +/- 1 s.d. over test_b. Moved here from the opening so results follow the method.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Backs the 'it is the wake' story: the unconditioned latent organises coordinates by physical function (three wake-dominated clusters + one force cluster; full latent 0.84). Descriptive correlation only; the causal (SURD) part of this analysis is not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Pre-empt the skeptic: isolate the cause before the mechanism. Fair-comparison setup: every cell is rolled with the SAME temporal predictor (the matched closure predictor, same architecture and protocol, trained separately per family), so the only thing that varies is the encoder's objective/architecture. The predictive objective wins at both architectures (it is the objective, not the ViT), and the wake-observable head is a necessary ingredient.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terms for the audience. z_dns = the latent encoded directly from the simulation field (ground truth); z_markov = the latent produced by rolling the predictor forward. The curve is their relative distance vs horizon, and LOWER/flatter is better (the rollout stays on the data manifold). The unconditioned rollout drift grows gracefully and matches the conditioned model. Figure now plots only tf-no-c, lstm-no-c, and the conditioned production JEPA (Fukami dropped: its smooth latent gives a misleadingly low drift).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Plain-language framing for a non-expert audience. A gust encounter is a cycle (the flow loops and roughly returns). We ask whether the latent traces ONE clean loop or a tangle of many. Persistent homology is a principled loop-counter on the latent path. Result: the unconditioned JEPA latent makes one loop (median 1); the reconstructive latent fragments into many (median ~4); p ~ 5e-9. So the predictive state captures the encounter as a single coherent cycle. (Technically: count of persistent H1 generators on z_dns over 42 test_b encounters; encounter-level Mann-Whitney p ~ 5e-9. The PCA panels are encode-&gt;decode, no predictor; the orbit need not visually close in the 120-frame window.)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Reframed to match the figure (flow from pressure). The 'best-case decode' column is the CEILING decode (decode of the true simulation-encoded latent), i.e. the best the decoder could do given a perfect latent. The predictive-vs-reconstructive wake tracking is already on the scale-decomposition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Dynamic companion to the static flow-recovery slide: a causal 6-frame pressure window at 8 TCSI taps -&gt; MLP -&gt; latent -&gt; frozen decoder, applied frame by frame (unconditioned tf-no-c latent). This is state ESTIMATION, not forecasting; the JEPA predictor is not used here.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venue hook, reframed to the unconditioned figure: from sparse wall pressure we recover the impact-frame latent ahead of impact (state R^2 ~0.88 at impact, &gt;0.83 out to 8 frames) and estimate impact lift (MAE 0.38-&gt;0.60 over 0-8 frames). Observable ahead of impact, the ingredient a controller needs. No predictor-in-loop / oracle three-way claim 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forecast windows for the unconditioned predictor (markov rollout, wake/C_L linear probes on the rolled latent): wake is predictable in a roughly symmetric +/-16-frame window around impact (early warning); lift is asymmetric -- hard to anticipate (flat pre-impact) but strongly forecastable post-impact.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 closing slide, reframed to the UNCONDITIONED latent. What we built: an unconditioned predictive latent that representationally keeps the wake (R^2 ~0.71), traces a single clean cycle, is transport-consistent and observable from sparse pressure. The rollout is qualitative; no forward-closed wake R^2 0.84 claim. Honest boundary: a substrate, not a validated controller. Outlook: actuation channel, close loop, 3D observability, other flows.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Acknowledgements: author photos (Solera-Rico, Miró, Lehmkuhl) and the BBVA Foundation / Red Leonardo funding logos. Funding: 2024 Leonardo Grant, project PREVENT (LEO24-2-15988).</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Moved to backup: real but the weakest mechanism diagnostic (post-hoc, trajectory-local, pooled reverses). OT method = signed-vorticity split + unbalanced Sinkhorn (Tran, Yeh &amp; Taira JFM 2026, eq 5); our code uses the entropic transport cost, not the debiased divergence, which does not change orderings.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Phase-amplitude reading of the encounter cycle. Note for the audience: the abrupt 2*pi -&gt; 0 step in panel (b) is a phase WRAP (theta is a cyclic angle on the orbit, it resets at the branch cut, which falls near impact), not a physical jump.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6.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3.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14.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24.png"/><Relationship Id="rId5"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jpg"/><Relationship Id="rId6" Type="http://schemas.openxmlformats.org/officeDocument/2006/relationships/image" Target="../media/image31.png"/><Relationship Id="rId7"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1234440"/>
            <a:ext cx="10698480" cy="2286000"/>
          </a:xfrm>
          <a:prstGeom prst="rect">
            <a:avLst/>
          </a:prstGeom>
          <a:noFill/>
        </p:spPr>
        <p:txBody>
          <a:bodyPr wrap="square" anchor="t" lIns="0" rIns="0" tIns="0" bIns="0">
            <a:spAutoFit/>
          </a:bodyPr>
          <a:lstStyle/>
          <a:p>
            <a:pPr algn="l">
              <a:spcBef>
                <a:spcPts val="0"/>
              </a:spcBef>
              <a:spcAft>
                <a:spcPts val="600"/>
              </a:spcAft>
            </a:pPr>
            <a:r>
              <a:rPr sz="3100" b="1">
                <a:solidFill>
                  <a:srgbClr val="1F3864"/>
                </a:solidFill>
                <a:latin typeface="Calibri"/>
              </a:rPr>
              <a:t>Sparse-sensing state estimation of vortex-gust airfoil interactions</a:t>
            </a:r>
          </a:p>
          <a:p>
            <a:pPr algn="l">
              <a:spcBef>
                <a:spcPts val="0"/>
              </a:spcBef>
              <a:spcAft>
                <a:spcPts val="0"/>
              </a:spcAft>
            </a:pPr>
            <a:r>
              <a:rPr sz="2100" b="1">
                <a:solidFill>
                  <a:srgbClr val="C05210"/>
                </a:solidFill>
                <a:latin typeface="Calibri"/>
              </a:rPr>
              <a:t>Toward model-based flow control</a:t>
            </a:r>
          </a:p>
        </p:txBody>
      </p:sp>
      <p:sp>
        <p:nvSpPr>
          <p:cNvPr id="4" name="Rectangle 3"/>
          <p:cNvSpPr/>
          <p:nvPr/>
        </p:nvSpPr>
        <p:spPr>
          <a:xfrm>
            <a:off x="914400" y="3611880"/>
            <a:ext cx="2743200" cy="54864"/>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840480"/>
            <a:ext cx="10515600" cy="1371600"/>
          </a:xfrm>
          <a:prstGeom prst="rect">
            <a:avLst/>
          </a:prstGeom>
          <a:noFill/>
        </p:spPr>
        <p:txBody>
          <a:bodyPr wrap="square" anchor="t" lIns="0" rIns="0" tIns="0" bIns="0">
            <a:spAutoFit/>
          </a:bodyPr>
          <a:lstStyle/>
          <a:p>
            <a:pPr algn="l">
              <a:spcBef>
                <a:spcPts val="0"/>
              </a:spcBef>
              <a:spcAft>
                <a:spcPts val="300"/>
              </a:spcAft>
            </a:pPr>
            <a:r>
              <a:rPr sz="1500" b="0">
                <a:solidFill>
                  <a:srgbClr val="242933"/>
                </a:solidFill>
                <a:latin typeface="Calibri"/>
              </a:rPr>
              <a:t>A. Solera-Rico, A. Miró, O. Lehmkuhl, </a:t>
            </a:r>
            <a:r>
              <a:rPr sz="1500" b="1">
                <a:solidFill>
                  <a:srgbClr val="1F3864"/>
                </a:solidFill>
                <a:latin typeface="Calibri"/>
              </a:rPr>
              <a:t>C. Sanmiguel Vila</a:t>
            </a:r>
          </a:p>
          <a:p>
            <a:pPr algn="l">
              <a:spcBef>
                <a:spcPts val="0"/>
              </a:spcBef>
              <a:spcAft>
                <a:spcPts val="0"/>
              </a:spcAft>
            </a:pPr>
            <a:r>
              <a:rPr sz="1250" b="0">
                <a:solidFill>
                  <a:srgbClr val="C05210"/>
                </a:solidFill>
                <a:latin typeface="Calibri"/>
              </a:rPr>
              <a:t>csanvil@inta.es</a:t>
            </a:r>
          </a:p>
        </p:txBody>
      </p:sp>
      <p:pic>
        <p:nvPicPr>
          <p:cNvPr id="6" name="Picture 5" descr="euromech_crop.png"/>
          <p:cNvPicPr>
            <a:picLocks noChangeAspect="1"/>
          </p:cNvPicPr>
          <p:nvPr/>
        </p:nvPicPr>
        <p:blipFill>
          <a:blip r:embed="rId2"/>
          <a:stretch>
            <a:fillRect/>
          </a:stretch>
        </p:blipFill>
        <p:spPr>
          <a:xfrm>
            <a:off x="10561320" y="390906"/>
            <a:ext cx="1051560" cy="644652"/>
          </a:xfrm>
          <a:prstGeom prst="rect">
            <a:avLst/>
          </a:prstGeom>
        </p:spPr>
      </p:pic>
      <p:pic>
        <p:nvPicPr>
          <p:cNvPr id="7" name="Picture 6" descr="IMG_2286.png"/>
          <p:cNvPicPr>
            <a:picLocks noChangeAspect="1"/>
          </p:cNvPicPr>
          <p:nvPr/>
        </p:nvPicPr>
        <p:blipFill>
          <a:blip r:embed="rId3"/>
          <a:stretch>
            <a:fillRect/>
          </a:stretch>
        </p:blipFill>
        <p:spPr>
          <a:xfrm>
            <a:off x="914400" y="4892040"/>
            <a:ext cx="603504" cy="603504"/>
          </a:xfrm>
          <a:prstGeom prst="rect">
            <a:avLst/>
          </a:prstGeom>
        </p:spPr>
      </p:pic>
      <p:pic>
        <p:nvPicPr>
          <p:cNvPr id="8" name="Picture 7" descr="IMG_2289.png"/>
          <p:cNvPicPr>
            <a:picLocks noChangeAspect="1"/>
          </p:cNvPicPr>
          <p:nvPr/>
        </p:nvPicPr>
        <p:blipFill>
          <a:blip r:embed="rId4"/>
          <a:stretch>
            <a:fillRect/>
          </a:stretch>
        </p:blipFill>
        <p:spPr>
          <a:xfrm>
            <a:off x="1783080" y="4965192"/>
            <a:ext cx="1270367" cy="457200"/>
          </a:xfrm>
          <a:prstGeom prst="rect">
            <a:avLst/>
          </a:prstGeom>
        </p:spPr>
      </p:pic>
      <p:pic>
        <p:nvPicPr>
          <p:cNvPr id="9" name="Picture 8" descr="IMG_2287.png"/>
          <p:cNvPicPr>
            <a:picLocks noChangeAspect="1"/>
          </p:cNvPicPr>
          <p:nvPr/>
        </p:nvPicPr>
        <p:blipFill>
          <a:blip r:embed="rId5"/>
          <a:stretch>
            <a:fillRect/>
          </a:stretch>
        </p:blipFill>
        <p:spPr>
          <a:xfrm>
            <a:off x="3429000" y="4895782"/>
            <a:ext cx="676656" cy="596018"/>
          </a:xfrm>
          <a:prstGeom prst="rect">
            <a:avLst/>
          </a:prstGeom>
        </p:spPr>
      </p:pic>
      <p:pic>
        <p:nvPicPr>
          <p:cNvPr id="10" name="Picture 9" descr="IMG_2288.png"/>
          <p:cNvPicPr>
            <a:picLocks noChangeAspect="1"/>
          </p:cNvPicPr>
          <p:nvPr/>
        </p:nvPicPr>
        <p:blipFill>
          <a:blip r:embed="rId6"/>
          <a:stretch>
            <a:fillRect/>
          </a:stretch>
        </p:blipFill>
        <p:spPr>
          <a:xfrm>
            <a:off x="4315968" y="4892040"/>
            <a:ext cx="603504" cy="603504"/>
          </a:xfrm>
          <a:prstGeom prst="rect">
            <a:avLst/>
          </a:prstGeom>
        </p:spPr>
      </p:pic>
      <p:sp>
        <p:nvSpPr>
          <p:cNvPr id="11" name="TextBox 10"/>
          <p:cNvSpPr txBox="1"/>
          <p:nvPr/>
        </p:nvSpPr>
        <p:spPr>
          <a:xfrm>
            <a:off x="914400" y="5989320"/>
            <a:ext cx="10515600" cy="457200"/>
          </a:xfrm>
          <a:prstGeom prst="rect">
            <a:avLst/>
          </a:prstGeom>
          <a:noFill/>
        </p:spPr>
        <p:txBody>
          <a:bodyPr wrap="square" anchor="t" lIns="0" rIns="0" tIns="0" bIns="0">
            <a:spAutoFit/>
          </a:bodyPr>
          <a:lstStyle/>
          <a:p>
            <a:pPr algn="l">
              <a:spcBef>
                <a:spcPts val="0"/>
              </a:spcBef>
              <a:spcAft>
                <a:spcPts val="600"/>
              </a:spcAft>
            </a:pPr>
            <a:r>
              <a:rPr sz="1200" b="1">
                <a:solidFill>
                  <a:srgbClr val="1F3864"/>
                </a:solidFill>
                <a:latin typeface="Calibri"/>
              </a:rPr>
              <a:t>EUROMECH Colloquium  ·  Data-driven active control in flows: from model-based to reinforcement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MOTIVATION</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The control problem: gusts are fast, strong, nonlinear</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4572000" cy="4572000"/>
          </a:xfrm>
          <a:prstGeom prst="rect">
            <a:avLst/>
          </a:prstGeom>
          <a:noFill/>
        </p:spPr>
        <p:txBody>
          <a:bodyPr wrap="square" anchor="t" lIns="0" rIns="0" tIns="0" bIns="0">
            <a:spAutoFit/>
          </a:bodyPr>
          <a:lstStyle/>
          <a:p>
            <a:pPr algn="l">
              <a:spcBef>
                <a:spcPts val="0"/>
              </a:spcBef>
              <a:spcAft>
                <a:spcPts val="900"/>
              </a:spcAft>
            </a:pPr>
            <a:r>
              <a:rPr sz="1500" b="1">
                <a:solidFill>
                  <a:srgbClr val="C05210"/>
                </a:solidFill>
                <a:latin typeface="Calibri"/>
              </a:rPr>
              <a:t>•  </a:t>
            </a:r>
            <a:r>
              <a:rPr sz="1500" b="0">
                <a:solidFill>
                  <a:srgbClr val="242933"/>
                </a:solidFill>
                <a:latin typeface="Calibri"/>
              </a:rPr>
              <a:t>Small and micro air vehicles increasingly fly where the </a:t>
            </a:r>
            <a:r>
              <a:rPr sz="1500" b="1">
                <a:solidFill>
                  <a:srgbClr val="1F3864"/>
                </a:solidFill>
                <a:latin typeface="Calibri"/>
              </a:rPr>
              <a:t>gust speed is comparable to or above the flight speed</a:t>
            </a:r>
            <a:r>
              <a:rPr sz="1500" b="0">
                <a:solidFill>
                  <a:srgbClr val="242933"/>
                </a:solidFill>
                <a:latin typeface="Calibri"/>
              </a:rPr>
              <a:t> (urban canyons, building and ship wakes): gust ratio </a:t>
            </a:r>
            <a:r>
              <a:rPr sz="1500" b="1">
                <a:solidFill>
                  <a:srgbClr val="1F3864"/>
                </a:solidFill>
                <a:latin typeface="Calibri"/>
              </a:rPr>
              <a:t>G &gt; 1</a:t>
            </a:r>
            <a:r>
              <a:rPr sz="1500" b="0">
                <a:solidFill>
                  <a:srgbClr val="242933"/>
                </a:solidFill>
                <a:latin typeface="Calibri"/>
              </a:rPr>
              <a:t> brings large, fast load transients classical models miss</a:t>
            </a:r>
          </a:p>
          <a:p>
            <a:pPr algn="l">
              <a:spcBef>
                <a:spcPts val="0"/>
              </a:spcBef>
              <a:spcAft>
                <a:spcPts val="900"/>
              </a:spcAft>
            </a:pPr>
            <a:r>
              <a:rPr sz="1500" b="1">
                <a:solidFill>
                  <a:srgbClr val="C05210"/>
                </a:solidFill>
                <a:latin typeface="Calibri"/>
              </a:rPr>
              <a:t>•  </a:t>
            </a:r>
            <a:r>
              <a:rPr sz="1500" b="0">
                <a:solidFill>
                  <a:srgbClr val="242933"/>
                </a:solidFill>
                <a:latin typeface="Calibri"/>
              </a:rPr>
              <a:t>A vortex strikes the wing: a </a:t>
            </a:r>
            <a:r>
              <a:rPr sz="1500" b="1">
                <a:solidFill>
                  <a:srgbClr val="1F3864"/>
                </a:solidFill>
                <a:latin typeface="Calibri"/>
              </a:rPr>
              <a:t>leading-edge vortex</a:t>
            </a:r>
            <a:r>
              <a:rPr sz="1500" b="0">
                <a:solidFill>
                  <a:srgbClr val="242933"/>
                </a:solidFill>
                <a:latin typeface="Calibri"/>
              </a:rPr>
              <a:t> forms and sheds, and the lift swings strongly (right: DNS, a moderate </a:t>
            </a:r>
            <a:r>
              <a:rPr sz="1500" b="1">
                <a:solidFill>
                  <a:srgbClr val="1F3864"/>
                </a:solidFill>
                <a:latin typeface="Calibri"/>
              </a:rPr>
              <a:t>G = -2</a:t>
            </a:r>
            <a:r>
              <a:rPr sz="1500" b="0">
                <a:solidFill>
                  <a:srgbClr val="242933"/>
                </a:solidFill>
                <a:latin typeface="Calibri"/>
              </a:rPr>
              <a:t> gust, C_L from about -1 to +3)</a:t>
            </a:r>
          </a:p>
          <a:p>
            <a:pPr algn="l">
              <a:spcBef>
                <a:spcPts val="0"/>
              </a:spcBef>
              <a:spcAft>
                <a:spcPts val="900"/>
              </a:spcAft>
            </a:pPr>
            <a:r>
              <a:rPr sz="1500" b="1">
                <a:solidFill>
                  <a:srgbClr val="C05210"/>
                </a:solidFill>
                <a:latin typeface="Calibri"/>
              </a:rPr>
              <a:t>•  </a:t>
            </a:r>
            <a:r>
              <a:rPr sz="1500" b="0">
                <a:solidFill>
                  <a:srgbClr val="242933"/>
                </a:solidFill>
                <a:latin typeface="Calibri"/>
              </a:rPr>
              <a:t>Active control, model-based or RL, needs a </a:t>
            </a:r>
            <a:r>
              <a:rPr sz="1500" b="1">
                <a:solidFill>
                  <a:srgbClr val="1F3864"/>
                </a:solidFill>
                <a:latin typeface="Calibri"/>
              </a:rPr>
              <a:t>fast, faithful forward model</a:t>
            </a:r>
            <a:r>
              <a:rPr sz="1500" b="0">
                <a:solidFill>
                  <a:srgbClr val="242933"/>
                </a:solidFill>
                <a:latin typeface="Calibri"/>
              </a:rPr>
              <a:t> it can trust under rollout</a:t>
            </a:r>
          </a:p>
          <a:p>
            <a:pPr algn="l">
              <a:spcBef>
                <a:spcPts val="0"/>
              </a:spcBef>
              <a:spcAft>
                <a:spcPts val="900"/>
              </a:spcAft>
            </a:pPr>
            <a:r>
              <a:rPr sz="1500" b="1">
                <a:solidFill>
                  <a:srgbClr val="C05210"/>
                </a:solidFill>
                <a:latin typeface="Calibri"/>
              </a:rPr>
              <a:t>•  </a:t>
            </a:r>
            <a:r>
              <a:rPr sz="1500" b="1">
                <a:solidFill>
                  <a:srgbClr val="1F3864"/>
                </a:solidFill>
                <a:latin typeface="Calibri"/>
              </a:rPr>
              <a:t>This talk: what reduced state is worth planning against?</a:t>
            </a:r>
          </a:p>
        </p:txBody>
      </p:sp>
      <p:pic>
        <p:nvPicPr>
          <p:cNvPr id="7" name="gust_motivation_anim.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440680" y="1600200"/>
            <a:ext cx="6126480" cy="4352544"/>
          </a:xfrm>
          <a:prstGeom prst="rect">
            <a:avLst/>
          </a:prstGeom>
        </p:spPr>
      </p:pic>
      <p:sp>
        <p:nvSpPr>
          <p:cNvPr id="8" name="TextBox 7"/>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9" name="TextBox 8"/>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OBJECTIVE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Objective: a reduced state that keeps the wake</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10972800" cy="4572000"/>
          </a:xfrm>
          <a:prstGeom prst="rect">
            <a:avLst/>
          </a:prstGeom>
          <a:noFill/>
        </p:spPr>
        <p:txBody>
          <a:bodyPr wrap="square" anchor="t" lIns="0" rIns="0" tIns="0" bIns="0">
            <a:spAutoFit/>
          </a:bodyPr>
          <a:lstStyle/>
          <a:p>
            <a:pPr algn="l">
              <a:spcBef>
                <a:spcPts val="0"/>
              </a:spcBef>
              <a:spcAft>
                <a:spcPts val="900"/>
              </a:spcAft>
            </a:pPr>
            <a:r>
              <a:rPr sz="1800" b="1">
                <a:solidFill>
                  <a:srgbClr val="C05210"/>
                </a:solidFill>
                <a:latin typeface="Calibri"/>
              </a:rPr>
              <a:t>•  </a:t>
            </a:r>
            <a:r>
              <a:rPr sz="1800" b="0">
                <a:solidFill>
                  <a:srgbClr val="242933"/>
                </a:solidFill>
                <a:latin typeface="Calibri"/>
              </a:rPr>
              <a:t>The load transient is built by the </a:t>
            </a:r>
            <a:r>
              <a:rPr sz="1800" b="1">
                <a:solidFill>
                  <a:srgbClr val="1F3864"/>
                </a:solidFill>
                <a:latin typeface="Calibri"/>
              </a:rPr>
              <a:t>leading-edge vortex (LEV)</a:t>
            </a:r>
            <a:r>
              <a:rPr sz="1800" b="0">
                <a:solidFill>
                  <a:srgbClr val="242933"/>
                </a:solidFill>
                <a:latin typeface="Calibri"/>
              </a:rPr>
              <a:t> and the wake it leaves: the discriminating information is in the </a:t>
            </a:r>
            <a:r>
              <a:rPr sz="1800" b="1">
                <a:solidFill>
                  <a:srgbClr val="1F3864"/>
                </a:solidFill>
                <a:latin typeface="Calibri"/>
              </a:rPr>
              <a:t>wake</a:t>
            </a:r>
            <a:r>
              <a:rPr sz="1800" b="0">
                <a:solidFill>
                  <a:srgbClr val="242933"/>
                </a:solidFill>
                <a:latin typeface="Calibri"/>
              </a:rPr>
              <a:t>, not the integrated forces C_L, C_D</a:t>
            </a:r>
          </a:p>
          <a:p>
            <a:pPr algn="l">
              <a:spcBef>
                <a:spcPts val="0"/>
              </a:spcBef>
              <a:spcAft>
                <a:spcPts val="900"/>
              </a:spcAft>
            </a:pPr>
            <a:r>
              <a:rPr sz="1800" b="1">
                <a:solidFill>
                  <a:srgbClr val="C05210"/>
                </a:solidFill>
                <a:latin typeface="Calibri"/>
              </a:rPr>
              <a:t>•  </a:t>
            </a:r>
            <a:r>
              <a:rPr sz="1800" b="0">
                <a:solidFill>
                  <a:srgbClr val="242933"/>
                </a:solidFill>
                <a:latin typeface="Calibri"/>
              </a:rPr>
              <a:t>We quantify it by the </a:t>
            </a:r>
            <a:r>
              <a:rPr sz="1800" b="1">
                <a:solidFill>
                  <a:srgbClr val="1F3864"/>
                </a:solidFill>
                <a:latin typeface="Calibri"/>
              </a:rPr>
              <a:t>large-scale wake enstrophy</a:t>
            </a:r>
            <a:r>
              <a:rPr sz="1800" b="0">
                <a:solidFill>
                  <a:srgbClr val="242933"/>
                </a:solidFill>
                <a:latin typeface="Calibri"/>
              </a:rPr>
              <a:t>: a Gaussian scale split (Motoori &amp; Goto 2019) at σ/c = 0.05 isolates the load-bearing large-scale vorticity (LEV + shear layer) from fine turbulence, then integrates ω_L² over the wake</a:t>
            </a:r>
          </a:p>
          <a:p>
            <a:pPr algn="l">
              <a:spcBef>
                <a:spcPts val="0"/>
              </a:spcBef>
              <a:spcAft>
                <a:spcPts val="900"/>
              </a:spcAft>
            </a:pPr>
            <a:r>
              <a:rPr sz="1800" b="1">
                <a:solidFill>
                  <a:srgbClr val="C05210"/>
                </a:solidFill>
                <a:latin typeface="Calibri"/>
              </a:rPr>
              <a:t>•  </a:t>
            </a:r>
            <a:r>
              <a:rPr sz="1800" b="1">
                <a:solidFill>
                  <a:srgbClr val="1F3864"/>
                </a:solidFill>
                <a:latin typeface="Calibri"/>
              </a:rPr>
              <a:t>Objective:</a:t>
            </a:r>
            <a:r>
              <a:rPr sz="1800" b="0">
                <a:solidFill>
                  <a:srgbClr val="242933"/>
                </a:solidFill>
                <a:latin typeface="Calibri"/>
              </a:rPr>
              <a:t> find a reduced state that faithfully </a:t>
            </a:r>
            <a:r>
              <a:rPr sz="1800" b="1">
                <a:solidFill>
                  <a:srgbClr val="1F3864"/>
                </a:solidFill>
                <a:latin typeface="Calibri"/>
              </a:rPr>
              <a:t>encodes the wake</a:t>
            </a:r>
            <a:r>
              <a:rPr sz="1800" b="0">
                <a:solidFill>
                  <a:srgbClr val="242933"/>
                </a:solidFill>
                <a:latin typeface="Calibri"/>
              </a:rPr>
              <a:t> (the part reconstruction loses), not just the forces, and that is </a:t>
            </a:r>
            <a:r>
              <a:rPr sz="1800" b="1">
                <a:solidFill>
                  <a:srgbClr val="1F3864"/>
                </a:solidFill>
                <a:latin typeface="Calibri"/>
              </a:rPr>
              <a:t>recoverable from sparse sensors</a:t>
            </a:r>
          </a:p>
          <a:p>
            <a:pPr algn="l">
              <a:spcBef>
                <a:spcPts val="0"/>
              </a:spcBef>
              <a:spcAft>
                <a:spcPts val="900"/>
              </a:spcAft>
            </a:pPr>
            <a:r>
              <a:rPr sz="1800" b="1">
                <a:solidFill>
                  <a:srgbClr val="C05210"/>
                </a:solidFill>
                <a:latin typeface="Calibri"/>
              </a:rPr>
              <a:t>•  </a:t>
            </a:r>
            <a:r>
              <a:rPr sz="1800" b="0">
                <a:solidFill>
                  <a:srgbClr val="242933"/>
                </a:solidFill>
                <a:latin typeface="Calibri"/>
              </a:rPr>
              <a:t>And </a:t>
            </a:r>
            <a:r>
              <a:rPr sz="1800" b="1">
                <a:solidFill>
                  <a:srgbClr val="1F3864"/>
                </a:solidFill>
                <a:latin typeface="Calibri"/>
              </a:rPr>
              <a:t>compare candidate states</a:t>
            </a:r>
            <a:r>
              <a:rPr sz="1800" b="0">
                <a:solidFill>
                  <a:srgbClr val="242933"/>
                </a:solidFill>
                <a:latin typeface="Calibri"/>
              </a:rPr>
              <a:t>, predictive vs reconstructive vs linear, under one matched protocol</a:t>
            </a:r>
          </a:p>
        </p:txBody>
      </p:sp>
      <p:sp>
        <p:nvSpPr>
          <p:cNvPr id="7" name="TextBox 6"/>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8" name="TextBox 7"/>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LITERATURE AND IDEA</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The opening for JEPA</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91640"/>
            <a:ext cx="10972800" cy="2194560"/>
          </a:xfrm>
          <a:prstGeom prst="rect">
            <a:avLst/>
          </a:prstGeom>
          <a:noFill/>
        </p:spPr>
        <p:txBody>
          <a:bodyPr wrap="square" anchor="t" lIns="0" rIns="0" tIns="0" bIns="0">
            <a:spAutoFit/>
          </a:bodyPr>
          <a:lstStyle/>
          <a:p>
            <a:pPr algn="l">
              <a:spcBef>
                <a:spcPts val="0"/>
              </a:spcBef>
              <a:spcAft>
                <a:spcPts val="900"/>
              </a:spcAft>
            </a:pPr>
            <a:r>
              <a:rPr sz="1800" b="1">
                <a:solidFill>
                  <a:srgbClr val="C05210"/>
                </a:solidFill>
                <a:latin typeface="Calibri"/>
              </a:rPr>
              <a:t>•  </a:t>
            </a:r>
            <a:r>
              <a:rPr sz="1800" b="0">
                <a:solidFill>
                  <a:srgbClr val="242933"/>
                </a:solidFill>
                <a:latin typeface="Calibri"/>
              </a:rPr>
              <a:t>Most flow ROMs, POD/DMD, autoencoders, are trained to </a:t>
            </a:r>
            <a:r>
              <a:rPr sz="1800" b="1">
                <a:solidFill>
                  <a:srgbClr val="1F3864"/>
                </a:solidFill>
                <a:latin typeface="Calibri"/>
              </a:rPr>
              <a:t>reconstruct the field</a:t>
            </a:r>
          </a:p>
          <a:p>
            <a:pPr algn="l">
              <a:spcBef>
                <a:spcPts val="0"/>
              </a:spcBef>
              <a:spcAft>
                <a:spcPts val="500"/>
              </a:spcAft>
            </a:pPr>
            <a:r>
              <a:rPr sz="1500" b="0">
                <a:solidFill>
                  <a:srgbClr val="6B7280"/>
                </a:solidFill>
                <a:latin typeface="Calibri"/>
              </a:rPr>
              <a:t>      –  reconstruction fixes the latent only up to a diffeomorphism, so its geometry is not constrained to be predictable</a:t>
            </a:r>
          </a:p>
          <a:p>
            <a:pPr algn="l">
              <a:spcBef>
                <a:spcPts val="0"/>
              </a:spcBef>
              <a:spcAft>
                <a:spcPts val="900"/>
              </a:spcAft>
            </a:pPr>
            <a:r>
              <a:rPr sz="1800" b="1">
                <a:solidFill>
                  <a:srgbClr val="C05210"/>
                </a:solidFill>
                <a:latin typeface="Calibri"/>
              </a:rPr>
              <a:t>•  </a:t>
            </a:r>
            <a:r>
              <a:rPr sz="1800" b="0">
                <a:solidFill>
                  <a:srgbClr val="242933"/>
                </a:solidFill>
                <a:latin typeface="Calibri"/>
              </a:rPr>
              <a:t>Alternative: learn a state that is </a:t>
            </a:r>
            <a:r>
              <a:rPr sz="1800" b="1">
                <a:solidFill>
                  <a:srgbClr val="1F3864"/>
                </a:solidFill>
                <a:latin typeface="Calibri"/>
              </a:rPr>
              <a:t>predictive by construction</a:t>
            </a:r>
            <a:r>
              <a:rPr sz="1800" b="0">
                <a:solidFill>
                  <a:srgbClr val="242933"/>
                </a:solidFill>
                <a:latin typeface="Calibri"/>
              </a:rPr>
              <a:t>, and plan against it</a:t>
            </a:r>
          </a:p>
        </p:txBody>
      </p:sp>
      <p:sp>
        <p:nvSpPr>
          <p:cNvPr id="7" name="Rectangle 6"/>
          <p:cNvSpPr/>
          <p:nvPr/>
        </p:nvSpPr>
        <p:spPr>
          <a:xfrm>
            <a:off x="640080" y="4160520"/>
            <a:ext cx="10881360" cy="155448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4160520"/>
            <a:ext cx="91440" cy="155448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160520"/>
            <a:ext cx="10332720" cy="1554480"/>
          </a:xfrm>
          <a:prstGeom prst="rect">
            <a:avLst/>
          </a:prstGeom>
          <a:noFill/>
        </p:spPr>
        <p:txBody>
          <a:bodyPr wrap="square" anchor="ctr" lIns="0" rIns="0" tIns="0" bIns="0">
            <a:spAutoFit/>
          </a:bodyPr>
          <a:lstStyle/>
          <a:p>
            <a:pPr algn="l">
              <a:spcBef>
                <a:spcPts val="0"/>
              </a:spcBef>
              <a:spcAft>
                <a:spcPts val="600"/>
              </a:spcAft>
            </a:pPr>
            <a:r>
              <a:rPr sz="2200" b="1">
                <a:solidFill>
                  <a:srgbClr val="1F3864"/>
                </a:solidFill>
                <a:latin typeface="Calibri"/>
              </a:rPr>
              <a:t>Which reduced state faithfully encodes the wake that reconstruction loses,
and is recoverable from sparse sensors?</a:t>
            </a:r>
          </a:p>
        </p:txBody>
      </p:sp>
      <p:sp>
        <p:nvSpPr>
          <p:cNvPr id="10" name="TextBox 9"/>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1" name="TextBox 10"/>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DATA</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Data</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5897880" cy="4572000"/>
          </a:xfrm>
          <a:prstGeom prst="rect">
            <a:avLst/>
          </a:prstGeom>
          <a:noFill/>
        </p:spPr>
        <p:txBody>
          <a:bodyPr wrap="square" anchor="t" lIns="0" rIns="0" tIns="0" bIns="0">
            <a:spAutoFit/>
          </a:bodyPr>
          <a:lstStyle/>
          <a:p>
            <a:pPr algn="l">
              <a:spcBef>
                <a:spcPts val="0"/>
              </a:spcBef>
              <a:spcAft>
                <a:spcPts val="900"/>
              </a:spcAft>
            </a:pPr>
            <a:r>
              <a:rPr sz="1600" b="1">
                <a:solidFill>
                  <a:srgbClr val="C05210"/>
                </a:solidFill>
                <a:latin typeface="Calibri"/>
              </a:rPr>
              <a:t>•  </a:t>
            </a:r>
            <a:r>
              <a:rPr sz="1600" b="1">
                <a:solidFill>
                  <a:srgbClr val="1F3864"/>
                </a:solidFill>
                <a:latin typeface="Calibri"/>
              </a:rPr>
              <a:t>DNS</a:t>
            </a:r>
            <a:r>
              <a:rPr sz="1600" b="0">
                <a:solidFill>
                  <a:srgbClr val="242933"/>
                </a:solidFill>
                <a:latin typeface="Calibri"/>
              </a:rPr>
              <a:t> (SOD2D, no subgrid-scale model), NACA 0012, α = 14°, </a:t>
            </a:r>
            <a:r>
              <a:rPr sz="1600" b="1">
                <a:solidFill>
                  <a:srgbClr val="1F3864"/>
                </a:solidFill>
                <a:latin typeface="Calibri"/>
              </a:rPr>
              <a:t>Re = 5000</a:t>
            </a:r>
          </a:p>
          <a:p>
            <a:pPr algn="l">
              <a:spcBef>
                <a:spcPts val="0"/>
              </a:spcBef>
              <a:spcAft>
                <a:spcPts val="900"/>
              </a:spcAft>
            </a:pPr>
            <a:r>
              <a:rPr sz="1600" b="1">
                <a:solidFill>
                  <a:srgbClr val="C05210"/>
                </a:solidFill>
                <a:latin typeface="Calibri"/>
              </a:rPr>
              <a:t>•  </a:t>
            </a:r>
            <a:r>
              <a:rPr sz="1600" b="0">
                <a:solidFill>
                  <a:srgbClr val="242933"/>
                </a:solidFill>
                <a:latin typeface="Calibri"/>
              </a:rPr>
              <a:t>Taylor-vortex gusts parametrised by strength </a:t>
            </a:r>
            <a:r>
              <a:rPr sz="1600" b="1">
                <a:solidFill>
                  <a:srgbClr val="1F3864"/>
                </a:solidFill>
                <a:latin typeface="Calibri"/>
              </a:rPr>
              <a:t>G</a:t>
            </a:r>
            <a:r>
              <a:rPr sz="1600" b="0">
                <a:solidFill>
                  <a:srgbClr val="242933"/>
                </a:solidFill>
                <a:latin typeface="Calibri"/>
              </a:rPr>
              <a:t>, core diameter </a:t>
            </a:r>
            <a:r>
              <a:rPr sz="1600" b="1">
                <a:solidFill>
                  <a:srgbClr val="1F3864"/>
                </a:solidFill>
                <a:latin typeface="Calibri"/>
              </a:rPr>
              <a:t>D</a:t>
            </a:r>
            <a:r>
              <a:rPr sz="1600" b="0">
                <a:solidFill>
                  <a:srgbClr val="242933"/>
                </a:solidFill>
                <a:latin typeface="Calibri"/>
              </a:rPr>
              <a:t>, wall-normal offset </a:t>
            </a:r>
            <a:r>
              <a:rPr sz="1600" b="1">
                <a:solidFill>
                  <a:srgbClr val="1F3864"/>
                </a:solidFill>
                <a:latin typeface="Calibri"/>
              </a:rPr>
              <a:t>Y</a:t>
            </a:r>
            <a:r>
              <a:rPr sz="1600" b="0">
                <a:solidFill>
                  <a:srgbClr val="242933"/>
                </a:solidFill>
                <a:latin typeface="Calibri"/>
              </a:rPr>
              <a:t> (right: the 84-case envelope, isometric)</a:t>
            </a:r>
          </a:p>
          <a:p>
            <a:pPr algn="l">
              <a:spcBef>
                <a:spcPts val="0"/>
              </a:spcBef>
              <a:spcAft>
                <a:spcPts val="900"/>
              </a:spcAft>
            </a:pPr>
            <a:r>
              <a:rPr sz="1600" b="1">
                <a:solidFill>
                  <a:srgbClr val="C05210"/>
                </a:solidFill>
                <a:latin typeface="Calibri"/>
              </a:rPr>
              <a:t>•  </a:t>
            </a:r>
            <a:r>
              <a:rPr sz="1600" b="0">
                <a:solidFill>
                  <a:srgbClr val="242933"/>
                </a:solidFill>
                <a:latin typeface="Calibri"/>
              </a:rPr>
              <a:t>Impact-centred encounters; five observables: C_L, C_D, </a:t>
            </a:r>
            <a:r>
              <a:rPr sz="1600" b="1">
                <a:solidFill>
                  <a:srgbClr val="1F3864"/>
                </a:solidFill>
                <a:latin typeface="Calibri"/>
              </a:rPr>
              <a:t>wake enstrophy</a:t>
            </a:r>
            <a:r>
              <a:rPr sz="1600" b="0">
                <a:solidFill>
                  <a:srgbClr val="242933"/>
                </a:solidFill>
                <a:latin typeface="Calibri"/>
              </a:rPr>
              <a:t>, ±circulation</a:t>
            </a:r>
          </a:p>
          <a:p>
            <a:pPr algn="l">
              <a:spcBef>
                <a:spcPts val="0"/>
              </a:spcBef>
              <a:spcAft>
                <a:spcPts val="900"/>
              </a:spcAft>
            </a:pPr>
            <a:r>
              <a:rPr sz="1600" b="1">
                <a:solidFill>
                  <a:srgbClr val="C05210"/>
                </a:solidFill>
                <a:latin typeface="Calibri"/>
              </a:rPr>
              <a:t>•  </a:t>
            </a:r>
            <a:r>
              <a:rPr sz="1600" b="0">
                <a:solidFill>
                  <a:srgbClr val="242933"/>
                </a:solidFill>
                <a:latin typeface="Calibri"/>
              </a:rPr>
              <a:t>Held-out </a:t>
            </a:r>
            <a:r>
              <a:rPr sz="1600" b="1">
                <a:solidFill>
                  <a:srgbClr val="1F3864"/>
                </a:solidFill>
                <a:latin typeface="Calibri"/>
              </a:rPr>
              <a:t>test_b</a:t>
            </a:r>
            <a:r>
              <a:rPr sz="1600" b="0">
                <a:solidFill>
                  <a:srgbClr val="242933"/>
                </a:solidFill>
                <a:latin typeface="Calibri"/>
              </a:rPr>
              <a:t> (interpolation) and </a:t>
            </a:r>
            <a:r>
              <a:rPr sz="1600" b="1">
                <a:solidFill>
                  <a:srgbClr val="1F3864"/>
                </a:solidFill>
                <a:latin typeface="Calibri"/>
              </a:rPr>
              <a:t>test_c</a:t>
            </a:r>
            <a:r>
              <a:rPr sz="1600" b="0">
                <a:solidFill>
                  <a:srgbClr val="242933"/>
                </a:solidFill>
                <a:latin typeface="Calibri"/>
              </a:rPr>
              <a:t> (|G| = 4 extrapolation)</a:t>
            </a:r>
          </a:p>
        </p:txBody>
      </p:sp>
      <p:pic>
        <p:nvPicPr>
          <p:cNvPr id="7" name="Picture 6" descr="paramspace3d.png"/>
          <p:cNvPicPr>
            <a:picLocks noChangeAspect="1"/>
          </p:cNvPicPr>
          <p:nvPr/>
        </p:nvPicPr>
        <p:blipFill>
          <a:blip r:embed="rId2"/>
          <a:stretch>
            <a:fillRect/>
          </a:stretch>
        </p:blipFill>
        <p:spPr>
          <a:xfrm>
            <a:off x="7013116" y="1664208"/>
            <a:ext cx="4536086" cy="4389120"/>
          </a:xfrm>
          <a:prstGeom prst="rect">
            <a:avLst/>
          </a:prstGeom>
        </p:spPr>
      </p:pic>
      <p:sp>
        <p:nvSpPr>
          <p:cNvPr id="8" name="TextBox 7"/>
          <p:cNvSpPr txBox="1"/>
          <p:nvPr/>
        </p:nvSpPr>
        <p:spPr>
          <a:xfrm>
            <a:off x="6675120" y="6108192"/>
            <a:ext cx="52120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Training envelope in (G, D, Y): train, test_b interpolation, test_c |G| = 4 extrapolation, baseline.</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METHOD, PRIMER</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What is a JEPA?  (1 / 2)</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591056"/>
            <a:ext cx="10789920" cy="457200"/>
          </a:xfrm>
          <a:prstGeom prst="rect">
            <a:avLst/>
          </a:prstGeom>
          <a:noFill/>
        </p:spPr>
        <p:txBody>
          <a:bodyPr wrap="square" anchor="t" lIns="0" rIns="0" tIns="0" bIns="0">
            <a:spAutoFit/>
          </a:bodyPr>
          <a:lstStyle/>
          <a:p>
            <a:pPr algn="l">
              <a:spcBef>
                <a:spcPts val="0"/>
              </a:spcBef>
              <a:spcAft>
                <a:spcPts val="600"/>
              </a:spcAft>
            </a:pPr>
            <a:r>
              <a:rPr sz="1500" b="1">
                <a:solidFill>
                  <a:srgbClr val="B03A2E"/>
                </a:solidFill>
                <a:latin typeface="Calibri"/>
              </a:rPr>
              <a:t>Autoencoder (most flow ROMs): reconstruct the field</a:t>
            </a:r>
          </a:p>
        </p:txBody>
      </p:sp>
      <p:sp>
        <p:nvSpPr>
          <p:cNvPr id="7" name="Rounded Rectangle 6"/>
          <p:cNvSpPr/>
          <p:nvPr/>
        </p:nvSpPr>
        <p:spPr>
          <a:xfrm>
            <a:off x="822960" y="2029968"/>
            <a:ext cx="1554480" cy="658368"/>
          </a:xfrm>
          <a:prstGeom prst="roundRect">
            <a:avLst/>
          </a:prstGeom>
          <a:solidFill>
            <a:srgbClr val="F7ECEA"/>
          </a:solidFill>
          <a:ln w="1905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50" b="1">
                <a:solidFill>
                  <a:srgbClr val="242933"/>
                </a:solidFill>
                <a:latin typeface="Calibri"/>
              </a:rPr>
              <a:t>field ω(t)</a:t>
            </a:r>
          </a:p>
        </p:txBody>
      </p:sp>
      <p:sp>
        <p:nvSpPr>
          <p:cNvPr id="8" name="Rounded Rectangle 7"/>
          <p:cNvSpPr/>
          <p:nvPr/>
        </p:nvSpPr>
        <p:spPr>
          <a:xfrm>
            <a:off x="2880360" y="2029968"/>
            <a:ext cx="1554480" cy="658368"/>
          </a:xfrm>
          <a:prstGeom prst="roundRect">
            <a:avLst/>
          </a:prstGeom>
          <a:solidFill>
            <a:srgbClr val="F7ECEA"/>
          </a:solidFill>
          <a:ln w="1905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50" b="1">
                <a:solidFill>
                  <a:srgbClr val="242933"/>
                </a:solidFill>
                <a:latin typeface="Calibri"/>
              </a:rPr>
              <a:t>Encoder</a:t>
            </a:r>
          </a:p>
        </p:txBody>
      </p:sp>
      <p:sp>
        <p:nvSpPr>
          <p:cNvPr id="9" name="Rounded Rectangle 8"/>
          <p:cNvSpPr/>
          <p:nvPr/>
        </p:nvSpPr>
        <p:spPr>
          <a:xfrm>
            <a:off x="5029200" y="2029968"/>
            <a:ext cx="1188720" cy="658368"/>
          </a:xfrm>
          <a:prstGeom prst="roundRect">
            <a:avLst/>
          </a:prstGeom>
          <a:solidFill>
            <a:srgbClr val="F7ECEA"/>
          </a:solidFill>
          <a:ln w="1905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50" b="1">
                <a:solidFill>
                  <a:srgbClr val="242933"/>
                </a:solidFill>
                <a:latin typeface="Calibri"/>
              </a:rPr>
              <a:t>latent z</a:t>
            </a:r>
          </a:p>
        </p:txBody>
      </p:sp>
      <p:sp>
        <p:nvSpPr>
          <p:cNvPr id="10" name="Rounded Rectangle 9"/>
          <p:cNvSpPr/>
          <p:nvPr/>
        </p:nvSpPr>
        <p:spPr>
          <a:xfrm>
            <a:off x="6812280" y="2029968"/>
            <a:ext cx="1645920" cy="658368"/>
          </a:xfrm>
          <a:prstGeom prst="roundRect">
            <a:avLst/>
          </a:prstGeom>
          <a:solidFill>
            <a:srgbClr val="F7ECEA"/>
          </a:solidFill>
          <a:ln w="1905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50" b="1">
                <a:solidFill>
                  <a:srgbClr val="242933"/>
                </a:solidFill>
                <a:latin typeface="Calibri"/>
              </a:rPr>
              <a:t>Decoder</a:t>
            </a:r>
          </a:p>
        </p:txBody>
      </p:sp>
      <p:sp>
        <p:nvSpPr>
          <p:cNvPr id="11" name="Rounded Rectangle 10"/>
          <p:cNvSpPr/>
          <p:nvPr/>
        </p:nvSpPr>
        <p:spPr>
          <a:xfrm>
            <a:off x="9052560" y="2029968"/>
            <a:ext cx="2331720" cy="658368"/>
          </a:xfrm>
          <a:prstGeom prst="roundRect">
            <a:avLst/>
          </a:prstGeom>
          <a:solidFill>
            <a:srgbClr val="F7ECEA"/>
          </a:solidFill>
          <a:ln w="19050">
            <a:solidFill>
              <a:srgbClr val="B03A2E"/>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50" b="1">
                <a:solidFill>
                  <a:srgbClr val="242933"/>
                </a:solidFill>
                <a:latin typeface="Calibri"/>
              </a:rPr>
              <a:t>reconstructed field</a:t>
            </a:r>
          </a:p>
        </p:txBody>
      </p:sp>
      <p:sp>
        <p:nvSpPr>
          <p:cNvPr id="12" name="Right Arrow 11"/>
          <p:cNvSpPr/>
          <p:nvPr/>
        </p:nvSpPr>
        <p:spPr>
          <a:xfrm>
            <a:off x="2377440" y="2276856"/>
            <a:ext cx="45720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4434840" y="2276856"/>
            <a:ext cx="45720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6217920" y="2276856"/>
            <a:ext cx="45720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ight Arrow 14"/>
          <p:cNvSpPr/>
          <p:nvPr/>
        </p:nvSpPr>
        <p:spPr>
          <a:xfrm>
            <a:off x="8549640" y="2276856"/>
            <a:ext cx="45720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798064"/>
            <a:ext cx="10789920" cy="457200"/>
          </a:xfrm>
          <a:prstGeom prst="rect">
            <a:avLst/>
          </a:prstGeom>
          <a:noFill/>
        </p:spPr>
        <p:txBody>
          <a:bodyPr wrap="square" anchor="t" lIns="0" rIns="0" tIns="0" bIns="0">
            <a:spAutoFit/>
          </a:bodyPr>
          <a:lstStyle/>
          <a:p>
            <a:pPr algn="l">
              <a:spcBef>
                <a:spcPts val="0"/>
              </a:spcBef>
              <a:spcAft>
                <a:spcPts val="600"/>
              </a:spcAft>
            </a:pPr>
            <a:r>
              <a:rPr sz="1300" b="0">
                <a:solidFill>
                  <a:srgbClr val="B03A2E"/>
                </a:solidFill>
                <a:latin typeface="Calibri"/>
              </a:rPr>
              <a:t>loss compares the reconstruction to the input in PIXEL space</a:t>
            </a:r>
          </a:p>
        </p:txBody>
      </p:sp>
      <p:sp>
        <p:nvSpPr>
          <p:cNvPr id="17" name="TextBox 16"/>
          <p:cNvSpPr txBox="1"/>
          <p:nvPr/>
        </p:nvSpPr>
        <p:spPr>
          <a:xfrm>
            <a:off x="822960" y="3694176"/>
            <a:ext cx="10789920" cy="457200"/>
          </a:xfrm>
          <a:prstGeom prst="rect">
            <a:avLst/>
          </a:prstGeom>
          <a:noFill/>
        </p:spPr>
        <p:txBody>
          <a:bodyPr wrap="square" anchor="t" lIns="0" rIns="0" tIns="0" bIns="0">
            <a:spAutoFit/>
          </a:bodyPr>
          <a:lstStyle/>
          <a:p>
            <a:pPr algn="l">
              <a:spcBef>
                <a:spcPts val="0"/>
              </a:spcBef>
              <a:spcAft>
                <a:spcPts val="600"/>
              </a:spcAft>
            </a:pPr>
            <a:r>
              <a:rPr sz="1500" b="1">
                <a:solidFill>
                  <a:srgbClr val="2E7D4F"/>
                </a:solidFill>
                <a:latin typeface="Calibri"/>
              </a:rPr>
              <a:t>JEPA: predict the next latent, no decoder</a:t>
            </a:r>
          </a:p>
        </p:txBody>
      </p:sp>
      <p:sp>
        <p:nvSpPr>
          <p:cNvPr id="18" name="Rounded Rectangle 17"/>
          <p:cNvSpPr/>
          <p:nvPr/>
        </p:nvSpPr>
        <p:spPr>
          <a:xfrm>
            <a:off x="822960" y="4133087"/>
            <a:ext cx="1554480" cy="658368"/>
          </a:xfrm>
          <a:prstGeom prst="roundRect">
            <a:avLst/>
          </a:prstGeom>
          <a:solidFill>
            <a:srgbClr val="EAF2EC"/>
          </a:solidFill>
          <a:ln w="1905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50" b="1">
                <a:solidFill>
                  <a:srgbClr val="242933"/>
                </a:solidFill>
                <a:latin typeface="Calibri"/>
              </a:rPr>
              <a:t>field ω(t)</a:t>
            </a:r>
          </a:p>
        </p:txBody>
      </p:sp>
      <p:sp>
        <p:nvSpPr>
          <p:cNvPr id="19" name="Rounded Rectangle 18"/>
          <p:cNvSpPr/>
          <p:nvPr/>
        </p:nvSpPr>
        <p:spPr>
          <a:xfrm>
            <a:off x="2880360" y="4133087"/>
            <a:ext cx="1554480" cy="658368"/>
          </a:xfrm>
          <a:prstGeom prst="roundRect">
            <a:avLst/>
          </a:prstGeom>
          <a:solidFill>
            <a:srgbClr val="EAF2EC"/>
          </a:solidFill>
          <a:ln w="1905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50" b="1">
                <a:solidFill>
                  <a:srgbClr val="242933"/>
                </a:solidFill>
                <a:latin typeface="Calibri"/>
              </a:rPr>
              <a:t>Encoder</a:t>
            </a:r>
          </a:p>
        </p:txBody>
      </p:sp>
      <p:sp>
        <p:nvSpPr>
          <p:cNvPr id="20" name="Rounded Rectangle 19"/>
          <p:cNvSpPr/>
          <p:nvPr/>
        </p:nvSpPr>
        <p:spPr>
          <a:xfrm>
            <a:off x="5029200" y="4133087"/>
            <a:ext cx="1188720" cy="658368"/>
          </a:xfrm>
          <a:prstGeom prst="roundRect">
            <a:avLst/>
          </a:prstGeom>
          <a:solidFill>
            <a:srgbClr val="EAF2EC"/>
          </a:solidFill>
          <a:ln w="1905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50" b="1">
                <a:solidFill>
                  <a:srgbClr val="242933"/>
                </a:solidFill>
                <a:latin typeface="Calibri"/>
              </a:rPr>
              <a:t>latent z(t)</a:t>
            </a:r>
          </a:p>
        </p:txBody>
      </p:sp>
      <p:sp>
        <p:nvSpPr>
          <p:cNvPr id="21" name="Rounded Rectangle 20"/>
          <p:cNvSpPr/>
          <p:nvPr/>
        </p:nvSpPr>
        <p:spPr>
          <a:xfrm>
            <a:off x="6812280" y="4133087"/>
            <a:ext cx="1645920" cy="658368"/>
          </a:xfrm>
          <a:prstGeom prst="roundRect">
            <a:avLst/>
          </a:prstGeom>
          <a:solidFill>
            <a:srgbClr val="EAF2EC"/>
          </a:solidFill>
          <a:ln w="1905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50" b="1">
                <a:solidFill>
                  <a:srgbClr val="242933"/>
                </a:solidFill>
                <a:latin typeface="Calibri"/>
              </a:rPr>
              <a:t>Predictor</a:t>
            </a:r>
          </a:p>
        </p:txBody>
      </p:sp>
      <p:sp>
        <p:nvSpPr>
          <p:cNvPr id="22" name="Rounded Rectangle 21"/>
          <p:cNvSpPr/>
          <p:nvPr/>
        </p:nvSpPr>
        <p:spPr>
          <a:xfrm>
            <a:off x="9052560" y="4133087"/>
            <a:ext cx="2331720" cy="658368"/>
          </a:xfrm>
          <a:prstGeom prst="roundRect">
            <a:avLst/>
          </a:prstGeom>
          <a:solidFill>
            <a:srgbClr val="EAF2EC"/>
          </a:solidFill>
          <a:ln w="1905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50" b="1">
                <a:solidFill>
                  <a:srgbClr val="242933"/>
                </a:solidFill>
                <a:latin typeface="Calibri"/>
              </a:rPr>
              <a:t>predicted z(t+1)</a:t>
            </a:r>
          </a:p>
        </p:txBody>
      </p:sp>
      <p:sp>
        <p:nvSpPr>
          <p:cNvPr id="23" name="Right Arrow 22"/>
          <p:cNvSpPr/>
          <p:nvPr/>
        </p:nvSpPr>
        <p:spPr>
          <a:xfrm>
            <a:off x="2377440" y="4379976"/>
            <a:ext cx="45720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4434840" y="4379976"/>
            <a:ext cx="45720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ight Arrow 24"/>
          <p:cNvSpPr/>
          <p:nvPr/>
        </p:nvSpPr>
        <p:spPr>
          <a:xfrm>
            <a:off x="6217920" y="4379976"/>
            <a:ext cx="45720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ight Arrow 25"/>
          <p:cNvSpPr/>
          <p:nvPr/>
        </p:nvSpPr>
        <p:spPr>
          <a:xfrm>
            <a:off x="8549640" y="4379976"/>
            <a:ext cx="45720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901184"/>
            <a:ext cx="10789920" cy="457200"/>
          </a:xfrm>
          <a:prstGeom prst="rect">
            <a:avLst/>
          </a:prstGeom>
          <a:noFill/>
        </p:spPr>
        <p:txBody>
          <a:bodyPr wrap="square" anchor="t" lIns="0" rIns="0" tIns="0" bIns="0">
            <a:spAutoFit/>
          </a:bodyPr>
          <a:lstStyle/>
          <a:p>
            <a:pPr algn="l">
              <a:spcBef>
                <a:spcPts val="0"/>
              </a:spcBef>
              <a:spcAft>
                <a:spcPts val="600"/>
              </a:spcAft>
            </a:pPr>
            <a:r>
              <a:rPr sz="1300" b="0">
                <a:solidFill>
                  <a:srgbClr val="2E7D4F"/>
                </a:solidFill>
                <a:latin typeface="Calibri"/>
              </a:rPr>
              <a:t>loss compares predicted z(t+1) to z(t+1) = Encoder(next frame) in LATENT space; an anti-collapse term replaces the decoder</a:t>
            </a:r>
          </a:p>
        </p:txBody>
      </p:sp>
      <p:sp>
        <p:nvSpPr>
          <p:cNvPr id="28" name="TextBox 27"/>
          <p:cNvSpPr txBox="1"/>
          <p:nvPr/>
        </p:nvSpPr>
        <p:spPr>
          <a:xfrm>
            <a:off x="822960" y="5650992"/>
            <a:ext cx="10789920" cy="548640"/>
          </a:xfrm>
          <a:prstGeom prst="rect">
            <a:avLst/>
          </a:prstGeom>
          <a:noFill/>
        </p:spPr>
        <p:txBody>
          <a:bodyPr wrap="square" anchor="t" lIns="0" rIns="0" tIns="0" bIns="0">
            <a:spAutoFit/>
          </a:bodyPr>
          <a:lstStyle/>
          <a:p>
            <a:pPr algn="l">
              <a:spcBef>
                <a:spcPts val="0"/>
              </a:spcBef>
              <a:spcAft>
                <a:spcPts val="600"/>
              </a:spcAft>
            </a:pPr>
            <a:r>
              <a:rPr sz="1500" b="1">
                <a:solidFill>
                  <a:srgbClr val="1F3864"/>
                </a:solidFill>
                <a:latin typeface="Calibri"/>
              </a:rPr>
              <a:t>Reconstruction ties the latent to pixels; prediction makes it forecastable</a:t>
            </a:r>
            <a:r>
              <a:rPr sz="1500" b="0">
                <a:solidFill>
                  <a:srgbClr val="1F3864"/>
                </a:solidFill>
                <a:latin typeface="Calibri"/>
              </a:rPr>
              <a:t>, which is what a controller needs.</a:t>
            </a:r>
          </a:p>
        </p:txBody>
      </p:sp>
      <p:sp>
        <p:nvSpPr>
          <p:cNvPr id="29" name="TextBox 2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30" name="TextBox 2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METHOD, PRIMER</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What is a JEPA?  (2 / 2): the recipe and why for control</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10972800" cy="4572000"/>
          </a:xfrm>
          <a:prstGeom prst="rect">
            <a:avLst/>
          </a:prstGeom>
          <a:noFill/>
        </p:spPr>
        <p:txBody>
          <a:bodyPr wrap="square" anchor="t" lIns="0" rIns="0" tIns="0" bIns="0">
            <a:spAutoFit/>
          </a:bodyPr>
          <a:lstStyle/>
          <a:p>
            <a:pPr algn="l">
              <a:spcBef>
                <a:spcPts val="0"/>
              </a:spcBef>
              <a:spcAft>
                <a:spcPts val="900"/>
              </a:spcAft>
            </a:pPr>
            <a:r>
              <a:rPr sz="1700" b="1">
                <a:solidFill>
                  <a:srgbClr val="C05210"/>
                </a:solidFill>
                <a:latin typeface="Calibri"/>
              </a:rPr>
              <a:t>•  </a:t>
            </a:r>
            <a:r>
              <a:rPr sz="1700" b="1">
                <a:solidFill>
                  <a:srgbClr val="1F3864"/>
                </a:solidFill>
                <a:latin typeface="Calibri"/>
              </a:rPr>
              <a:t>Training, in one line:</a:t>
            </a:r>
            <a:r>
              <a:rPr sz="1700" b="0">
                <a:solidFill>
                  <a:srgbClr val="242933"/>
                </a:solidFill>
                <a:latin typeface="Calibri"/>
              </a:rPr>
              <a:t> minimise the </a:t>
            </a:r>
            <a:r>
              <a:rPr sz="1700" b="1">
                <a:solidFill>
                  <a:srgbClr val="1F3864"/>
                </a:solidFill>
                <a:latin typeface="Calibri"/>
              </a:rPr>
              <a:t>latent</a:t>
            </a:r>
            <a:r>
              <a:rPr sz="1700" b="0">
                <a:solidFill>
                  <a:srgbClr val="242933"/>
                </a:solidFill>
                <a:latin typeface="Calibri"/>
              </a:rPr>
              <a:t> prediction error plus an </a:t>
            </a:r>
            <a:r>
              <a:rPr sz="1700" b="1">
                <a:solidFill>
                  <a:srgbClr val="1F3864"/>
                </a:solidFill>
                <a:latin typeface="Calibri"/>
              </a:rPr>
              <a:t>anti-collapse term</a:t>
            </a:r>
            <a:r>
              <a:rPr sz="1700" b="0">
                <a:solidFill>
                  <a:srgbClr val="242933"/>
                </a:solidFill>
                <a:latin typeface="Calibri"/>
              </a:rPr>
              <a:t> so the encoder cannot cheat by mapping everything to a constant (no decoder, no pixel loss)</a:t>
            </a:r>
          </a:p>
          <a:p>
            <a:pPr algn="l">
              <a:spcBef>
                <a:spcPts val="0"/>
              </a:spcBef>
              <a:spcAft>
                <a:spcPts val="900"/>
              </a:spcAft>
            </a:pPr>
            <a:r>
              <a:rPr sz="1700" b="1">
                <a:solidFill>
                  <a:srgbClr val="C05210"/>
                </a:solidFill>
                <a:latin typeface="Calibri"/>
              </a:rPr>
              <a:t>•  </a:t>
            </a:r>
            <a:r>
              <a:rPr sz="1700" b="0">
                <a:solidFill>
                  <a:srgbClr val="242933"/>
                </a:solidFill>
                <a:latin typeface="Calibri"/>
              </a:rPr>
              <a:t>So the encoder </a:t>
            </a:r>
            <a:r>
              <a:rPr sz="1700" b="1">
                <a:solidFill>
                  <a:srgbClr val="1F3864"/>
                </a:solidFill>
                <a:latin typeface="Calibri"/>
              </a:rPr>
              <a:t>keeps only what predicts the future</a:t>
            </a:r>
            <a:r>
              <a:rPr sz="1700" b="0">
                <a:solidFill>
                  <a:srgbClr val="242933"/>
                </a:solidFill>
                <a:latin typeface="Calibri"/>
              </a:rPr>
              <a:t> (the control-relevant dynamics), and the predictor </a:t>
            </a:r>
            <a:r>
              <a:rPr sz="1700" b="1">
                <a:solidFill>
                  <a:srgbClr val="1F3864"/>
                </a:solidFill>
                <a:latin typeface="Calibri"/>
              </a:rPr>
              <a:t>gets no pixel-level shortcuts</a:t>
            </a:r>
          </a:p>
          <a:p>
            <a:pPr algn="l">
              <a:spcBef>
                <a:spcPts val="0"/>
              </a:spcBef>
              <a:spcAft>
                <a:spcPts val="900"/>
              </a:spcAft>
            </a:pPr>
            <a:r>
              <a:rPr sz="1700" b="1">
                <a:solidFill>
                  <a:srgbClr val="C05210"/>
                </a:solidFill>
                <a:latin typeface="Calibri"/>
              </a:rPr>
              <a:t>•  </a:t>
            </a:r>
            <a:r>
              <a:rPr sz="1700" b="1">
                <a:solidFill>
                  <a:srgbClr val="1F3864"/>
                </a:solidFill>
                <a:latin typeface="Calibri"/>
              </a:rPr>
              <a:t>Cheap to roll out:</a:t>
            </a:r>
            <a:r>
              <a:rPr sz="1700" b="0">
                <a:solidFill>
                  <a:srgbClr val="242933"/>
                </a:solidFill>
                <a:latin typeface="Calibri"/>
              </a:rPr>
              <a:t> planning happens in the d = 32-64 latent, two to three orders of magnitude cheaper than evolving the full field</a:t>
            </a:r>
          </a:p>
          <a:p>
            <a:pPr algn="l">
              <a:spcBef>
                <a:spcPts val="0"/>
              </a:spcBef>
              <a:spcAft>
                <a:spcPts val="900"/>
              </a:spcAft>
            </a:pPr>
            <a:r>
              <a:rPr sz="1700" b="1">
                <a:solidFill>
                  <a:srgbClr val="C05210"/>
                </a:solidFill>
                <a:latin typeface="Calibri"/>
              </a:rPr>
              <a:t>•  </a:t>
            </a:r>
            <a:r>
              <a:rPr sz="1700" b="0">
                <a:solidFill>
                  <a:srgbClr val="242933"/>
                </a:solidFill>
                <a:latin typeface="Calibri"/>
              </a:rPr>
              <a:t>Lineage: I-JEPA / V-JEPA (image, video); from-pixels LeWM, LeJEPA, PLDM, so far only gridworld and toy visual tasks</a:t>
            </a:r>
          </a:p>
          <a:p>
            <a:pPr algn="l">
              <a:spcBef>
                <a:spcPts val="0"/>
              </a:spcBef>
              <a:spcAft>
                <a:spcPts val="900"/>
              </a:spcAft>
            </a:pPr>
            <a:r>
              <a:rPr sz="1700" b="1">
                <a:solidFill>
                  <a:srgbClr val="C05210"/>
                </a:solidFill>
                <a:latin typeface="Calibri"/>
              </a:rPr>
              <a:t>•  </a:t>
            </a:r>
            <a:r>
              <a:rPr sz="1700" b="1">
                <a:solidFill>
                  <a:srgbClr val="1F3864"/>
                </a:solidFill>
                <a:latin typeface="Calibri"/>
              </a:rPr>
              <a:t>Why for control:</a:t>
            </a:r>
            <a:r>
              <a:rPr sz="1700" b="0">
                <a:solidFill>
                  <a:srgbClr val="242933"/>
                </a:solidFill>
                <a:latin typeface="Calibri"/>
              </a:rPr>
              <a:t> a learned world-model that is </a:t>
            </a:r>
            <a:r>
              <a:rPr sz="1700" b="1">
                <a:solidFill>
                  <a:srgbClr val="1F3864"/>
                </a:solidFill>
                <a:latin typeface="Calibri"/>
              </a:rPr>
              <a:t>observable from sensors</a:t>
            </a:r>
            <a:r>
              <a:rPr sz="1700" b="0">
                <a:solidFill>
                  <a:srgbClr val="242933"/>
                </a:solidFill>
                <a:latin typeface="Calibri"/>
              </a:rPr>
              <a:t>; to our knowledge the </a:t>
            </a:r>
            <a:r>
              <a:rPr sz="1700" b="1">
                <a:solidFill>
                  <a:srgbClr val="1F3864"/>
                </a:solidFill>
                <a:latin typeface="Calibri"/>
              </a:rPr>
              <a:t>first end-to-end JEPA on a parametric flow</a:t>
            </a:r>
          </a:p>
        </p:txBody>
      </p:sp>
      <p:sp>
        <p:nvSpPr>
          <p:cNvPr id="7" name="TextBox 6"/>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8" name="TextBox 7"/>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METHOD</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Our architecture for gust encounters</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783080"/>
            <a:ext cx="1828800" cy="868680"/>
          </a:xfrm>
          <a:prstGeom prst="roundRect">
            <a:avLst/>
          </a:prstGeom>
          <a:solidFill>
            <a:srgbClr val="EEF1F7"/>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00" b="1">
                <a:solidFill>
                  <a:srgbClr val="242933"/>
                </a:solidFill>
                <a:latin typeface="Calibri"/>
              </a:rPr>
              <a:t>mid-plane</a:t>
            </a:r>
          </a:p>
          <a:p>
            <a:pPr algn="ctr"/>
            <a:r>
              <a:rPr sz="1300" b="1">
                <a:solidFill>
                  <a:srgbClr val="242933"/>
                </a:solidFill>
                <a:latin typeface="Calibri"/>
              </a:rPr>
              <a:t>vorticity ω(t)</a:t>
            </a:r>
          </a:p>
        </p:txBody>
      </p:sp>
      <p:sp>
        <p:nvSpPr>
          <p:cNvPr id="7" name="Rounded Rectangle 6"/>
          <p:cNvSpPr/>
          <p:nvPr/>
        </p:nvSpPr>
        <p:spPr>
          <a:xfrm>
            <a:off x="2606040" y="1783080"/>
            <a:ext cx="1828800" cy="868680"/>
          </a:xfrm>
          <a:prstGeom prst="roundRect">
            <a:avLst/>
          </a:prstGeom>
          <a:solidFill>
            <a:srgbClr val="EEF1F7"/>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00" b="1">
                <a:solidFill>
                  <a:srgbClr val="242933"/>
                </a:solidFill>
                <a:latin typeface="Calibri"/>
              </a:rPr>
              <a:t>Encoder</a:t>
            </a:r>
          </a:p>
          <a:p>
            <a:pPr algn="ctr"/>
            <a:r>
              <a:rPr sz="1300" b="1">
                <a:solidFill>
                  <a:srgbClr val="242933"/>
                </a:solidFill>
                <a:latin typeface="Calibri"/>
              </a:rPr>
              <a:t>(CNN + ViT)</a:t>
            </a:r>
          </a:p>
        </p:txBody>
      </p:sp>
      <p:sp>
        <p:nvSpPr>
          <p:cNvPr id="8" name="Rounded Rectangle 7"/>
          <p:cNvSpPr/>
          <p:nvPr/>
        </p:nvSpPr>
        <p:spPr>
          <a:xfrm>
            <a:off x="4709160" y="1783080"/>
            <a:ext cx="1463040" cy="868680"/>
          </a:xfrm>
          <a:prstGeom prst="roundRect">
            <a:avLst/>
          </a:prstGeom>
          <a:solidFill>
            <a:srgbClr val="EAF2EC"/>
          </a:solidFill>
          <a:ln w="1905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00" b="1">
                <a:solidFill>
                  <a:srgbClr val="242933"/>
                </a:solidFill>
                <a:latin typeface="Calibri"/>
              </a:rPr>
              <a:t>latent z(t)</a:t>
            </a:r>
          </a:p>
          <a:p>
            <a:pPr algn="ctr"/>
            <a:r>
              <a:rPr sz="1300" b="1">
                <a:solidFill>
                  <a:srgbClr val="242933"/>
                </a:solidFill>
                <a:latin typeface="Calibri"/>
              </a:rPr>
              <a:t>d = 32 / 64</a:t>
            </a:r>
          </a:p>
        </p:txBody>
      </p:sp>
      <p:sp>
        <p:nvSpPr>
          <p:cNvPr id="9" name="Rounded Rectangle 8"/>
          <p:cNvSpPr/>
          <p:nvPr/>
        </p:nvSpPr>
        <p:spPr>
          <a:xfrm>
            <a:off x="6446520" y="1783080"/>
            <a:ext cx="1783080" cy="868680"/>
          </a:xfrm>
          <a:prstGeom prst="roundRect">
            <a:avLst/>
          </a:prstGeom>
          <a:solidFill>
            <a:srgbClr val="EAF2EC"/>
          </a:solidFill>
          <a:ln w="1905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00" b="1">
                <a:solidFill>
                  <a:srgbClr val="242933"/>
                </a:solidFill>
                <a:latin typeface="Calibri"/>
              </a:rPr>
              <a:t>Predictor</a:t>
            </a:r>
          </a:p>
          <a:p>
            <a:pPr algn="ctr"/>
            <a:r>
              <a:rPr sz="1300" b="1">
                <a:solidFill>
                  <a:srgbClr val="242933"/>
                </a:solidFill>
                <a:latin typeface="Calibri"/>
              </a:rPr>
              <a:t>(AR transformer)</a:t>
            </a:r>
          </a:p>
        </p:txBody>
      </p:sp>
      <p:sp>
        <p:nvSpPr>
          <p:cNvPr id="10" name="Rounded Rectangle 9"/>
          <p:cNvSpPr/>
          <p:nvPr/>
        </p:nvSpPr>
        <p:spPr>
          <a:xfrm>
            <a:off x="8549640" y="1783080"/>
            <a:ext cx="1828800" cy="868680"/>
          </a:xfrm>
          <a:prstGeom prst="roundRect">
            <a:avLst/>
          </a:prstGeom>
          <a:solidFill>
            <a:srgbClr val="EAF2EC"/>
          </a:solidFill>
          <a:ln w="1905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00" b="1">
                <a:solidFill>
                  <a:srgbClr val="242933"/>
                </a:solidFill>
                <a:latin typeface="Calibri"/>
              </a:rPr>
              <a:t>predicted</a:t>
            </a:r>
          </a:p>
          <a:p>
            <a:pPr algn="ctr"/>
            <a:r>
              <a:rPr sz="1300" b="1">
                <a:solidFill>
                  <a:srgbClr val="242933"/>
                </a:solidFill>
                <a:latin typeface="Calibri"/>
              </a:rPr>
              <a:t>z(t+1)</a:t>
            </a:r>
          </a:p>
        </p:txBody>
      </p:sp>
      <p:sp>
        <p:nvSpPr>
          <p:cNvPr id="11" name="Right Arrow 10"/>
          <p:cNvSpPr/>
          <p:nvPr/>
        </p:nvSpPr>
        <p:spPr>
          <a:xfrm>
            <a:off x="2377440" y="2135124"/>
            <a:ext cx="41148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4434840" y="2135124"/>
            <a:ext cx="41148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080760" y="2135124"/>
            <a:ext cx="41148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8275320" y="2135124"/>
            <a:ext cx="41148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343400"/>
            <a:ext cx="10972800" cy="1920240"/>
          </a:xfrm>
          <a:prstGeom prst="rect">
            <a:avLst/>
          </a:prstGeom>
          <a:noFill/>
        </p:spPr>
        <p:txBody>
          <a:bodyPr wrap="square" anchor="t" lIns="0" rIns="0" tIns="0" bIns="0">
            <a:spAutoFit/>
          </a:bodyPr>
          <a:lstStyle/>
          <a:p>
            <a:pPr algn="l">
              <a:spcBef>
                <a:spcPts val="0"/>
              </a:spcBef>
              <a:spcAft>
                <a:spcPts val="900"/>
              </a:spcAft>
            </a:pPr>
            <a:r>
              <a:rPr sz="1500" b="1">
                <a:solidFill>
                  <a:srgbClr val="C05210"/>
                </a:solidFill>
                <a:latin typeface="Calibri"/>
              </a:rPr>
              <a:t>•  </a:t>
            </a:r>
            <a:r>
              <a:rPr sz="1500" b="0">
                <a:solidFill>
                  <a:srgbClr val="242933"/>
                </a:solidFill>
                <a:latin typeface="Calibri"/>
              </a:rPr>
              <a:t>The </a:t>
            </a:r>
            <a:r>
              <a:rPr sz="1500" b="1">
                <a:solidFill>
                  <a:srgbClr val="1F3864"/>
                </a:solidFill>
                <a:latin typeface="Calibri"/>
              </a:rPr>
              <a:t>encoder</a:t>
            </a:r>
            <a:r>
              <a:rPr sz="1500" b="0">
                <a:solidFill>
                  <a:srgbClr val="242933"/>
                </a:solidFill>
                <a:latin typeface="Calibri"/>
              </a:rPr>
              <a:t> maps the field to a latent: a pure state map ω(t) → z</a:t>
            </a:r>
          </a:p>
          <a:p>
            <a:pPr algn="l">
              <a:spcBef>
                <a:spcPts val="0"/>
              </a:spcBef>
              <a:spcAft>
                <a:spcPts val="900"/>
              </a:spcAft>
            </a:pPr>
            <a:r>
              <a:rPr sz="1500" b="1">
                <a:solidFill>
                  <a:srgbClr val="C05210"/>
                </a:solidFill>
                <a:latin typeface="Calibri"/>
              </a:rPr>
              <a:t>•  </a:t>
            </a:r>
            <a:r>
              <a:rPr sz="1500" b="0">
                <a:solidFill>
                  <a:srgbClr val="242933"/>
                </a:solidFill>
                <a:latin typeface="Calibri"/>
              </a:rPr>
              <a:t>The </a:t>
            </a:r>
            <a:r>
              <a:rPr sz="1500" b="1">
                <a:solidFill>
                  <a:srgbClr val="1F3864"/>
                </a:solidFill>
                <a:latin typeface="Calibri"/>
              </a:rPr>
              <a:t>predictor</a:t>
            </a:r>
            <a:r>
              <a:rPr sz="1500" b="0">
                <a:solidFill>
                  <a:srgbClr val="242933"/>
                </a:solidFill>
                <a:latin typeface="Calibri"/>
              </a:rPr>
              <a:t> advances the latent z(t) → z(t+1) from the latent history; it </a:t>
            </a:r>
            <a:r>
              <a:rPr sz="1500" b="1">
                <a:solidFill>
                  <a:srgbClr val="1F3864"/>
                </a:solidFill>
                <a:latin typeface="Calibri"/>
              </a:rPr>
              <a:t>is</a:t>
            </a:r>
            <a:r>
              <a:rPr sz="1500" b="0">
                <a:solidFill>
                  <a:srgbClr val="242933"/>
                </a:solidFill>
                <a:latin typeface="Calibri"/>
              </a:rPr>
              <a:t> the latent dynamics model you plan or learn against</a:t>
            </a:r>
          </a:p>
          <a:p>
            <a:pPr algn="l">
              <a:spcBef>
                <a:spcPts val="0"/>
              </a:spcBef>
              <a:spcAft>
                <a:spcPts val="900"/>
              </a:spcAft>
            </a:pPr>
            <a:r>
              <a:rPr sz="1500" b="1">
                <a:solidFill>
                  <a:srgbClr val="C05210"/>
                </a:solidFill>
                <a:latin typeface="Calibri"/>
              </a:rPr>
              <a:t>•  </a:t>
            </a:r>
            <a:r>
              <a:rPr sz="1500" b="0">
                <a:solidFill>
                  <a:srgbClr val="242933"/>
                </a:solidFill>
                <a:latin typeface="Calibri"/>
              </a:rPr>
              <a:t>A </a:t>
            </a:r>
            <a:r>
              <a:rPr sz="1500" b="1">
                <a:solidFill>
                  <a:srgbClr val="1F3864"/>
                </a:solidFill>
                <a:latin typeface="Calibri"/>
              </a:rPr>
              <a:t>visualisation decoder</a:t>
            </a:r>
            <a:r>
              <a:rPr sz="1500" b="0">
                <a:solidFill>
                  <a:srgbClr val="242933"/>
                </a:solidFill>
                <a:latin typeface="Calibri"/>
              </a:rPr>
              <a:t> is trained on the </a:t>
            </a:r>
            <a:r>
              <a:rPr sz="1500" b="1">
                <a:solidFill>
                  <a:srgbClr val="1F3864"/>
                </a:solidFill>
                <a:latin typeface="Calibri"/>
              </a:rPr>
              <a:t>frozen</a:t>
            </a:r>
            <a:r>
              <a:rPr sz="1500" b="0">
                <a:solidFill>
                  <a:srgbClr val="242933"/>
                </a:solidFill>
                <a:latin typeface="Calibri"/>
              </a:rPr>
              <a:t> encoder, never in the loss (figures only)</a:t>
            </a:r>
          </a:p>
          <a:p>
            <a:pPr algn="l">
              <a:spcBef>
                <a:spcPts val="0"/>
              </a:spcBef>
              <a:spcAft>
                <a:spcPts val="900"/>
              </a:spcAft>
            </a:pPr>
            <a:r>
              <a:rPr sz="1500" b="1">
                <a:solidFill>
                  <a:srgbClr val="C05210"/>
                </a:solidFill>
                <a:latin typeface="Calibri"/>
              </a:rPr>
              <a:t>•  </a:t>
            </a:r>
            <a:r>
              <a:rPr sz="1500" b="0">
                <a:solidFill>
                  <a:srgbClr val="242933"/>
                </a:solidFill>
                <a:latin typeface="Calibri"/>
              </a:rPr>
              <a:t>Compared at matched latent dimension against a reconstructive AE (Fukami) and POD</a:t>
            </a:r>
          </a:p>
        </p:txBody>
      </p:sp>
      <p:sp>
        <p:nvSpPr>
          <p:cNvPr id="16" name="TextBox 15"/>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7" name="TextBox 16"/>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METHOD</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The visualisation decoder (figures only, never in the loss)</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325880" y="1783080"/>
            <a:ext cx="2194560" cy="868680"/>
          </a:xfrm>
          <a:prstGeom prst="roundRect">
            <a:avLst/>
          </a:prstGeom>
          <a:solidFill>
            <a:srgbClr val="EAF2EC"/>
          </a:solidFill>
          <a:ln w="19050">
            <a:solidFill>
              <a:srgbClr val="2E7D4F"/>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00" b="1">
                <a:solidFill>
                  <a:srgbClr val="242933"/>
                </a:solidFill>
                <a:latin typeface="Calibri"/>
              </a:rPr>
              <a:t>latent z</a:t>
            </a:r>
          </a:p>
          <a:p>
            <a:pPr algn="ctr"/>
            <a:r>
              <a:rPr sz="1300" b="1">
                <a:solidFill>
                  <a:srgbClr val="242933"/>
                </a:solidFill>
                <a:latin typeface="Calibri"/>
              </a:rPr>
              <a:t>d = 64</a:t>
            </a:r>
          </a:p>
        </p:txBody>
      </p:sp>
      <p:sp>
        <p:nvSpPr>
          <p:cNvPr id="7" name="Rounded Rectangle 6"/>
          <p:cNvSpPr/>
          <p:nvPr/>
        </p:nvSpPr>
        <p:spPr>
          <a:xfrm>
            <a:off x="4023360" y="1783080"/>
            <a:ext cx="4023360" cy="868680"/>
          </a:xfrm>
          <a:prstGeom prst="roundRect">
            <a:avLst/>
          </a:prstGeom>
          <a:solidFill>
            <a:srgbClr val="EEF1F7"/>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200" b="1">
                <a:solidFill>
                  <a:srgbClr val="242933"/>
                </a:solidFill>
                <a:latin typeface="Calibri"/>
              </a:rPr>
              <a:t>LapFiLM decoder</a:t>
            </a:r>
          </a:p>
          <a:p>
            <a:pPr algn="ctr"/>
            <a:r>
              <a:rPr sz="1200" b="1">
                <a:solidFill>
                  <a:srgbClr val="242933"/>
                </a:solidFill>
                <a:latin typeface="Calibri"/>
              </a:rPr>
              <a:t>5-level Laplacian pyramid + FiLM</a:t>
            </a:r>
          </a:p>
          <a:p>
            <a:pPr algn="ctr"/>
            <a:r>
              <a:rPr sz="1200" b="1">
                <a:solidFill>
                  <a:srgbClr val="242933"/>
                </a:solidFill>
                <a:latin typeface="Calibri"/>
              </a:rPr>
              <a:t>pixelshuffle upsampling · ~0.9M params</a:t>
            </a:r>
          </a:p>
        </p:txBody>
      </p:sp>
      <p:sp>
        <p:nvSpPr>
          <p:cNvPr id="8" name="Rounded Rectangle 7"/>
          <p:cNvSpPr/>
          <p:nvPr/>
        </p:nvSpPr>
        <p:spPr>
          <a:xfrm>
            <a:off x="8412480" y="1783080"/>
            <a:ext cx="2468880" cy="868680"/>
          </a:xfrm>
          <a:prstGeom prst="roundRect">
            <a:avLst/>
          </a:prstGeom>
          <a:solidFill>
            <a:srgbClr val="EEF1F7"/>
          </a:solidFill>
          <a:ln w="19050">
            <a:solidFill>
              <a:srgbClr val="1F3864"/>
            </a:solidFill>
          </a:ln>
          <a:effectLst/>
        </p:spPr>
        <p:style>
          <a:lnRef idx="1">
            <a:schemeClr val="accent1"/>
          </a:lnRef>
          <a:fillRef idx="3">
            <a:schemeClr val="accent1"/>
          </a:fillRef>
          <a:effectRef idx="2">
            <a:schemeClr val="accent1"/>
          </a:effectRef>
          <a:fontRef idx="minor">
            <a:schemeClr val="lt1"/>
          </a:fontRef>
        </p:style>
        <p:txBody>
          <a:bodyPr rtlCol="0" anchor="ctr" wrap="square" lIns="38100" rIns="38100" tIns="12700" bIns="12700"/>
          <a:lstStyle/>
          <a:p>
            <a:pPr algn="ctr"/>
            <a:r>
              <a:rPr sz="1300" b="1">
                <a:solidFill>
                  <a:srgbClr val="242933"/>
                </a:solidFill>
                <a:latin typeface="Calibri"/>
              </a:rPr>
              <a:t>vorticity field</a:t>
            </a:r>
          </a:p>
          <a:p>
            <a:pPr algn="ctr"/>
            <a:r>
              <a:rPr sz="1300" b="1">
                <a:solidFill>
                  <a:srgbClr val="242933"/>
                </a:solidFill>
                <a:latin typeface="Calibri"/>
              </a:rPr>
              <a:t>ω (192 × 96)</a:t>
            </a:r>
          </a:p>
        </p:txBody>
      </p:sp>
      <p:sp>
        <p:nvSpPr>
          <p:cNvPr id="9" name="Right Arrow 8"/>
          <p:cNvSpPr/>
          <p:nvPr/>
        </p:nvSpPr>
        <p:spPr>
          <a:xfrm>
            <a:off x="3611880" y="2135124"/>
            <a:ext cx="41148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8092440" y="2135124"/>
            <a:ext cx="411480" cy="164592"/>
          </a:xfrm>
          <a:prstGeom prst="rightArrow">
            <a:avLst/>
          </a:prstGeom>
          <a:solidFill>
            <a:srgbClr val="8A93A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063240"/>
            <a:ext cx="10972800" cy="2971800"/>
          </a:xfrm>
          <a:prstGeom prst="rect">
            <a:avLst/>
          </a:prstGeom>
          <a:noFill/>
        </p:spPr>
        <p:txBody>
          <a:bodyPr wrap="square" anchor="t" lIns="0" rIns="0" tIns="0" bIns="0">
            <a:spAutoFit/>
          </a:bodyPr>
          <a:lstStyle/>
          <a:p>
            <a:pPr algn="l">
              <a:spcBef>
                <a:spcPts val="0"/>
              </a:spcBef>
              <a:spcAft>
                <a:spcPts val="900"/>
              </a:spcAft>
            </a:pPr>
            <a:r>
              <a:rPr sz="1400" b="1">
                <a:solidFill>
                  <a:srgbClr val="C05210"/>
                </a:solidFill>
                <a:latin typeface="Calibri"/>
              </a:rPr>
              <a:t>•  </a:t>
            </a:r>
            <a:r>
              <a:rPr sz="1400" b="0">
                <a:solidFill>
                  <a:srgbClr val="242933"/>
                </a:solidFill>
                <a:latin typeface="Calibri"/>
              </a:rPr>
              <a:t>Trained on the </a:t>
            </a:r>
            <a:r>
              <a:rPr sz="1400" b="1">
                <a:solidFill>
                  <a:srgbClr val="1F3864"/>
                </a:solidFill>
                <a:latin typeface="Calibri"/>
              </a:rPr>
              <a:t>frozen</a:t>
            </a:r>
            <a:r>
              <a:rPr sz="1400" b="0">
                <a:solidFill>
                  <a:srgbClr val="242933"/>
                </a:solidFill>
                <a:latin typeface="Calibri"/>
              </a:rPr>
              <a:t> encoder, </a:t>
            </a:r>
            <a:r>
              <a:rPr sz="1400" b="1">
                <a:solidFill>
                  <a:srgbClr val="1F3864"/>
                </a:solidFill>
                <a:latin typeface="Calibri"/>
              </a:rPr>
              <a:t>never in the JEPA loss</a:t>
            </a:r>
            <a:r>
              <a:rPr sz="1400" b="0">
                <a:solidFill>
                  <a:srgbClr val="242933"/>
                </a:solidFill>
                <a:latin typeface="Calibri"/>
              </a:rPr>
              <a:t>: it only renders a latent as a field so we can look at it</a:t>
            </a:r>
          </a:p>
          <a:p>
            <a:pPr algn="l">
              <a:spcBef>
                <a:spcPts val="0"/>
              </a:spcBef>
              <a:spcAft>
                <a:spcPts val="900"/>
              </a:spcAft>
            </a:pPr>
            <a:r>
              <a:rPr sz="1400" b="1">
                <a:solidFill>
                  <a:srgbClr val="C05210"/>
                </a:solidFill>
                <a:latin typeface="Calibri"/>
              </a:rPr>
              <a:t>•  </a:t>
            </a:r>
            <a:r>
              <a:rPr sz="1400" b="1">
                <a:solidFill>
                  <a:srgbClr val="1F3864"/>
                </a:solidFill>
                <a:latin typeface="Calibri"/>
              </a:rPr>
              <a:t>Why not a plain CNN or ViT decoder?</a:t>
            </a:r>
            <a:r>
              <a:rPr sz="1400" b="0">
                <a:solidFill>
                  <a:srgbClr val="242933"/>
                </a:solidFill>
                <a:latin typeface="Calibri"/>
              </a:rPr>
              <a:t> A transposed-conv CNN under a pixel objective </a:t>
            </a:r>
            <a:r>
              <a:rPr sz="1400" b="1">
                <a:solidFill>
                  <a:srgbClr val="1F3864"/>
                </a:solidFill>
                <a:latin typeface="Calibri"/>
              </a:rPr>
              <a:t>blurs the wake</a:t>
            </a:r>
            <a:r>
              <a:rPr sz="1400" b="0">
                <a:solidFill>
                  <a:srgbClr val="242933"/>
                </a:solidFill>
                <a:latin typeface="Calibri"/>
              </a:rPr>
              <a:t> and leaves checkerboard artefacts; a ViT decoder is heavier and patch-blocky. The </a:t>
            </a:r>
            <a:r>
              <a:rPr sz="1400" b="1">
                <a:solidFill>
                  <a:srgbClr val="1F3864"/>
                </a:solidFill>
                <a:latin typeface="Calibri"/>
              </a:rPr>
              <a:t>Laplacian pyramid</a:t>
            </a:r>
            <a:r>
              <a:rPr sz="1400" b="0">
                <a:solidFill>
                  <a:srgbClr val="242933"/>
                </a:solidFill>
                <a:latin typeface="Calibri"/>
              </a:rPr>
              <a:t> builds the field coarse-to-fine (large-scale wake first), </a:t>
            </a:r>
            <a:r>
              <a:rPr sz="1400" b="1">
                <a:solidFill>
                  <a:srgbClr val="1F3864"/>
                </a:solidFill>
                <a:latin typeface="Calibri"/>
              </a:rPr>
              <a:t>FiLM</a:t>
            </a:r>
            <a:r>
              <a:rPr sz="1400" b="0">
                <a:solidFill>
                  <a:srgbClr val="242933"/>
                </a:solidFill>
                <a:latin typeface="Calibri"/>
              </a:rPr>
              <a:t> lets the 64-D latent steer every scale at just ~0.9M params, and </a:t>
            </a:r>
            <a:r>
              <a:rPr sz="1400" b="1">
                <a:solidFill>
                  <a:srgbClr val="1F3864"/>
                </a:solidFill>
                <a:latin typeface="Calibri"/>
              </a:rPr>
              <a:t>pixelshuffle</a:t>
            </a:r>
            <a:r>
              <a:rPr sz="1400" b="0">
                <a:solidFill>
                  <a:srgbClr val="242933"/>
                </a:solidFill>
                <a:latin typeface="Calibri"/>
              </a:rPr>
              <a:t> upsamples without checkerboards</a:t>
            </a:r>
          </a:p>
          <a:p>
            <a:pPr algn="l">
              <a:spcBef>
                <a:spcPts val="0"/>
              </a:spcBef>
              <a:spcAft>
                <a:spcPts val="900"/>
              </a:spcAft>
            </a:pPr>
            <a:r>
              <a:rPr sz="1400" b="1">
                <a:solidFill>
                  <a:srgbClr val="C05210"/>
                </a:solidFill>
                <a:latin typeface="Calibri"/>
              </a:rPr>
              <a:t>•  </a:t>
            </a:r>
            <a:r>
              <a:rPr sz="1400" b="1">
                <a:solidFill>
                  <a:srgbClr val="1F3864"/>
                </a:solidFill>
                <a:latin typeface="Calibri"/>
              </a:rPr>
              <a:t>Loss</a:t>
            </a:r>
            <a:r>
              <a:rPr sz="1400" b="0">
                <a:solidFill>
                  <a:srgbClr val="242933"/>
                </a:solidFill>
                <a:latin typeface="Calibri"/>
              </a:rPr>
              <a:t> = region + Laplacian-pyramid + gradient + </a:t>
            </a:r>
            <a:r>
              <a:rPr sz="1400" b="1">
                <a:solidFill>
                  <a:srgbClr val="1F3864"/>
                </a:solidFill>
                <a:latin typeface="Calibri"/>
              </a:rPr>
              <a:t>spectral-amplitude</a:t>
            </a:r>
            <a:r>
              <a:rPr sz="1400" b="0">
                <a:solidFill>
                  <a:srgbClr val="242933"/>
                </a:solidFill>
                <a:latin typeface="Calibri"/>
              </a:rPr>
              <a:t> (small enstrophy / circulation terms): it matches structure </a:t>
            </a:r>
            <a:r>
              <a:rPr sz="1400" b="1">
                <a:solidFill>
                  <a:srgbClr val="1F3864"/>
                </a:solidFill>
                <a:latin typeface="Calibri"/>
              </a:rPr>
              <a:t>across scales and in the Fourier spectrum</a:t>
            </a:r>
            <a:r>
              <a:rPr sz="1400" b="0">
                <a:solidFill>
                  <a:srgbClr val="242933"/>
                </a:solidFill>
                <a:latin typeface="Calibri"/>
              </a:rPr>
              <a:t>, not pixelwise</a:t>
            </a:r>
          </a:p>
          <a:p>
            <a:pPr algn="l">
              <a:spcBef>
                <a:spcPts val="0"/>
              </a:spcBef>
              <a:spcAft>
                <a:spcPts val="900"/>
              </a:spcAft>
            </a:pPr>
            <a:r>
              <a:rPr sz="1400" b="1">
                <a:solidFill>
                  <a:srgbClr val="C05210"/>
                </a:solidFill>
                <a:latin typeface="Calibri"/>
              </a:rPr>
              <a:t>•  </a:t>
            </a:r>
            <a:r>
              <a:rPr sz="1400" b="1">
                <a:solidFill>
                  <a:srgbClr val="1F3864"/>
                </a:solidFill>
                <a:latin typeface="Calibri"/>
              </a:rPr>
              <a:t>Why SSIM, not MSE?</a:t>
            </a:r>
            <a:r>
              <a:rPr sz="1400" b="0">
                <a:solidFill>
                  <a:srgbClr val="242933"/>
                </a:solidFill>
                <a:latin typeface="Calibri"/>
              </a:rPr>
              <a:t> MSE is pointwise and </a:t>
            </a:r>
            <a:r>
              <a:rPr sz="1400" b="1">
                <a:solidFill>
                  <a:srgbClr val="1F3864"/>
                </a:solidFill>
                <a:latin typeface="Calibri"/>
              </a:rPr>
              <a:t>rewards blur</a:t>
            </a:r>
            <a:r>
              <a:rPr sz="1400" b="0">
                <a:solidFill>
                  <a:srgbClr val="242933"/>
                </a:solidFill>
                <a:latin typeface="Calibri"/>
              </a:rPr>
              <a:t> (a smoothed field scores well but loses the vortices); </a:t>
            </a:r>
            <a:r>
              <a:rPr sz="1400" b="1">
                <a:solidFill>
                  <a:srgbClr val="1F3864"/>
                </a:solidFill>
                <a:latin typeface="Calibri"/>
              </a:rPr>
              <a:t>SSIM</a:t>
            </a:r>
            <a:r>
              <a:rPr sz="1400" b="0">
                <a:solidFill>
                  <a:srgbClr val="242933"/>
                </a:solidFill>
                <a:latin typeface="Calibri"/>
              </a:rPr>
              <a:t> compares local contrast and structure, crediting a correct wake *pattern*. Held-out </a:t>
            </a:r>
            <a:r>
              <a:rPr sz="1400" b="1">
                <a:solidFill>
                  <a:srgbClr val="1F3864"/>
                </a:solidFill>
                <a:latin typeface="Calibri"/>
              </a:rPr>
              <a:t>SSIM ≈ 0.73</a:t>
            </a:r>
          </a:p>
        </p:txBody>
      </p:sp>
      <p:sp>
        <p:nvSpPr>
          <p:cNvPr id="12" name="TextBox 11"/>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3" name="TextBox 12"/>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METHOD</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Model detail: encoder and predictor</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5897880" cy="4572000"/>
          </a:xfrm>
          <a:prstGeom prst="rect">
            <a:avLst/>
          </a:prstGeom>
          <a:noFill/>
        </p:spPr>
        <p:txBody>
          <a:bodyPr wrap="square" anchor="t" lIns="0" rIns="0" tIns="0" bIns="0">
            <a:spAutoFit/>
          </a:bodyPr>
          <a:lstStyle/>
          <a:p>
            <a:pPr algn="l">
              <a:spcBef>
                <a:spcPts val="0"/>
              </a:spcBef>
              <a:spcAft>
                <a:spcPts val="900"/>
              </a:spcAft>
            </a:pPr>
            <a:r>
              <a:rPr sz="1250" b="1">
                <a:solidFill>
                  <a:srgbClr val="C05210"/>
                </a:solidFill>
                <a:latin typeface="Calibri"/>
              </a:rPr>
              <a:t>•  </a:t>
            </a:r>
            <a:r>
              <a:rPr sz="1250" b="1">
                <a:solidFill>
                  <a:srgbClr val="1F3864"/>
                </a:solidFill>
                <a:latin typeface="Calibri"/>
              </a:rPr>
              <a:t>Encoder</a:t>
            </a:r>
            <a:r>
              <a:rPr sz="1250" b="0">
                <a:solidFill>
                  <a:srgbClr val="242933"/>
                </a:solidFill>
                <a:latin typeface="Calibri"/>
              </a:rPr>
              <a:t> = a CNN stem (3 down-sampling stages) + a 6-layer Vision Transformer; the field becomes 288 patch tokens, and a learned [CLS] token is mapped by a small MLP (with BatchNorm) to the latent z (d = 32 / 64)</a:t>
            </a:r>
          </a:p>
          <a:p>
            <a:pPr algn="l">
              <a:spcBef>
                <a:spcPts val="0"/>
              </a:spcBef>
              <a:spcAft>
                <a:spcPts val="900"/>
              </a:spcAft>
            </a:pPr>
            <a:r>
              <a:rPr sz="1250" b="1">
                <a:solidFill>
                  <a:srgbClr val="C05210"/>
                </a:solidFill>
                <a:latin typeface="Calibri"/>
              </a:rPr>
              <a:t>•  </a:t>
            </a:r>
            <a:r>
              <a:rPr sz="1250" b="1">
                <a:solidFill>
                  <a:srgbClr val="1F3864"/>
                </a:solidFill>
                <a:latin typeface="Calibri"/>
              </a:rPr>
              <a:t>Predictor</a:t>
            </a:r>
            <a:r>
              <a:rPr sz="1250" b="0">
                <a:solidFill>
                  <a:srgbClr val="242933"/>
                </a:solidFill>
                <a:latin typeface="Calibri"/>
              </a:rPr>
              <a:t> = a 6-layer autoregressive transformer (hidden 384, 16 heads, dropout 0.1): it reads z(t) and emits the next latent z(t+1). </a:t>
            </a:r>
            <a:r>
              <a:rPr sz="1250" b="1">
                <a:solidFill>
                  <a:srgbClr val="1F3864"/>
                </a:solidFill>
                <a:latin typeface="Calibri"/>
              </a:rPr>
              <a:t>Unconditioned: no gust parameters enter the predictor</a:t>
            </a:r>
          </a:p>
          <a:p>
            <a:pPr algn="l">
              <a:spcBef>
                <a:spcPts val="0"/>
              </a:spcBef>
              <a:spcAft>
                <a:spcPts val="900"/>
              </a:spcAft>
            </a:pPr>
            <a:r>
              <a:rPr sz="1250" b="1">
                <a:solidFill>
                  <a:srgbClr val="C05210"/>
                </a:solidFill>
                <a:latin typeface="Calibri"/>
              </a:rPr>
              <a:t>•  </a:t>
            </a:r>
            <a:r>
              <a:rPr sz="1250" b="1">
                <a:solidFill>
                  <a:srgbClr val="1F3864"/>
                </a:solidFill>
                <a:latin typeface="Calibri"/>
              </a:rPr>
              <a:t>Causal mask:</a:t>
            </a:r>
            <a:r>
              <a:rPr sz="1250" b="0">
                <a:solidFill>
                  <a:srgbClr val="242933"/>
                </a:solidFill>
                <a:latin typeface="Calibri"/>
              </a:rPr>
              <a:t> each step sees only past steps, never the future; </a:t>
            </a:r>
            <a:r>
              <a:rPr sz="1250" b="1">
                <a:solidFill>
                  <a:srgbClr val="1F3864"/>
                </a:solidFill>
                <a:latin typeface="Calibri"/>
              </a:rPr>
              <a:t>RoPE</a:t>
            </a:r>
            <a:r>
              <a:rPr sz="1250" b="0">
                <a:solidFill>
                  <a:srgbClr val="242933"/>
                </a:solidFill>
                <a:latin typeface="Calibri"/>
              </a:rPr>
              <a:t> encodes the frame ordering so the transformer knows what is earlier or later</a:t>
            </a:r>
          </a:p>
          <a:p>
            <a:pPr algn="l">
              <a:spcBef>
                <a:spcPts val="0"/>
              </a:spcBef>
              <a:spcAft>
                <a:spcPts val="900"/>
              </a:spcAft>
            </a:pPr>
            <a:r>
              <a:rPr sz="1250" b="1">
                <a:solidFill>
                  <a:srgbClr val="C05210"/>
                </a:solidFill>
                <a:latin typeface="Calibri"/>
              </a:rPr>
              <a:t>•  </a:t>
            </a:r>
            <a:r>
              <a:rPr sz="1250" b="1">
                <a:solidFill>
                  <a:srgbClr val="1F3864"/>
                </a:solidFill>
                <a:latin typeface="Calibri"/>
              </a:rPr>
              <a:t>Training:</a:t>
            </a:r>
            <a:r>
              <a:rPr sz="1250" b="0">
                <a:solidFill>
                  <a:srgbClr val="242933"/>
                </a:solidFill>
                <a:latin typeface="Calibri"/>
              </a:rPr>
              <a:t> match the next latent (teacher forcing) + </a:t>
            </a:r>
            <a:r>
              <a:rPr sz="1250" b="1">
                <a:solidFill>
                  <a:srgbClr val="1F3864"/>
                </a:solidFill>
                <a:latin typeface="Calibri"/>
              </a:rPr>
              <a:t>scheduled sampling</a:t>
            </a:r>
            <a:r>
              <a:rPr sz="1250" b="0">
                <a:solidFill>
                  <a:srgbClr val="242933"/>
                </a:solidFill>
                <a:latin typeface="Calibri"/>
              </a:rPr>
              <a:t> (feed the model its own predictions over an 8-step rollout, so it tolerates its own errors) + </a:t>
            </a:r>
            <a:r>
              <a:rPr sz="1250" b="1">
                <a:solidFill>
                  <a:srgbClr val="1F3864"/>
                </a:solidFill>
                <a:latin typeface="Calibri"/>
              </a:rPr>
              <a:t>SIGReg</a:t>
            </a:r>
            <a:r>
              <a:rPr sz="1250" b="0">
                <a:solidFill>
                  <a:srgbClr val="242933"/>
                </a:solidFill>
                <a:latin typeface="Calibri"/>
              </a:rPr>
              <a:t> anti-collapse (keeps z informative without a decoder); AdamW, bf16, 20k steps</a:t>
            </a:r>
          </a:p>
          <a:p>
            <a:pPr algn="l">
              <a:spcBef>
                <a:spcPts val="0"/>
              </a:spcBef>
              <a:spcAft>
                <a:spcPts val="900"/>
              </a:spcAft>
            </a:pPr>
            <a:r>
              <a:rPr sz="1250" b="1">
                <a:solidFill>
                  <a:srgbClr val="C05210"/>
                </a:solidFill>
                <a:latin typeface="Calibri"/>
              </a:rPr>
              <a:t>•  </a:t>
            </a:r>
            <a:r>
              <a:rPr sz="1250" b="1">
                <a:solidFill>
                  <a:srgbClr val="1F3864"/>
                </a:solidFill>
                <a:latin typeface="Calibri"/>
              </a:rPr>
              <a:t>Architecture inspired by the JEPA world-model line:</a:t>
            </a:r>
            <a:r>
              <a:rPr sz="1250" b="0">
                <a:solidFill>
                  <a:srgbClr val="242933"/>
                </a:solidFill>
                <a:latin typeface="Calibri"/>
              </a:rPr>
              <a:t> I-JEPA / V-JEPA, and the from-pixels LeWM (Maes et al. 2026) and LeJEPA (Balestriero and LeCun 2025)</a:t>
            </a:r>
          </a:p>
        </p:txBody>
      </p:sp>
      <p:pic>
        <p:nvPicPr>
          <p:cNvPr id="7" name="Picture 6" descr="predictor_detail.png"/>
          <p:cNvPicPr>
            <a:picLocks noChangeAspect="1"/>
          </p:cNvPicPr>
          <p:nvPr/>
        </p:nvPicPr>
        <p:blipFill>
          <a:blip r:embed="rId2"/>
          <a:stretch>
            <a:fillRect/>
          </a:stretch>
        </p:blipFill>
        <p:spPr>
          <a:xfrm>
            <a:off x="6766940" y="1664208"/>
            <a:ext cx="4936999" cy="4389120"/>
          </a:xfrm>
          <a:prstGeom prst="rect">
            <a:avLst/>
          </a:prstGeom>
        </p:spPr>
      </p:pic>
      <p:sp>
        <p:nvSpPr>
          <p:cNvPr id="8" name="TextBox 7"/>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9" name="TextBox 8"/>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METHOD, ALTERNATIVE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Illustrated alternative: the autoencoder route</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27632"/>
            <a:ext cx="10972800" cy="777240"/>
          </a:xfrm>
          <a:prstGeom prst="rect">
            <a:avLst/>
          </a:prstGeom>
          <a:noFill/>
        </p:spPr>
        <p:txBody>
          <a:bodyPr wrap="square" anchor="t" lIns="0" rIns="0" tIns="0" bIns="0">
            <a:spAutoFit/>
          </a:bodyPr>
          <a:lstStyle/>
          <a:p>
            <a:pPr algn="l">
              <a:spcBef>
                <a:spcPts val="0"/>
              </a:spcBef>
              <a:spcAft>
                <a:spcPts val="900"/>
              </a:spcAft>
            </a:pPr>
            <a:r>
              <a:rPr sz="1600" b="1">
                <a:solidFill>
                  <a:srgbClr val="C05210"/>
                </a:solidFill>
                <a:latin typeface="Calibri"/>
              </a:rPr>
              <a:t>•  </a:t>
            </a:r>
            <a:r>
              <a:rPr sz="1600" b="0">
                <a:solidFill>
                  <a:srgbClr val="242933"/>
                </a:solidFill>
                <a:latin typeface="Calibri"/>
              </a:rPr>
              <a:t>Reconstructive route (Fukami-Taira lineage): a </a:t>
            </a:r>
            <a:r>
              <a:rPr sz="1600" b="1">
                <a:solidFill>
                  <a:srgbClr val="1F3864"/>
                </a:solidFill>
                <a:latin typeface="Calibri"/>
              </a:rPr>
              <a:t>CNN encoder</a:t>
            </a:r>
            <a:r>
              <a:rPr sz="1600" b="0">
                <a:solidFill>
                  <a:srgbClr val="242933"/>
                </a:solidFill>
                <a:latin typeface="Calibri"/>
              </a:rPr>
              <a:t>, an </a:t>
            </a:r>
            <a:r>
              <a:rPr sz="1600" b="1">
                <a:solidFill>
                  <a:srgbClr val="1F3864"/>
                </a:solidFill>
                <a:latin typeface="Calibri"/>
              </a:rPr>
              <a:t>MLP latent ξ</a:t>
            </a:r>
            <a:r>
              <a:rPr sz="1600" b="0">
                <a:solidFill>
                  <a:srgbClr val="242933"/>
                </a:solidFill>
                <a:latin typeface="Calibri"/>
              </a:rPr>
              <a:t> (which also feeds a lift head to C_L), and a </a:t>
            </a:r>
            <a:r>
              <a:rPr sz="1600" b="1">
                <a:solidFill>
                  <a:srgbClr val="1F3864"/>
                </a:solidFill>
                <a:latin typeface="Calibri"/>
              </a:rPr>
              <a:t>CNN decoder</a:t>
            </a:r>
            <a:r>
              <a:rPr sz="1600" b="0">
                <a:solidFill>
                  <a:srgbClr val="242933"/>
                </a:solidFill>
                <a:latin typeface="Calibri"/>
              </a:rPr>
              <a:t>; the loss compares the reconstructed field to the input in </a:t>
            </a:r>
            <a:r>
              <a:rPr sz="1600" b="1">
                <a:solidFill>
                  <a:srgbClr val="1F3864"/>
                </a:solidFill>
                <a:latin typeface="Calibri"/>
              </a:rPr>
              <a:t>pixel space</a:t>
            </a:r>
          </a:p>
        </p:txBody>
      </p:sp>
      <p:pic>
        <p:nvPicPr>
          <p:cNvPr id="7" name="Picture 6" descr="fukami_ae.png"/>
          <p:cNvPicPr>
            <a:picLocks noChangeAspect="1"/>
          </p:cNvPicPr>
          <p:nvPr/>
        </p:nvPicPr>
        <p:blipFill>
          <a:blip r:embed="rId2"/>
          <a:stretch>
            <a:fillRect/>
          </a:stretch>
        </p:blipFill>
        <p:spPr>
          <a:xfrm>
            <a:off x="731520" y="2468880"/>
            <a:ext cx="10698480" cy="3044951"/>
          </a:xfrm>
          <a:prstGeom prst="rect">
            <a:avLst/>
          </a:prstGeom>
        </p:spPr>
      </p:pic>
      <p:sp>
        <p:nvSpPr>
          <p:cNvPr id="8" name="TextBox 7"/>
          <p:cNvSpPr txBox="1"/>
          <p:nvPr/>
        </p:nvSpPr>
        <p:spPr>
          <a:xfrm>
            <a:off x="731520" y="5779008"/>
            <a:ext cx="106984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An autoencoder reconstructs the field; the latent is shaped by pixel reconstruction.</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METHOD, ALTERNATIVE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Illustrated alternative: the JEPA route</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27632"/>
            <a:ext cx="10972800" cy="777240"/>
          </a:xfrm>
          <a:prstGeom prst="rect">
            <a:avLst/>
          </a:prstGeom>
          <a:noFill/>
        </p:spPr>
        <p:txBody>
          <a:bodyPr wrap="square" anchor="t" lIns="0" rIns="0" tIns="0" bIns="0">
            <a:spAutoFit/>
          </a:bodyPr>
          <a:lstStyle/>
          <a:p>
            <a:pPr algn="l">
              <a:spcBef>
                <a:spcPts val="0"/>
              </a:spcBef>
              <a:spcAft>
                <a:spcPts val="900"/>
              </a:spcAft>
            </a:pPr>
            <a:r>
              <a:rPr sz="1600" b="1">
                <a:solidFill>
                  <a:srgbClr val="C05210"/>
                </a:solidFill>
                <a:latin typeface="Calibri"/>
              </a:rPr>
              <a:t>•  </a:t>
            </a:r>
            <a:r>
              <a:rPr sz="1600" b="0">
                <a:solidFill>
                  <a:srgbClr val="242933"/>
                </a:solidFill>
                <a:latin typeface="Calibri"/>
              </a:rPr>
              <a:t>Same encoder, but a </a:t>
            </a:r>
            <a:r>
              <a:rPr sz="1600" b="1">
                <a:solidFill>
                  <a:srgbClr val="1F3864"/>
                </a:solidFill>
                <a:latin typeface="Calibri"/>
              </a:rPr>
              <a:t>predictor</a:t>
            </a:r>
            <a:r>
              <a:rPr sz="1600" b="0">
                <a:solidFill>
                  <a:srgbClr val="242933"/>
                </a:solidFill>
                <a:latin typeface="Calibri"/>
              </a:rPr>
              <a:t> advances the latent and the loss lives in </a:t>
            </a:r>
            <a:r>
              <a:rPr sz="1600" b="1">
                <a:solidFill>
                  <a:srgbClr val="1F3864"/>
                </a:solidFill>
                <a:latin typeface="Calibri"/>
              </a:rPr>
              <a:t>latent space</a:t>
            </a:r>
            <a:r>
              <a:rPr sz="1600" b="0">
                <a:solidFill>
                  <a:srgbClr val="242933"/>
                </a:solidFill>
                <a:latin typeface="Calibri"/>
              </a:rPr>
              <a:t>, with </a:t>
            </a:r>
            <a:r>
              <a:rPr sz="1600" b="1">
                <a:solidFill>
                  <a:srgbClr val="1F3864"/>
                </a:solidFill>
                <a:latin typeface="Calibri"/>
              </a:rPr>
              <a:t>no decoder</a:t>
            </a:r>
            <a:r>
              <a:rPr sz="1600" b="0">
                <a:solidFill>
                  <a:srgbClr val="242933"/>
                </a:solidFill>
                <a:latin typeface="Calibri"/>
              </a:rPr>
              <a:t> (an anti-collapse term keeps z informative)</a:t>
            </a:r>
          </a:p>
        </p:txBody>
      </p:sp>
      <p:pic>
        <p:nvPicPr>
          <p:cNvPr id="7" name="Picture 6" descr="fukami_jepa.png"/>
          <p:cNvPicPr>
            <a:picLocks noChangeAspect="1"/>
          </p:cNvPicPr>
          <p:nvPr/>
        </p:nvPicPr>
        <p:blipFill>
          <a:blip r:embed="rId2"/>
          <a:stretch>
            <a:fillRect/>
          </a:stretch>
        </p:blipFill>
        <p:spPr>
          <a:xfrm>
            <a:off x="731520" y="2468880"/>
            <a:ext cx="10698480" cy="3209544"/>
          </a:xfrm>
          <a:prstGeom prst="rect">
            <a:avLst/>
          </a:prstGeom>
        </p:spPr>
      </p:pic>
      <p:sp>
        <p:nvSpPr>
          <p:cNvPr id="8" name="TextBox 7"/>
          <p:cNvSpPr txBox="1"/>
          <p:nvPr/>
        </p:nvSpPr>
        <p:spPr>
          <a:xfrm>
            <a:off x="731520" y="5870448"/>
            <a:ext cx="106984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JEPA predicts the next latent in latent space, with no field reconstruction.</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EVALUATION</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Closure protocol</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27632"/>
            <a:ext cx="10972800" cy="2285999"/>
          </a:xfrm>
          <a:prstGeom prst="rect">
            <a:avLst/>
          </a:prstGeom>
          <a:noFill/>
        </p:spPr>
        <p:txBody>
          <a:bodyPr wrap="square" anchor="t" lIns="0" rIns="0" tIns="0" bIns="0">
            <a:spAutoFit/>
          </a:bodyPr>
          <a:lstStyle/>
          <a:p>
            <a:pPr algn="l">
              <a:spcBef>
                <a:spcPts val="0"/>
              </a:spcBef>
              <a:spcAft>
                <a:spcPts val="900"/>
              </a:spcAft>
            </a:pPr>
            <a:r>
              <a:rPr sz="1400" b="1">
                <a:solidFill>
                  <a:srgbClr val="C05210"/>
                </a:solidFill>
                <a:latin typeface="Calibri"/>
              </a:rPr>
              <a:t>•  </a:t>
            </a:r>
            <a:r>
              <a:rPr sz="1400" b="1">
                <a:solidFill>
                  <a:srgbClr val="1F3864"/>
                </a:solidFill>
                <a:latin typeface="Calibri"/>
              </a:rPr>
              <a:t>Representational closure (the headline):</a:t>
            </a:r>
            <a:r>
              <a:rPr sz="1400" b="0">
                <a:solidFill>
                  <a:srgbClr val="242933"/>
                </a:solidFill>
                <a:latin typeface="Calibri"/>
              </a:rPr>
              <a:t> probe each observable from the </a:t>
            </a:r>
            <a:r>
              <a:rPr sz="1400" b="1">
                <a:solidFill>
                  <a:srgbClr val="1F3864"/>
                </a:solidFill>
                <a:latin typeface="Calibri"/>
              </a:rPr>
              <a:t>encoded</a:t>
            </a:r>
            <a:r>
              <a:rPr sz="1400" b="0">
                <a:solidFill>
                  <a:srgbClr val="242933"/>
                </a:solidFill>
                <a:latin typeface="Calibri"/>
              </a:rPr>
              <a:t> latent at impact + 16, what the state *carries*, no rollout</a:t>
            </a:r>
          </a:p>
          <a:p>
            <a:pPr algn="l">
              <a:spcBef>
                <a:spcPts val="0"/>
              </a:spcBef>
              <a:spcAft>
                <a:spcPts val="900"/>
              </a:spcAft>
            </a:pPr>
            <a:r>
              <a:rPr sz="1400" b="1">
                <a:solidFill>
                  <a:srgbClr val="C05210"/>
                </a:solidFill>
                <a:latin typeface="Calibri"/>
              </a:rPr>
              <a:t>•  </a:t>
            </a:r>
            <a:r>
              <a:rPr sz="1400" b="1">
                <a:solidFill>
                  <a:srgbClr val="1F3864"/>
                </a:solidFill>
                <a:latin typeface="Calibri"/>
              </a:rPr>
              <a:t>Forward (rollout) mode:</a:t>
            </a:r>
            <a:r>
              <a:rPr sz="1400" b="0">
                <a:solidFill>
                  <a:srgbClr val="242933"/>
                </a:solidFill>
                <a:latin typeface="Calibri"/>
              </a:rPr>
              <a:t> roll the predictor recursively to </a:t>
            </a:r>
            <a:r>
              <a:rPr sz="1400" b="1">
                <a:solidFill>
                  <a:srgbClr val="1F3864"/>
                </a:solidFill>
                <a:latin typeface="Calibri"/>
              </a:rPr>
              <a:t>H = 16</a:t>
            </a:r>
            <a:r>
              <a:rPr sz="1400" b="0">
                <a:solidFill>
                  <a:srgbClr val="242933"/>
                </a:solidFill>
                <a:latin typeface="Calibri"/>
              </a:rPr>
              <a:t> and probe the predicted latent; here we use it </a:t>
            </a:r>
            <a:r>
              <a:rPr sz="1400" b="1">
                <a:solidFill>
                  <a:srgbClr val="1F3864"/>
                </a:solidFill>
                <a:latin typeface="Calibri"/>
              </a:rPr>
              <a:t>qualitatively</a:t>
            </a:r>
            <a:r>
              <a:rPr sz="1400" b="0">
                <a:solidFill>
                  <a:srgbClr val="242933"/>
                </a:solidFill>
                <a:latin typeface="Calibri"/>
              </a:rPr>
              <a:t> (does the rolled latent track the wake?)</a:t>
            </a:r>
          </a:p>
          <a:p>
            <a:pPr algn="l">
              <a:spcBef>
                <a:spcPts val="0"/>
              </a:spcBef>
              <a:spcAft>
                <a:spcPts val="900"/>
              </a:spcAft>
            </a:pPr>
            <a:r>
              <a:rPr sz="1400" b="1">
                <a:solidFill>
                  <a:srgbClr val="C05210"/>
                </a:solidFill>
                <a:latin typeface="Calibri"/>
              </a:rPr>
              <a:t>•  </a:t>
            </a:r>
            <a:r>
              <a:rPr sz="1400" b="1">
                <a:solidFill>
                  <a:srgbClr val="1F3864"/>
                </a:solidFill>
                <a:latin typeface="Calibri"/>
              </a:rPr>
              <a:t>Matched protocol:</a:t>
            </a:r>
            <a:r>
              <a:rPr sz="1400" b="0">
                <a:solidFill>
                  <a:srgbClr val="242933"/>
                </a:solidFill>
                <a:latin typeface="Calibri"/>
              </a:rPr>
              <a:t> same predictor architecture and same probe family, </a:t>
            </a:r>
            <a:r>
              <a:rPr sz="1400" b="1">
                <a:solidFill>
                  <a:srgbClr val="1F3864"/>
                </a:solidFill>
                <a:latin typeface="Calibri"/>
              </a:rPr>
              <a:t>trained / fitted separately per latent</a:t>
            </a:r>
            <a:r>
              <a:rPr sz="1400" b="0">
                <a:solidFill>
                  <a:srgbClr val="242933"/>
                </a:solidFill>
                <a:latin typeface="Calibri"/>
              </a:rPr>
              <a:t>, so differences are the encoder's</a:t>
            </a:r>
          </a:p>
          <a:p>
            <a:pPr algn="l">
              <a:spcBef>
                <a:spcPts val="0"/>
              </a:spcBef>
              <a:spcAft>
                <a:spcPts val="900"/>
              </a:spcAft>
            </a:pPr>
            <a:r>
              <a:rPr sz="1400" b="1">
                <a:solidFill>
                  <a:srgbClr val="C05210"/>
                </a:solidFill>
                <a:latin typeface="Calibri"/>
              </a:rPr>
              <a:t>•  </a:t>
            </a:r>
            <a:r>
              <a:rPr sz="1400" b="1">
                <a:solidFill>
                  <a:srgbClr val="1F3864"/>
                </a:solidFill>
                <a:latin typeface="Calibri"/>
              </a:rPr>
              <a:t>Parameter-only floor:</a:t>
            </a:r>
            <a:r>
              <a:rPr sz="1400" b="0">
                <a:solidFill>
                  <a:srgbClr val="242933"/>
                </a:solidFill>
                <a:latin typeface="Calibri"/>
              </a:rPr>
              <a:t> can the </a:t>
            </a:r>
            <a:r>
              <a:rPr sz="1400" b="1">
                <a:solidFill>
                  <a:srgbClr val="1F3864"/>
                </a:solidFill>
                <a:latin typeface="Calibri"/>
              </a:rPr>
              <a:t>three gust numbers (G, D, Y) alone</a:t>
            </a:r>
            <a:r>
              <a:rPr sz="1400" b="0">
                <a:solidFill>
                  <a:srgbClr val="242933"/>
                </a:solidFill>
                <a:latin typeface="Calibri"/>
              </a:rPr>
              <a:t> predict each observable (a kernel-ridge fit)? Beating the floor proves the latent </a:t>
            </a:r>
            <a:r>
              <a:rPr sz="1400" b="1">
                <a:solidFill>
                  <a:srgbClr val="1F3864"/>
                </a:solidFill>
                <a:latin typeface="Calibri"/>
              </a:rPr>
              <a:t>carries flow state beyond the parameters</a:t>
            </a:r>
          </a:p>
        </p:txBody>
      </p:sp>
      <p:pic>
        <p:nvPicPr>
          <p:cNvPr id="7" name="Picture 6" descr="eval_protocol.png"/>
          <p:cNvPicPr>
            <a:picLocks noChangeAspect="1"/>
          </p:cNvPicPr>
          <p:nvPr/>
        </p:nvPicPr>
        <p:blipFill>
          <a:blip r:embed="rId2"/>
          <a:stretch>
            <a:fillRect/>
          </a:stretch>
        </p:blipFill>
        <p:spPr>
          <a:xfrm>
            <a:off x="2101801" y="3977639"/>
            <a:ext cx="7957917" cy="1920240"/>
          </a:xfrm>
          <a:prstGeom prst="rect">
            <a:avLst/>
          </a:prstGeom>
        </p:spPr>
      </p:pic>
      <p:sp>
        <p:nvSpPr>
          <p:cNvPr id="8" name="TextBox 7"/>
          <p:cNvSpPr txBox="1"/>
          <p:nvPr/>
        </p:nvSpPr>
        <p:spPr>
          <a:xfrm>
            <a:off x="731520" y="5916167"/>
            <a:ext cx="106984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Same probe family maps every encoder (JEPA / AE / POD) to the observables. Representational mode (encoded latent) is the headline; forward rollout is shown qualitatively.</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RESULT</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Main result: the latent keeps the wake</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172200" cy="4572000"/>
          </a:xfrm>
          <a:prstGeom prst="rect">
            <a:avLst/>
          </a:prstGeom>
          <a:noFill/>
        </p:spPr>
        <p:txBody>
          <a:bodyPr wrap="square" anchor="t" lIns="0" rIns="0" tIns="0" bIns="0">
            <a:spAutoFit/>
          </a:bodyPr>
          <a:lstStyle/>
          <a:p>
            <a:pPr algn="l">
              <a:spcBef>
                <a:spcPts val="0"/>
              </a:spcBef>
              <a:spcAft>
                <a:spcPts val="900"/>
              </a:spcAft>
            </a:pPr>
            <a:r>
              <a:rPr sz="1600" b="1">
                <a:solidFill>
                  <a:srgbClr val="C05210"/>
                </a:solidFill>
                <a:latin typeface="Calibri"/>
              </a:rPr>
              <a:t>•  </a:t>
            </a:r>
            <a:r>
              <a:rPr sz="1600" b="1">
                <a:solidFill>
                  <a:srgbClr val="1F3864"/>
                </a:solidFill>
                <a:latin typeface="Calibri"/>
              </a:rPr>
              <a:t>Representational closure:</a:t>
            </a:r>
            <a:r>
              <a:rPr sz="1600" b="0">
                <a:solidFill>
                  <a:srgbClr val="242933"/>
                </a:solidFill>
                <a:latin typeface="Calibri"/>
              </a:rPr>
              <a:t> probe the </a:t>
            </a:r>
            <a:r>
              <a:rPr sz="1600" b="1">
                <a:solidFill>
                  <a:srgbClr val="1F3864"/>
                </a:solidFill>
                <a:latin typeface="Calibri"/>
              </a:rPr>
              <a:t>encoded</a:t>
            </a:r>
            <a:r>
              <a:rPr sz="1600" b="0">
                <a:solidFill>
                  <a:srgbClr val="242933"/>
                </a:solidFill>
                <a:latin typeface="Calibri"/>
              </a:rPr>
              <a:t> latent (no rollout) for each observable at impact + 16; the question is what the unconditioned state *carries*</a:t>
            </a:r>
          </a:p>
          <a:p>
            <a:pPr algn="l">
              <a:spcBef>
                <a:spcPts val="0"/>
              </a:spcBef>
              <a:spcAft>
                <a:spcPts val="900"/>
              </a:spcAft>
            </a:pPr>
            <a:r>
              <a:rPr sz="1600" b="1">
                <a:solidFill>
                  <a:srgbClr val="C05210"/>
                </a:solidFill>
                <a:latin typeface="Calibri"/>
              </a:rPr>
              <a:t>•  </a:t>
            </a:r>
            <a:r>
              <a:rPr sz="1600" b="1">
                <a:solidFill>
                  <a:srgbClr val="1F3864"/>
                </a:solidFill>
                <a:latin typeface="Calibri"/>
              </a:rPr>
              <a:t>Wake enstrophy is the discriminator: tf-no-c R² = 0.71</a:t>
            </a:r>
            <a:r>
              <a:rPr sz="1600" b="0">
                <a:solidFill>
                  <a:srgbClr val="242933"/>
                </a:solidFill>
                <a:latin typeface="Calibri"/>
              </a:rPr>
              <a:t> (the conditioned model 0.75; reconstructive and POD far lower, 0.06 and below)</a:t>
            </a:r>
          </a:p>
          <a:p>
            <a:pPr algn="l">
              <a:spcBef>
                <a:spcPts val="0"/>
              </a:spcBef>
              <a:spcAft>
                <a:spcPts val="900"/>
              </a:spcAft>
            </a:pPr>
            <a:r>
              <a:rPr sz="1600" b="1">
                <a:solidFill>
                  <a:srgbClr val="C05210"/>
                </a:solidFill>
                <a:latin typeface="Calibri"/>
              </a:rPr>
              <a:t>•  </a:t>
            </a:r>
            <a:r>
              <a:rPr sz="1600" b="0">
                <a:solidFill>
                  <a:srgbClr val="242933"/>
                </a:solidFill>
                <a:latin typeface="Calibri"/>
              </a:rPr>
              <a:t>So the </a:t>
            </a:r>
            <a:r>
              <a:rPr sz="1600" b="1">
                <a:solidFill>
                  <a:srgbClr val="1F3864"/>
                </a:solidFill>
                <a:latin typeface="Calibri"/>
              </a:rPr>
              <a:t>unconditioned</a:t>
            </a:r>
            <a:r>
              <a:rPr sz="1600" b="0">
                <a:solidFill>
                  <a:srgbClr val="242933"/>
                </a:solidFill>
                <a:latin typeface="Calibri"/>
              </a:rPr>
              <a:t> latent (no gust parameters anywhere) </a:t>
            </a:r>
            <a:r>
              <a:rPr sz="1600" b="1">
                <a:solidFill>
                  <a:srgbClr val="1F3864"/>
                </a:solidFill>
                <a:latin typeface="Calibri"/>
              </a:rPr>
              <a:t>encodes the wake that reconstruction smooths away</a:t>
            </a:r>
          </a:p>
          <a:p>
            <a:pPr algn="l">
              <a:spcBef>
                <a:spcPts val="0"/>
              </a:spcBef>
              <a:spcAft>
                <a:spcPts val="900"/>
              </a:spcAft>
            </a:pPr>
            <a:r>
              <a:rPr sz="1600" b="1">
                <a:solidFill>
                  <a:srgbClr val="C05210"/>
                </a:solidFill>
                <a:latin typeface="Calibri"/>
              </a:rPr>
              <a:t>•  </a:t>
            </a:r>
            <a:r>
              <a:rPr sz="1600" b="0">
                <a:solidFill>
                  <a:srgbClr val="242933"/>
                </a:solidFill>
                <a:latin typeface="Calibri"/>
              </a:rPr>
              <a:t>Forces and circulations are read off cleanly too (C_L 0.88, Γ± 0.85 / 0.78, C_D 0.69)</a:t>
            </a:r>
          </a:p>
          <a:p>
            <a:pPr algn="l">
              <a:spcBef>
                <a:spcPts val="0"/>
              </a:spcBef>
              <a:spcAft>
                <a:spcPts val="900"/>
              </a:spcAft>
            </a:pPr>
            <a:r>
              <a:rPr sz="1600" b="1">
                <a:solidFill>
                  <a:srgbClr val="C05210"/>
                </a:solidFill>
                <a:latin typeface="Calibri"/>
              </a:rPr>
              <a:t>•  </a:t>
            </a:r>
            <a:r>
              <a:rPr sz="1600" b="1">
                <a:solidFill>
                  <a:srgbClr val="1F3864"/>
                </a:solidFill>
                <a:latin typeface="Calibri"/>
              </a:rPr>
              <a:t>Wake enstrophy</a:t>
            </a:r>
            <a:r>
              <a:rPr sz="1600" b="0">
                <a:solidFill>
                  <a:srgbClr val="242933"/>
                </a:solidFill>
                <a:latin typeface="Calibri"/>
              </a:rPr>
              <a:t> E_w = ∫ ω_z² over the wake (x/c ∈ [0.5, 4], |y/c| ≤ 1): the </a:t>
            </a:r>
            <a:r>
              <a:rPr sz="1600" b="1">
                <a:solidFill>
                  <a:srgbClr val="1F3864"/>
                </a:solidFill>
                <a:latin typeface="Calibri"/>
              </a:rPr>
              <a:t>intensity of the wake's rotational structures</a:t>
            </a:r>
            <a:r>
              <a:rPr sz="1600" b="0">
                <a:solidFill>
                  <a:srgbClr val="242933"/>
                </a:solidFill>
                <a:latin typeface="Calibri"/>
              </a:rPr>
              <a:t> (LEV + shed vortices) that set the future load, the part reconstruction-only states lose</a:t>
            </a:r>
          </a:p>
        </p:txBody>
      </p:sp>
      <p:pic>
        <p:nvPicPr>
          <p:cNvPr id="7" name="Picture 6" descr="repr_closure.png"/>
          <p:cNvPicPr>
            <a:picLocks noChangeAspect="1"/>
          </p:cNvPicPr>
          <p:nvPr/>
        </p:nvPicPr>
        <p:blipFill>
          <a:blip r:embed="rId2"/>
          <a:stretch>
            <a:fillRect/>
          </a:stretch>
        </p:blipFill>
        <p:spPr>
          <a:xfrm>
            <a:off x="6949440" y="1664208"/>
            <a:ext cx="4937760" cy="2023711"/>
          </a:xfrm>
          <a:prstGeom prst="rect">
            <a:avLst/>
          </a:prstGeom>
        </p:spPr>
      </p:pic>
      <p:sp>
        <p:nvSpPr>
          <p:cNvPr id="8" name="TextBox 7"/>
          <p:cNvSpPr txBox="1"/>
          <p:nvPr/>
        </p:nvSpPr>
        <p:spPr>
          <a:xfrm>
            <a:off x="6949440" y="6108192"/>
            <a:ext cx="493776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Held-out representational R² at impact + 16 from the encoded latent (test_b). Left: per observable (tf-no-c). Right: wake-enstrophy R² across families.</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RESULT, QUALITATIVE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The rolled latent qualitatively tracks the wake</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4297680" cy="4206240"/>
          </a:xfrm>
          <a:prstGeom prst="rect">
            <a:avLst/>
          </a:prstGeom>
          <a:noFill/>
        </p:spPr>
        <p:txBody>
          <a:bodyPr wrap="square" anchor="t" lIns="0" rIns="0" tIns="0" bIns="0">
            <a:spAutoFit/>
          </a:bodyPr>
          <a:lstStyle/>
          <a:p>
            <a:pPr algn="l">
              <a:spcBef>
                <a:spcPts val="0"/>
              </a:spcBef>
              <a:spcAft>
                <a:spcPts val="900"/>
              </a:spcAft>
            </a:pPr>
            <a:r>
              <a:rPr sz="1500" b="1">
                <a:solidFill>
                  <a:srgbClr val="C05210"/>
                </a:solidFill>
                <a:latin typeface="Calibri"/>
              </a:rPr>
              <a:t>•  </a:t>
            </a:r>
            <a:r>
              <a:rPr sz="1500" b="0">
                <a:solidFill>
                  <a:srgbClr val="242933"/>
                </a:solidFill>
                <a:latin typeface="Calibri"/>
              </a:rPr>
              <a:t>The predictor </a:t>
            </a:r>
            <a:r>
              <a:rPr sz="1500" b="1">
                <a:solidFill>
                  <a:srgbClr val="1F3864"/>
                </a:solidFill>
                <a:latin typeface="Calibri"/>
              </a:rPr>
              <a:t>rolls the latent forward from impact</a:t>
            </a:r>
            <a:r>
              <a:rPr sz="1500" b="0">
                <a:solidFill>
                  <a:srgbClr val="242933"/>
                </a:solidFill>
                <a:latin typeface="Calibri"/>
              </a:rPr>
              <a:t>; each scalar is read off the rolled latent by a fixed linear probe</a:t>
            </a:r>
          </a:p>
          <a:p>
            <a:pPr algn="l">
              <a:spcBef>
                <a:spcPts val="0"/>
              </a:spcBef>
              <a:spcAft>
                <a:spcPts val="900"/>
              </a:spcAft>
            </a:pPr>
            <a:r>
              <a:rPr sz="1500" b="1">
                <a:solidFill>
                  <a:srgbClr val="C05210"/>
                </a:solidFill>
                <a:latin typeface="Calibri"/>
              </a:rPr>
              <a:t>•  </a:t>
            </a:r>
            <a:r>
              <a:rPr sz="1500" b="1">
                <a:solidFill>
                  <a:srgbClr val="1F3864"/>
                </a:solidFill>
                <a:latin typeface="Calibri"/>
              </a:rPr>
              <a:t>Wake enstrophy</a:t>
            </a:r>
            <a:r>
              <a:rPr sz="1500" b="0">
                <a:solidFill>
                  <a:srgbClr val="242933"/>
                </a:solidFill>
                <a:latin typeface="Calibri"/>
              </a:rPr>
              <a:t> and </a:t>
            </a:r>
            <a:r>
              <a:rPr sz="1500" b="1">
                <a:solidFill>
                  <a:srgbClr val="1F3864"/>
                </a:solidFill>
                <a:latin typeface="Calibri"/>
              </a:rPr>
              <a:t>lift</a:t>
            </a:r>
            <a:r>
              <a:rPr sz="1500" b="0">
                <a:solidFill>
                  <a:srgbClr val="242933"/>
                </a:solidFill>
                <a:latin typeface="Calibri"/>
              </a:rPr>
              <a:t> qualitatively track the DNS truth (black) through impact and the lift dip</a:t>
            </a:r>
          </a:p>
          <a:p>
            <a:pPr algn="l">
              <a:spcBef>
                <a:spcPts val="0"/>
              </a:spcBef>
              <a:spcAft>
                <a:spcPts val="900"/>
              </a:spcAft>
            </a:pPr>
            <a:r>
              <a:rPr sz="1500" b="1">
                <a:solidFill>
                  <a:srgbClr val="C05210"/>
                </a:solidFill>
                <a:latin typeface="Calibri"/>
              </a:rPr>
              <a:t>•  </a:t>
            </a:r>
            <a:r>
              <a:rPr sz="1500" b="1">
                <a:solidFill>
                  <a:srgbClr val="1F3864"/>
                </a:solidFill>
                <a:latin typeface="Calibri"/>
              </a:rPr>
              <a:t>Green = reconstruction</a:t>
            </a:r>
            <a:r>
              <a:rPr sz="1500" b="0">
                <a:solidFill>
                  <a:srgbClr val="242933"/>
                </a:solidFill>
                <a:latin typeface="Calibri"/>
              </a:rPr>
              <a:t> = the model's </a:t>
            </a:r>
            <a:r>
              <a:rPr sz="1500" b="1">
                <a:solidFill>
                  <a:srgbClr val="1F3864"/>
                </a:solidFill>
                <a:latin typeface="Calibri"/>
              </a:rPr>
              <a:t>own encoded latent decoded with NO rollout</a:t>
            </a:r>
            <a:r>
              <a:rPr sz="1500" b="0">
                <a:solidFill>
                  <a:srgbClr val="242933"/>
                </a:solidFill>
                <a:latin typeface="Calibri"/>
              </a:rPr>
              <a:t> (encode-then-decode of the true frame, the representational </a:t>
            </a:r>
            <a:r>
              <a:rPr sz="1500" b="1">
                <a:solidFill>
                  <a:srgbClr val="1F3864"/>
                </a:solidFill>
                <a:latin typeface="Calibri"/>
              </a:rPr>
              <a:t>ceiling</a:t>
            </a:r>
            <a:r>
              <a:rPr sz="1500" b="0">
                <a:solidFill>
                  <a:srgbClr val="242933"/>
                </a:solidFill>
                <a:latin typeface="Calibri"/>
              </a:rPr>
              <a:t>); it is </a:t>
            </a:r>
            <a:r>
              <a:rPr sz="1500" b="1">
                <a:solidFill>
                  <a:srgbClr val="1F3864"/>
                </a:solidFill>
                <a:latin typeface="Calibri"/>
              </a:rPr>
              <a:t>not</a:t>
            </a:r>
            <a:r>
              <a:rPr sz="1500" b="0">
                <a:solidFill>
                  <a:srgbClr val="242933"/>
                </a:solidFill>
                <a:latin typeface="Calibri"/>
              </a:rPr>
              <a:t> a separate reconstructive autoencoder</a:t>
            </a:r>
          </a:p>
          <a:p>
            <a:pPr algn="l">
              <a:spcBef>
                <a:spcPts val="0"/>
              </a:spcBef>
              <a:spcAft>
                <a:spcPts val="900"/>
              </a:spcAft>
            </a:pPr>
            <a:r>
              <a:rPr sz="1500" b="1">
                <a:solidFill>
                  <a:srgbClr val="C05210"/>
                </a:solidFill>
                <a:latin typeface="Calibri"/>
              </a:rPr>
              <a:t>•  </a:t>
            </a:r>
            <a:r>
              <a:rPr sz="1500" b="1">
                <a:solidFill>
                  <a:srgbClr val="1F3864"/>
                </a:solidFill>
                <a:latin typeface="Calibri"/>
              </a:rPr>
              <a:t>Orange = prediction</a:t>
            </a:r>
            <a:r>
              <a:rPr sz="1500" b="0">
                <a:solidFill>
                  <a:srgbClr val="242933"/>
                </a:solidFill>
                <a:latin typeface="Calibri"/>
              </a:rPr>
              <a:t> = the </a:t>
            </a:r>
            <a:r>
              <a:rPr sz="1500" b="1">
                <a:solidFill>
                  <a:srgbClr val="1F3864"/>
                </a:solidFill>
                <a:latin typeface="Calibri"/>
              </a:rPr>
              <a:t>rolled latent</a:t>
            </a:r>
            <a:r>
              <a:rPr sz="1500" b="0">
                <a:solidFill>
                  <a:srgbClr val="242933"/>
                </a:solidFill>
                <a:latin typeface="Calibri"/>
              </a:rPr>
              <a:t> (the predictor advanced forward, then decoded)</a:t>
            </a:r>
          </a:p>
          <a:p>
            <a:pPr algn="l">
              <a:spcBef>
                <a:spcPts val="0"/>
              </a:spcBef>
              <a:spcAft>
                <a:spcPts val="900"/>
              </a:spcAft>
            </a:pPr>
            <a:r>
              <a:rPr sz="1500" b="1">
                <a:solidFill>
                  <a:srgbClr val="C05210"/>
                </a:solidFill>
                <a:latin typeface="Calibri"/>
              </a:rPr>
              <a:t>•  </a:t>
            </a:r>
            <a:r>
              <a:rPr sz="1500" b="0">
                <a:solidFill>
                  <a:srgbClr val="242933"/>
                </a:solidFill>
                <a:latin typeface="Calibri"/>
              </a:rPr>
              <a:t>A representative </a:t>
            </a:r>
            <a:r>
              <a:rPr sz="1500" b="1">
                <a:solidFill>
                  <a:srgbClr val="1F3864"/>
                </a:solidFill>
                <a:latin typeface="Calibri"/>
              </a:rPr>
              <a:t>low-error</a:t>
            </a:r>
            <a:r>
              <a:rPr sz="1500" b="0">
                <a:solidFill>
                  <a:srgbClr val="242933"/>
                </a:solidFill>
                <a:latin typeface="Calibri"/>
              </a:rPr>
              <a:t> encounter (G = +1.5), not the hardest case; shown qualitatively, no closure R² claimed here</a:t>
            </a:r>
          </a:p>
        </p:txBody>
      </p:sp>
      <p:pic>
        <p:nvPicPr>
          <p:cNvPr id="7" name="forecast_anim.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212080" y="1600200"/>
            <a:ext cx="6309360" cy="4553712"/>
          </a:xfrm>
          <a:prstGeom prst="rect">
            <a:avLst/>
          </a:prstGeom>
        </p:spPr>
      </p:pic>
      <p:sp>
        <p:nvSpPr>
          <p:cNvPr id="8" name="TextBox 7"/>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9" name="TextBox 8"/>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15</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RESULT, PHYSICAL SPACE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The same rollout in physical space</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457200"/>
          </a:xfrm>
          <a:prstGeom prst="rect">
            <a:avLst/>
          </a:prstGeom>
          <a:noFill/>
        </p:spPr>
        <p:txBody>
          <a:bodyPr wrap="square" anchor="t" lIns="0" rIns="0" tIns="0" bIns="0">
            <a:spAutoFit/>
          </a:bodyPr>
          <a:lstStyle/>
          <a:p>
            <a:pPr algn="l">
              <a:spcBef>
                <a:spcPts val="0"/>
              </a:spcBef>
              <a:spcAft>
                <a:spcPts val="600"/>
              </a:spcAft>
            </a:pPr>
            <a:r>
              <a:rPr sz="1700" b="0">
                <a:solidFill>
                  <a:srgbClr val="242933"/>
                </a:solidFill>
                <a:latin typeface="Calibri"/>
              </a:rPr>
              <a:t>Decode the rolled latent every frame: the rolled latent qualitatively tracks the wake as full vorticity fields, not just scalars.</a:t>
            </a:r>
          </a:p>
        </p:txBody>
      </p:sp>
      <p:pic>
        <p:nvPicPr>
          <p:cNvPr id="7" name="field_anim.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777240" y="2057400"/>
            <a:ext cx="10607040" cy="2798064"/>
          </a:xfrm>
          <a:prstGeom prst="rect">
            <a:avLst/>
          </a:prstGeom>
        </p:spPr>
      </p:pic>
      <p:sp>
        <p:nvSpPr>
          <p:cNvPr id="8" name="TextBox 7"/>
          <p:cNvSpPr txBox="1"/>
          <p:nvPr/>
        </p:nvSpPr>
        <p:spPr>
          <a:xfrm>
            <a:off x="777240" y="5029200"/>
            <a:ext cx="1060704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DNS truth vs reconstruction (JEPA encode→decode of the latent) vs prediction (rolled latent), G = +1.5. At impact (H = 0) prediction = reconstruction; they diverge with horizon. SSIM(prediction) 0.75 at impact, 0.63 at H = 16. The latent keeps the LEV and shear layer; fine-scale wake is not retained at d = 64.</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16</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RESULT</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It is the wake, not the forces</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263640" cy="4572000"/>
          </a:xfrm>
          <a:prstGeom prst="rect">
            <a:avLst/>
          </a:prstGeom>
          <a:noFill/>
        </p:spPr>
        <p:txBody>
          <a:bodyPr wrap="square" anchor="t" lIns="0" rIns="0" tIns="0" bIns="0">
            <a:spAutoFit/>
          </a:bodyPr>
          <a:lstStyle/>
          <a:p>
            <a:pPr algn="l">
              <a:spcBef>
                <a:spcPts val="0"/>
              </a:spcBef>
              <a:spcAft>
                <a:spcPts val="900"/>
              </a:spcAft>
            </a:pPr>
            <a:r>
              <a:rPr sz="1700" b="1">
                <a:solidFill>
                  <a:srgbClr val="C05210"/>
                </a:solidFill>
                <a:latin typeface="Calibri"/>
              </a:rPr>
              <a:t>•  </a:t>
            </a:r>
            <a:r>
              <a:rPr sz="1700" b="0">
                <a:solidFill>
                  <a:srgbClr val="242933"/>
                </a:solidFill>
                <a:latin typeface="Calibri"/>
              </a:rPr>
              <a:t>Each bar is </a:t>
            </a:r>
            <a:r>
              <a:rPr sz="1700" b="1">
                <a:solidFill>
                  <a:srgbClr val="1F3864"/>
                </a:solidFill>
                <a:latin typeface="Calibri"/>
              </a:rPr>
              <a:t>how well the future wake is forecast</a:t>
            </a:r>
            <a:r>
              <a:rPr sz="1700" b="0">
                <a:solidFill>
                  <a:srgbClr val="242933"/>
                </a:solidFill>
                <a:latin typeface="Calibri"/>
              </a:rPr>
              <a:t>: </a:t>
            </a:r>
            <a:r>
              <a:rPr sz="1700" b="1">
                <a:solidFill>
                  <a:srgbClr val="1F3864"/>
                </a:solidFill>
                <a:latin typeface="Calibri"/>
              </a:rPr>
              <a:t>dark = the full latent</a:t>
            </a:r>
            <a:r>
              <a:rPr sz="1700" b="0">
                <a:solidFill>
                  <a:srgbClr val="242933"/>
                </a:solidFill>
                <a:latin typeface="Calibri"/>
              </a:rPr>
              <a:t> (all 64 coordinates together), </a:t>
            </a:r>
            <a:r>
              <a:rPr sz="1700" b="1">
                <a:solidFill>
                  <a:srgbClr val="1F3864"/>
                </a:solidFill>
                <a:latin typeface="Calibri"/>
              </a:rPr>
              <a:t>light = the single best coordinate</a:t>
            </a:r>
          </a:p>
          <a:p>
            <a:pPr algn="l">
              <a:spcBef>
                <a:spcPts val="0"/>
              </a:spcBef>
              <a:spcAft>
                <a:spcPts val="900"/>
              </a:spcAft>
            </a:pPr>
            <a:r>
              <a:rPr sz="1700" b="1">
                <a:solidFill>
                  <a:srgbClr val="C05210"/>
                </a:solidFill>
                <a:latin typeface="Calibri"/>
              </a:rPr>
              <a:t>•  </a:t>
            </a:r>
            <a:r>
              <a:rPr sz="1700" b="1">
                <a:solidFill>
                  <a:srgbClr val="1F3864"/>
                </a:solidFill>
                <a:latin typeface="Calibri"/>
              </a:rPr>
              <a:t>Predictive JEPA:</a:t>
            </a:r>
            <a:r>
              <a:rPr sz="1700" b="0">
                <a:solidFill>
                  <a:srgbClr val="242933"/>
                </a:solidFill>
                <a:latin typeface="Calibri"/>
              </a:rPr>
              <a:t> the full latent (</a:t>
            </a:r>
            <a:r>
              <a:rPr sz="1700" b="1">
                <a:solidFill>
                  <a:srgbClr val="1F3864"/>
                </a:solidFill>
                <a:latin typeface="Calibri"/>
              </a:rPr>
              <a:t>0.84</a:t>
            </a:r>
            <a:r>
              <a:rPr sz="1700" b="0">
                <a:solidFill>
                  <a:srgbClr val="242933"/>
                </a:solidFill>
                <a:latin typeface="Calibri"/>
              </a:rPr>
              <a:t>) far exceeds the best single coordinate (</a:t>
            </a:r>
            <a:r>
              <a:rPr sz="1700" b="1">
                <a:solidFill>
                  <a:srgbClr val="1F3864"/>
                </a:solidFill>
                <a:latin typeface="Calibri"/>
              </a:rPr>
              <a:t>0.48</a:t>
            </a:r>
            <a:r>
              <a:rPr sz="1700" b="0">
                <a:solidFill>
                  <a:srgbClr val="242933"/>
                </a:solidFill>
                <a:latin typeface="Calibri"/>
              </a:rPr>
              <a:t>) → the wake is a </a:t>
            </a:r>
            <a:r>
              <a:rPr sz="1700" b="1">
                <a:solidFill>
                  <a:srgbClr val="1F3864"/>
                </a:solidFill>
                <a:latin typeface="Calibri"/>
              </a:rPr>
              <a:t>distributed code spread across many coordinates</a:t>
            </a:r>
          </a:p>
          <a:p>
            <a:pPr algn="l">
              <a:spcBef>
                <a:spcPts val="0"/>
              </a:spcBef>
              <a:spcAft>
                <a:spcPts val="900"/>
              </a:spcAft>
            </a:pPr>
            <a:r>
              <a:rPr sz="1700" b="1">
                <a:solidFill>
                  <a:srgbClr val="C05210"/>
                </a:solidFill>
                <a:latin typeface="Calibri"/>
              </a:rPr>
              <a:t>•  </a:t>
            </a:r>
            <a:r>
              <a:rPr sz="1700" b="1">
                <a:solidFill>
                  <a:srgbClr val="1F3864"/>
                </a:solidFill>
                <a:latin typeface="Calibri"/>
              </a:rPr>
              <a:t>Reconstructive / POD:</a:t>
            </a:r>
            <a:r>
              <a:rPr sz="1700" b="0">
                <a:solidFill>
                  <a:srgbClr val="242933"/>
                </a:solidFill>
                <a:latin typeface="Calibri"/>
              </a:rPr>
              <a:t> the best single coordinate is </a:t>
            </a:r>
            <a:r>
              <a:rPr sz="1700" b="1">
                <a:solidFill>
                  <a:srgbClr val="1F3864"/>
                </a:solidFill>
                <a:latin typeface="Calibri"/>
              </a:rPr>
              <a:t>already as good as the whole latent</a:t>
            </a:r>
            <a:r>
              <a:rPr sz="1700" b="0">
                <a:solidFill>
                  <a:srgbClr val="242933"/>
                </a:solidFill>
                <a:latin typeface="Calibri"/>
              </a:rPr>
              <a:t> → there is </a:t>
            </a:r>
            <a:r>
              <a:rPr sz="1700" b="1">
                <a:solidFill>
                  <a:srgbClr val="1F3864"/>
                </a:solidFill>
                <a:latin typeface="Calibri"/>
              </a:rPr>
              <a:t>no distributed / collective wake code</a:t>
            </a:r>
            <a:r>
              <a:rPr sz="1700" b="0">
                <a:solidFill>
                  <a:srgbClr val="242933"/>
                </a:solidFill>
                <a:latin typeface="Calibri"/>
              </a:rPr>
              <a:t> to find</a:t>
            </a:r>
          </a:p>
          <a:p>
            <a:pPr algn="l">
              <a:spcBef>
                <a:spcPts val="0"/>
              </a:spcBef>
              <a:spcAft>
                <a:spcPts val="900"/>
              </a:spcAft>
            </a:pPr>
            <a:r>
              <a:rPr sz="1700" b="1">
                <a:solidFill>
                  <a:srgbClr val="C05210"/>
                </a:solidFill>
                <a:latin typeface="Calibri"/>
              </a:rPr>
              <a:t>•  </a:t>
            </a:r>
            <a:r>
              <a:rPr sz="1700" b="1">
                <a:solidFill>
                  <a:srgbClr val="1F3864"/>
                </a:solidFill>
                <a:latin typeface="Calibri"/>
              </a:rPr>
              <a:t>Forces</a:t>
            </a:r>
            <a:r>
              <a:rPr sz="1700" b="0">
                <a:solidFill>
                  <a:srgbClr val="242933"/>
                </a:solidFill>
                <a:latin typeface="Calibri"/>
              </a:rPr>
              <a:t> (C_L, C_D), by contrast, are carried </a:t>
            </a:r>
            <a:r>
              <a:rPr sz="1700" b="1">
                <a:solidFill>
                  <a:srgbClr val="1F3864"/>
                </a:solidFill>
                <a:latin typeface="Calibri"/>
              </a:rPr>
              <a:t>redundantly by every family</a:t>
            </a:r>
            <a:r>
              <a:rPr sz="1700" b="0">
                <a:solidFill>
                  <a:srgbClr val="242933"/>
                </a:solidFill>
                <a:latin typeface="Calibri"/>
              </a:rPr>
              <a:t>, in a single coordinate</a:t>
            </a:r>
          </a:p>
          <a:p>
            <a:pPr algn="l">
              <a:spcBef>
                <a:spcPts val="0"/>
              </a:spcBef>
              <a:spcAft>
                <a:spcPts val="900"/>
              </a:spcAft>
            </a:pPr>
            <a:r>
              <a:rPr sz="1700" b="1">
                <a:solidFill>
                  <a:srgbClr val="C05210"/>
                </a:solidFill>
                <a:latin typeface="Calibri"/>
              </a:rPr>
              <a:t>•  </a:t>
            </a:r>
            <a:r>
              <a:rPr sz="1700" b="0">
                <a:solidFill>
                  <a:srgbClr val="242933"/>
                </a:solidFill>
                <a:latin typeface="Calibri"/>
              </a:rPr>
              <a:t>And it clears the </a:t>
            </a:r>
            <a:r>
              <a:rPr sz="1700" b="1">
                <a:solidFill>
                  <a:srgbClr val="1F3864"/>
                </a:solidFill>
                <a:latin typeface="Calibri"/>
              </a:rPr>
              <a:t>parameter-only floor</a:t>
            </a:r>
            <a:r>
              <a:rPr sz="1700" b="0">
                <a:solidFill>
                  <a:srgbClr val="242933"/>
                </a:solidFill>
                <a:latin typeface="Calibri"/>
              </a:rPr>
              <a:t> → the latent, not the parameters, does the work</a:t>
            </a:r>
          </a:p>
        </p:txBody>
      </p:sp>
      <p:pic>
        <p:nvPicPr>
          <p:cNvPr id="7" name="Picture 6" descr="wake_code.png"/>
          <p:cNvPicPr>
            <a:picLocks noChangeAspect="1"/>
          </p:cNvPicPr>
          <p:nvPr/>
        </p:nvPicPr>
        <p:blipFill>
          <a:blip r:embed="rId2"/>
          <a:stretch>
            <a:fillRect/>
          </a:stretch>
        </p:blipFill>
        <p:spPr>
          <a:xfrm>
            <a:off x="7040880" y="1664208"/>
            <a:ext cx="4754880" cy="3245506"/>
          </a:xfrm>
          <a:prstGeom prst="rect">
            <a:avLst/>
          </a:prstGeom>
        </p:spPr>
      </p:pic>
      <p:sp>
        <p:nvSpPr>
          <p:cNvPr id="8" name="TextBox 7"/>
          <p:cNvSpPr txBox="1"/>
          <p:nvPr/>
        </p:nvSpPr>
        <p:spPr>
          <a:xfrm>
            <a:off x="7040880" y="6108192"/>
            <a:ext cx="47548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Future-wake skill: full latent (dark, all 64 coordinates) vs the single best coordinate (light). Predictive = distributed code; reconstructive / POD = one coordinate suffices.</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RESULT</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The wake in physical space: the Gaussian scale split</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263640" cy="4572000"/>
          </a:xfrm>
          <a:prstGeom prst="rect">
            <a:avLst/>
          </a:prstGeom>
          <a:noFill/>
        </p:spPr>
        <p:txBody>
          <a:bodyPr wrap="square" anchor="t" lIns="0" rIns="0" tIns="0" bIns="0">
            <a:spAutoFit/>
          </a:bodyPr>
          <a:lstStyle/>
          <a:p>
            <a:pPr algn="l">
              <a:spcBef>
                <a:spcPts val="0"/>
              </a:spcBef>
              <a:spcAft>
                <a:spcPts val="900"/>
              </a:spcAft>
            </a:pPr>
            <a:r>
              <a:rPr sz="1400" b="1">
                <a:solidFill>
                  <a:srgbClr val="C05210"/>
                </a:solidFill>
                <a:latin typeface="Calibri"/>
              </a:rPr>
              <a:t>•  </a:t>
            </a:r>
            <a:r>
              <a:rPr sz="1400" b="1">
                <a:solidFill>
                  <a:srgbClr val="1F3864"/>
                </a:solidFill>
                <a:latin typeface="Calibri"/>
              </a:rPr>
              <a:t>Gaussian scale split</a:t>
            </a:r>
            <a:r>
              <a:rPr sz="1400" b="0">
                <a:solidFill>
                  <a:srgbClr val="242933"/>
                </a:solidFill>
                <a:latin typeface="Calibri"/>
              </a:rPr>
              <a:t> (Motoori &amp; Goto 2019): low-pass the vorticity at σ/c = 0.05 into a </a:t>
            </a:r>
            <a:r>
              <a:rPr sz="1400" b="1">
                <a:solidFill>
                  <a:srgbClr val="1F3864"/>
                </a:solidFill>
                <a:latin typeface="Calibri"/>
              </a:rPr>
              <a:t>large-scale</a:t>
            </a:r>
            <a:r>
              <a:rPr sz="1400" b="0">
                <a:solidFill>
                  <a:srgbClr val="242933"/>
                </a:solidFill>
                <a:latin typeface="Calibri"/>
              </a:rPr>
              <a:t> part (LEV + shear layer, carries the lift) and a fine part</a:t>
            </a:r>
          </a:p>
          <a:p>
            <a:pPr algn="l">
              <a:spcBef>
                <a:spcPts val="0"/>
              </a:spcBef>
              <a:spcAft>
                <a:spcPts val="900"/>
              </a:spcAft>
            </a:pPr>
            <a:r>
              <a:rPr sz="1400" b="1">
                <a:solidFill>
                  <a:srgbClr val="C05210"/>
                </a:solidFill>
                <a:latin typeface="Calibri"/>
              </a:rPr>
              <a:t>•  </a:t>
            </a:r>
            <a:r>
              <a:rPr sz="1400" b="0">
                <a:solidFill>
                  <a:srgbClr val="242933"/>
                </a:solidFill>
                <a:latin typeface="Calibri"/>
              </a:rPr>
              <a:t>Top: large-scale vorticity at impact+16 for the strongest test gust (G = -3, D = 1.5, Y = -0.1), simulation vs the </a:t>
            </a:r>
            <a:r>
              <a:rPr sz="1400" b="1">
                <a:solidFill>
                  <a:srgbClr val="1F3864"/>
                </a:solidFill>
                <a:latin typeface="Calibri"/>
              </a:rPr>
              <a:t>predictive</a:t>
            </a:r>
            <a:r>
              <a:rPr sz="1400" b="0">
                <a:solidFill>
                  <a:srgbClr val="242933"/>
                </a:solidFill>
                <a:latin typeface="Calibri"/>
              </a:rPr>
              <a:t> and </a:t>
            </a:r>
            <a:r>
              <a:rPr sz="1400" b="1">
                <a:solidFill>
                  <a:srgbClr val="1F3864"/>
                </a:solidFill>
                <a:latin typeface="Calibri"/>
              </a:rPr>
              <a:t>reconstructive</a:t>
            </a:r>
            <a:r>
              <a:rPr sz="1400" b="0">
                <a:solidFill>
                  <a:srgbClr val="242933"/>
                </a:solidFill>
                <a:latin typeface="Calibri"/>
              </a:rPr>
              <a:t> encode-then-decode reconstructions: predictive keeps the LEV/wake, reconstructive smooths it</a:t>
            </a:r>
          </a:p>
          <a:p>
            <a:pPr algn="l">
              <a:spcBef>
                <a:spcPts val="0"/>
              </a:spcBef>
              <a:spcAft>
                <a:spcPts val="900"/>
              </a:spcAft>
            </a:pPr>
            <a:r>
              <a:rPr sz="1400" b="1">
                <a:solidFill>
                  <a:srgbClr val="C05210"/>
                </a:solidFill>
                <a:latin typeface="Calibri"/>
              </a:rPr>
              <a:t>•  </a:t>
            </a:r>
            <a:r>
              <a:rPr sz="1400" b="0">
                <a:solidFill>
                  <a:srgbClr val="242933"/>
                </a:solidFill>
                <a:latin typeface="Calibri"/>
              </a:rPr>
              <a:t>Bottom: the </a:t>
            </a:r>
            <a:r>
              <a:rPr sz="1400" b="1">
                <a:solidFill>
                  <a:srgbClr val="1F3864"/>
                </a:solidFill>
                <a:latin typeface="Calibri"/>
              </a:rPr>
              <a:t>large-scale wake enstrophy</a:t>
            </a:r>
            <a:r>
              <a:rPr sz="1400" b="0">
                <a:solidFill>
                  <a:srgbClr val="242933"/>
                </a:solidFill>
                <a:latin typeface="Calibri"/>
              </a:rPr>
              <a:t> through the encounter; bands = mean ± 1 s.d. across test_b encounters</a:t>
            </a:r>
          </a:p>
          <a:p>
            <a:pPr algn="l">
              <a:spcBef>
                <a:spcPts val="0"/>
              </a:spcBef>
              <a:spcAft>
                <a:spcPts val="900"/>
              </a:spcAft>
            </a:pPr>
            <a:r>
              <a:rPr sz="1400" b="1">
                <a:solidFill>
                  <a:srgbClr val="C05210"/>
                </a:solidFill>
                <a:latin typeface="Calibri"/>
              </a:rPr>
              <a:t>•  </a:t>
            </a:r>
            <a:r>
              <a:rPr sz="1400" b="0">
                <a:solidFill>
                  <a:srgbClr val="242933"/>
                </a:solidFill>
                <a:latin typeface="Calibri"/>
              </a:rPr>
              <a:t>So 'it is the wake' is visible in </a:t>
            </a:r>
            <a:r>
              <a:rPr sz="1400" b="1">
                <a:solidFill>
                  <a:srgbClr val="1F3864"/>
                </a:solidFill>
                <a:latin typeface="Calibri"/>
              </a:rPr>
              <a:t>physical space</a:t>
            </a:r>
            <a:r>
              <a:rPr sz="1400" b="0">
                <a:solidFill>
                  <a:srgbClr val="242933"/>
                </a:solidFill>
                <a:latin typeface="Calibri"/>
              </a:rPr>
              <a:t>, not only in the scalar closure</a:t>
            </a:r>
          </a:p>
        </p:txBody>
      </p:sp>
      <p:pic>
        <p:nvPicPr>
          <p:cNvPr id="7" name="Picture 6" descr="scale_decomp.png"/>
          <p:cNvPicPr>
            <a:picLocks noChangeAspect="1"/>
          </p:cNvPicPr>
          <p:nvPr/>
        </p:nvPicPr>
        <p:blipFill>
          <a:blip r:embed="rId2"/>
          <a:stretch>
            <a:fillRect/>
          </a:stretch>
        </p:blipFill>
        <p:spPr>
          <a:xfrm>
            <a:off x="7040880" y="1664208"/>
            <a:ext cx="4754880" cy="3089871"/>
          </a:xfrm>
          <a:prstGeom prst="rect">
            <a:avLst/>
          </a:prstGeom>
        </p:spPr>
      </p:pic>
      <p:sp>
        <p:nvSpPr>
          <p:cNvPr id="8" name="TextBox 7"/>
          <p:cNvSpPr txBox="1"/>
          <p:nvPr/>
        </p:nvSpPr>
        <p:spPr>
          <a:xfrm>
            <a:off x="7040880" y="6108192"/>
            <a:ext cx="47548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Large-scale (σ/c = 0.05) wake vorticity at impact+16 (top) and large-scale wake enstrophy vs frame (bottom), by family.</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RESULT</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Latent coordinates group by physical function</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5257800" cy="4572000"/>
          </a:xfrm>
          <a:prstGeom prst="rect">
            <a:avLst/>
          </a:prstGeom>
          <a:noFill/>
        </p:spPr>
        <p:txBody>
          <a:bodyPr wrap="square" anchor="t" lIns="0" rIns="0" tIns="0" bIns="0">
            <a:spAutoFit/>
          </a:bodyPr>
          <a:lstStyle/>
          <a:p>
            <a:pPr algn="l">
              <a:spcBef>
                <a:spcPts val="0"/>
              </a:spcBef>
              <a:spcAft>
                <a:spcPts val="900"/>
              </a:spcAft>
            </a:pPr>
            <a:r>
              <a:rPr sz="1500" b="1">
                <a:solidFill>
                  <a:srgbClr val="C05210"/>
                </a:solidFill>
                <a:latin typeface="Calibri"/>
              </a:rPr>
              <a:t>•  </a:t>
            </a:r>
            <a:r>
              <a:rPr sz="1500" b="0">
                <a:solidFill>
                  <a:srgbClr val="242933"/>
                </a:solidFill>
                <a:latin typeface="Calibri"/>
              </a:rPr>
              <a:t>Profile each of the 64 unconditioned-latent coordinates by its |Spearman| correlation with nine descriptors (gust G, forces, wake enstrophy, circulations Γ±, wake thickness, centroid)</a:t>
            </a:r>
          </a:p>
          <a:p>
            <a:pPr algn="l">
              <a:spcBef>
                <a:spcPts val="0"/>
              </a:spcBef>
              <a:spcAft>
                <a:spcPts val="900"/>
              </a:spcAft>
            </a:pPr>
            <a:r>
              <a:rPr sz="1500" b="1">
                <a:solidFill>
                  <a:srgbClr val="C05210"/>
                </a:solidFill>
                <a:latin typeface="Calibri"/>
              </a:rPr>
              <a:t>•  </a:t>
            </a:r>
            <a:r>
              <a:rPr sz="1500" b="0">
                <a:solidFill>
                  <a:srgbClr val="242933"/>
                </a:solidFill>
                <a:latin typeface="Calibri"/>
              </a:rPr>
              <a:t>Clustering the profiles recovers </a:t>
            </a:r>
            <a:r>
              <a:rPr sz="1500" b="1">
                <a:solidFill>
                  <a:srgbClr val="1F3864"/>
                </a:solidFill>
                <a:latin typeface="Calibri"/>
              </a:rPr>
              <a:t>functional groups</a:t>
            </a:r>
            <a:r>
              <a:rPr sz="1500" b="0">
                <a:solidFill>
                  <a:srgbClr val="242933"/>
                </a:solidFill>
                <a:latin typeface="Calibri"/>
              </a:rPr>
              <a:t>: </a:t>
            </a:r>
            <a:r>
              <a:rPr sz="1500" b="1">
                <a:solidFill>
                  <a:srgbClr val="1F3864"/>
                </a:solidFill>
                <a:latin typeface="Calibri"/>
              </a:rPr>
              <a:t>~51 wake-vorticity</a:t>
            </a:r>
            <a:r>
              <a:rPr sz="1500" b="0">
                <a:solidFill>
                  <a:srgbClr val="242933"/>
                </a:solidFill>
                <a:latin typeface="Calibri"/>
              </a:rPr>
              <a:t> coordinates (three wake-dominated clusters) and </a:t>
            </a:r>
            <a:r>
              <a:rPr sz="1500" b="1">
                <a:solidFill>
                  <a:srgbClr val="1F3864"/>
                </a:solidFill>
                <a:latin typeface="Calibri"/>
              </a:rPr>
              <a:t>11 gust-forcing</a:t>
            </a:r>
            <a:r>
              <a:rPr sz="1500" b="0">
                <a:solidFill>
                  <a:srgbClr val="242933"/>
                </a:solidFill>
                <a:latin typeface="Calibri"/>
              </a:rPr>
              <a:t> coordinates (one force cluster)</a:t>
            </a:r>
          </a:p>
          <a:p>
            <a:pPr algn="l">
              <a:spcBef>
                <a:spcPts val="0"/>
              </a:spcBef>
              <a:spcAft>
                <a:spcPts val="900"/>
              </a:spcAft>
            </a:pPr>
            <a:r>
              <a:rPr sz="1500" b="1">
                <a:solidFill>
                  <a:srgbClr val="C05210"/>
                </a:solidFill>
                <a:latin typeface="Calibri"/>
              </a:rPr>
              <a:t>•  </a:t>
            </a:r>
            <a:r>
              <a:rPr sz="1500" b="0">
                <a:solidFill>
                  <a:srgbClr val="242933"/>
                </a:solidFill>
                <a:latin typeface="Calibri"/>
              </a:rPr>
              <a:t>Alone, the wake groups carry the wake at </a:t>
            </a:r>
            <a:r>
              <a:rPr sz="1500" b="1">
                <a:solidFill>
                  <a:srgbClr val="1F3864"/>
                </a:solidFill>
                <a:latin typeface="Calibri"/>
              </a:rPr>
              <a:t>≈ 0.7-0.8</a:t>
            </a:r>
            <a:r>
              <a:rPr sz="1500" b="0">
                <a:solidFill>
                  <a:srgbClr val="242933"/>
                </a:solidFill>
                <a:latin typeface="Calibri"/>
              </a:rPr>
              <a:t>, the forcing group at </a:t>
            </a:r>
            <a:r>
              <a:rPr sz="1500" b="1">
                <a:solidFill>
                  <a:srgbClr val="1F3864"/>
                </a:solidFill>
                <a:latin typeface="Calibri"/>
              </a:rPr>
              <a:t>0.45</a:t>
            </a:r>
            <a:r>
              <a:rPr sz="1500" b="0">
                <a:solidFill>
                  <a:srgbClr val="242933"/>
                </a:solidFill>
                <a:latin typeface="Calibri"/>
              </a:rPr>
              <a:t> (all 64 together: 0.84), the collective wake code seen earlier</a:t>
            </a:r>
          </a:p>
          <a:p>
            <a:pPr algn="l">
              <a:spcBef>
                <a:spcPts val="0"/>
              </a:spcBef>
              <a:spcAft>
                <a:spcPts val="900"/>
              </a:spcAft>
            </a:pPr>
            <a:r>
              <a:rPr sz="1500" b="1">
                <a:solidFill>
                  <a:srgbClr val="C05210"/>
                </a:solidFill>
                <a:latin typeface="Calibri"/>
              </a:rPr>
              <a:t>•  </a:t>
            </a:r>
            <a:r>
              <a:rPr sz="1500" b="0">
                <a:solidFill>
                  <a:srgbClr val="242933"/>
                </a:solidFill>
                <a:latin typeface="Calibri"/>
              </a:rPr>
              <a:t>Read </a:t>
            </a:r>
            <a:r>
              <a:rPr sz="1500" b="1">
                <a:solidFill>
                  <a:srgbClr val="1F3864"/>
                </a:solidFill>
                <a:latin typeface="Calibri"/>
              </a:rPr>
              <a:t>descriptively</a:t>
            </a:r>
            <a:r>
              <a:rPr sz="1500" b="0">
                <a:solidFill>
                  <a:srgbClr val="242933"/>
                </a:solidFill>
                <a:latin typeface="Calibri"/>
              </a:rPr>
              <a:t>, not as a causal claim</a:t>
            </a:r>
          </a:p>
        </p:txBody>
      </p:sp>
      <p:pic>
        <p:nvPicPr>
          <p:cNvPr id="7" name="Picture 6" descr="coord_groups.png"/>
          <p:cNvPicPr>
            <a:picLocks noChangeAspect="1"/>
          </p:cNvPicPr>
          <p:nvPr/>
        </p:nvPicPr>
        <p:blipFill>
          <a:blip r:embed="rId2"/>
          <a:stretch>
            <a:fillRect/>
          </a:stretch>
        </p:blipFill>
        <p:spPr>
          <a:xfrm>
            <a:off x="6035040" y="1664208"/>
            <a:ext cx="5852160" cy="4184085"/>
          </a:xfrm>
          <a:prstGeom prst="rect">
            <a:avLst/>
          </a:prstGeom>
        </p:spPr>
      </p:pic>
      <p:sp>
        <p:nvSpPr>
          <p:cNvPr id="8" name="TextBox 7"/>
          <p:cNvSpPr txBox="1"/>
          <p:nvPr/>
        </p:nvSpPr>
        <p:spPr>
          <a:xfrm>
            <a:off x="6035040" y="6108192"/>
            <a:ext cx="585216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Per-coordinate |ρ| with each descriptor; rows grouped into functional clusters (G1-G4), labelled with coord count and held-out wake skill.</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RESULT, CONTROLS (CONDITIONED-MODEL CONTROL)</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Controls: objective and supervision, not architecture</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263640" cy="4572000"/>
          </a:xfrm>
          <a:prstGeom prst="rect">
            <a:avLst/>
          </a:prstGeom>
          <a:noFill/>
        </p:spPr>
        <p:txBody>
          <a:bodyPr wrap="square" anchor="t" lIns="0" rIns="0" tIns="0" bIns="0">
            <a:spAutoFit/>
          </a:bodyPr>
          <a:lstStyle/>
          <a:p>
            <a:pPr algn="l">
              <a:spcBef>
                <a:spcPts val="0"/>
              </a:spcBef>
              <a:spcAft>
                <a:spcPts val="900"/>
              </a:spcAft>
            </a:pPr>
            <a:r>
              <a:rPr sz="1700" b="1">
                <a:solidFill>
                  <a:srgbClr val="C05210"/>
                </a:solidFill>
                <a:latin typeface="Calibri"/>
              </a:rPr>
              <a:t>•  </a:t>
            </a:r>
            <a:r>
              <a:rPr sz="1700" b="1">
                <a:solidFill>
                  <a:srgbClr val="1F3864"/>
                </a:solidFill>
                <a:latin typeface="Calibri"/>
              </a:rPr>
              <a:t>(Conditioned-model control; no unconditioned variant run.)</a:t>
            </a:r>
            <a:r>
              <a:rPr sz="1700" b="0">
                <a:solidFill>
                  <a:srgbClr val="242933"/>
                </a:solidFill>
                <a:latin typeface="Calibri"/>
              </a:rPr>
              <a:t> </a:t>
            </a:r>
            <a:r>
              <a:rPr sz="1700" b="1">
                <a:solidFill>
                  <a:srgbClr val="1F3864"/>
                </a:solidFill>
                <a:latin typeface="Calibri"/>
              </a:rPr>
              <a:t>2 × 2:</a:t>
            </a:r>
            <a:r>
              <a:rPr sz="1700" b="0">
                <a:solidFill>
                  <a:srgbClr val="242933"/>
                </a:solidFill>
                <a:latin typeface="Calibri"/>
              </a:rPr>
              <a:t> objective {predictive, reconstructive} × architecture {CNN, CNN+ViT}, auxiliary heads matched</a:t>
            </a:r>
          </a:p>
          <a:p>
            <a:pPr algn="l">
              <a:spcBef>
                <a:spcPts val="0"/>
              </a:spcBef>
              <a:spcAft>
                <a:spcPts val="900"/>
              </a:spcAft>
            </a:pPr>
            <a:r>
              <a:rPr sz="1700" b="1">
                <a:solidFill>
                  <a:srgbClr val="C05210"/>
                </a:solidFill>
                <a:latin typeface="Calibri"/>
              </a:rPr>
              <a:t>•  </a:t>
            </a:r>
            <a:r>
              <a:rPr sz="1700" b="1">
                <a:solidFill>
                  <a:srgbClr val="1F3864"/>
                </a:solidFill>
                <a:latin typeface="Calibri"/>
              </a:rPr>
              <a:t>Fair comparison:</a:t>
            </a:r>
            <a:r>
              <a:rPr sz="1700" b="0">
                <a:solidFill>
                  <a:srgbClr val="242933"/>
                </a:solidFill>
                <a:latin typeface="Calibri"/>
              </a:rPr>
              <a:t> every cell is rolled with the </a:t>
            </a:r>
            <a:r>
              <a:rPr sz="1700" b="1">
                <a:solidFill>
                  <a:srgbClr val="1F3864"/>
                </a:solidFill>
                <a:latin typeface="Calibri"/>
              </a:rPr>
              <a:t>same temporal predictor</a:t>
            </a:r>
            <a:r>
              <a:rPr sz="1700" b="0">
                <a:solidFill>
                  <a:srgbClr val="242933"/>
                </a:solidFill>
                <a:latin typeface="Calibri"/>
              </a:rPr>
              <a:t> (the matched closure predictor: same architecture and protocol, trained separately per family), so the </a:t>
            </a:r>
            <a:r>
              <a:rPr sz="1700" b="1">
                <a:solidFill>
                  <a:srgbClr val="1F3864"/>
                </a:solidFill>
                <a:latin typeface="Calibri"/>
              </a:rPr>
              <a:t>only thing that varies is the encoder's objective / architecture</a:t>
            </a:r>
          </a:p>
          <a:p>
            <a:pPr algn="l">
              <a:spcBef>
                <a:spcPts val="0"/>
              </a:spcBef>
              <a:spcAft>
                <a:spcPts val="900"/>
              </a:spcAft>
            </a:pPr>
            <a:r>
              <a:rPr sz="1700" b="1">
                <a:solidFill>
                  <a:srgbClr val="C05210"/>
                </a:solidFill>
                <a:latin typeface="Calibri"/>
              </a:rPr>
              <a:t>•  </a:t>
            </a:r>
            <a:r>
              <a:rPr sz="1700" b="0">
                <a:solidFill>
                  <a:srgbClr val="242933"/>
                </a:solidFill>
                <a:latin typeface="Calibri"/>
              </a:rPr>
              <a:t>The </a:t>
            </a:r>
            <a:r>
              <a:rPr sz="1700" b="1">
                <a:solidFill>
                  <a:srgbClr val="1F3864"/>
                </a:solidFill>
                <a:latin typeface="Calibri"/>
              </a:rPr>
              <a:t>predictive objective wins at both architectures</a:t>
            </a:r>
            <a:r>
              <a:rPr sz="1700" b="0">
                <a:solidFill>
                  <a:srgbClr val="242933"/>
                </a:solidFill>
                <a:latin typeface="Calibri"/>
              </a:rPr>
              <a:t> (wake R² 0.46 / 0.45 vs 0.16 / 0.29) → </a:t>
            </a:r>
            <a:r>
              <a:rPr sz="1700" b="1">
                <a:solidFill>
                  <a:srgbClr val="1F3864"/>
                </a:solidFill>
                <a:latin typeface="Calibri"/>
              </a:rPr>
              <a:t>it is the objective, not the ViT</a:t>
            </a:r>
          </a:p>
          <a:p>
            <a:pPr algn="l">
              <a:spcBef>
                <a:spcPts val="0"/>
              </a:spcBef>
              <a:spcAft>
                <a:spcPts val="900"/>
              </a:spcAft>
            </a:pPr>
            <a:r>
              <a:rPr sz="1700" b="1">
                <a:solidFill>
                  <a:srgbClr val="C05210"/>
                </a:solidFill>
                <a:latin typeface="Calibri"/>
              </a:rPr>
              <a:t>•  </a:t>
            </a:r>
            <a:r>
              <a:rPr sz="1700" b="0">
                <a:solidFill>
                  <a:srgbClr val="242933"/>
                </a:solidFill>
                <a:latin typeface="Calibri"/>
              </a:rPr>
              <a:t>And the </a:t>
            </a:r>
            <a:r>
              <a:rPr sz="1700" b="1">
                <a:solidFill>
                  <a:srgbClr val="1F3864"/>
                </a:solidFill>
                <a:latin typeface="Calibri"/>
              </a:rPr>
              <a:t>wake-observable head is a necessary ingredient</a:t>
            </a:r>
            <a:r>
              <a:rPr sz="1700" b="0">
                <a:solidFill>
                  <a:srgbClr val="242933"/>
                </a:solidFill>
                <a:latin typeface="Calibri"/>
              </a:rPr>
              <a:t>: removing it removes the gain</a:t>
            </a:r>
          </a:p>
          <a:p>
            <a:pPr algn="l">
              <a:spcBef>
                <a:spcPts val="0"/>
              </a:spcBef>
              <a:spcAft>
                <a:spcPts val="900"/>
              </a:spcAft>
            </a:pPr>
            <a:r>
              <a:rPr sz="1700" b="1">
                <a:solidFill>
                  <a:srgbClr val="C05210"/>
                </a:solidFill>
                <a:latin typeface="Calibri"/>
              </a:rPr>
              <a:t>•  </a:t>
            </a:r>
            <a:r>
              <a:rPr sz="1700" b="0">
                <a:solidFill>
                  <a:srgbClr val="242933"/>
                </a:solidFill>
                <a:latin typeface="Calibri"/>
              </a:rPr>
              <a:t>→ the gain needs the </a:t>
            </a:r>
            <a:r>
              <a:rPr sz="1700" b="1">
                <a:solidFill>
                  <a:srgbClr val="1F3864"/>
                </a:solidFill>
                <a:latin typeface="Calibri"/>
              </a:rPr>
              <a:t>predictive objective and wake supervision together</a:t>
            </a:r>
          </a:p>
        </p:txBody>
      </p:sp>
      <p:pic>
        <p:nvPicPr>
          <p:cNvPr id="7" name="Picture 6" descr="controls_fairness.png"/>
          <p:cNvPicPr>
            <a:picLocks noChangeAspect="1"/>
          </p:cNvPicPr>
          <p:nvPr/>
        </p:nvPicPr>
        <p:blipFill>
          <a:blip r:embed="rId2"/>
          <a:stretch>
            <a:fillRect/>
          </a:stretch>
        </p:blipFill>
        <p:spPr>
          <a:xfrm>
            <a:off x="7040880" y="1664208"/>
            <a:ext cx="4754880" cy="3097215"/>
          </a:xfrm>
          <a:prstGeom prst="rect">
            <a:avLst/>
          </a:prstGeom>
        </p:spPr>
      </p:pic>
      <p:sp>
        <p:nvSpPr>
          <p:cNvPr id="8" name="TextBox 7"/>
          <p:cNvSpPr txBox="1"/>
          <p:nvPr/>
        </p:nvSpPr>
        <p:spPr>
          <a:xfrm>
            <a:off x="7040880" y="6108192"/>
            <a:ext cx="47548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Objective × architecture controls, three seeds per cell; every cell rolled with the same matched closure predictor, so only the encoder's objective / architecture varies.</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MECHANISM</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Diagnostic 1: latent drift</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263640" cy="4572000"/>
          </a:xfrm>
          <a:prstGeom prst="rect">
            <a:avLst/>
          </a:prstGeom>
          <a:noFill/>
        </p:spPr>
        <p:txBody>
          <a:bodyPr wrap="square" anchor="t" lIns="0" rIns="0" tIns="0" bIns="0">
            <a:spAutoFit/>
          </a:bodyPr>
          <a:lstStyle/>
          <a:p>
            <a:pPr algn="l">
              <a:spcBef>
                <a:spcPts val="0"/>
              </a:spcBef>
              <a:spcAft>
                <a:spcPts val="900"/>
              </a:spcAft>
            </a:pPr>
            <a:r>
              <a:rPr sz="1400" b="1">
                <a:solidFill>
                  <a:srgbClr val="C05210"/>
                </a:solidFill>
                <a:latin typeface="Calibri"/>
              </a:rPr>
              <a:t>•  </a:t>
            </a:r>
            <a:r>
              <a:rPr sz="1400" b="1">
                <a:solidFill>
                  <a:srgbClr val="1F3864"/>
                </a:solidFill>
                <a:latin typeface="Calibri"/>
              </a:rPr>
              <a:t>Why this question:</a:t>
            </a:r>
            <a:r>
              <a:rPr sz="1400" b="0">
                <a:solidFill>
                  <a:srgbClr val="242933"/>
                </a:solidFill>
                <a:latin typeface="Calibri"/>
              </a:rPr>
              <a:t> a planner / RL agent queries the model at states reached by its </a:t>
            </a:r>
            <a:r>
              <a:rPr sz="1400" b="1">
                <a:solidFill>
                  <a:srgbClr val="1F3864"/>
                </a:solidFill>
                <a:latin typeface="Calibri"/>
              </a:rPr>
              <a:t>own rollout</a:t>
            </a:r>
            <a:r>
              <a:rPr sz="1400" b="0">
                <a:solidFill>
                  <a:srgbClr val="242933"/>
                </a:solidFill>
                <a:latin typeface="Calibri"/>
              </a:rPr>
              <a:t>, one-step error is not enough</a:t>
            </a:r>
          </a:p>
          <a:p>
            <a:pPr algn="l">
              <a:spcBef>
                <a:spcPts val="0"/>
              </a:spcBef>
              <a:spcAft>
                <a:spcPts val="900"/>
              </a:spcAft>
            </a:pPr>
            <a:r>
              <a:rPr sz="1400" b="1">
                <a:solidFill>
                  <a:srgbClr val="C05210"/>
                </a:solidFill>
                <a:latin typeface="Calibri"/>
              </a:rPr>
              <a:t>•  </a:t>
            </a:r>
            <a:r>
              <a:rPr sz="1400" b="1">
                <a:solidFill>
                  <a:srgbClr val="1F3864"/>
                </a:solidFill>
                <a:latin typeface="Calibri"/>
              </a:rPr>
              <a:t>z_dns</a:t>
            </a:r>
            <a:r>
              <a:rPr sz="1400" b="0">
                <a:solidFill>
                  <a:srgbClr val="242933"/>
                </a:solidFill>
                <a:latin typeface="Calibri"/>
              </a:rPr>
              <a:t> = the latent </a:t>
            </a:r>
            <a:r>
              <a:rPr sz="1400" b="1">
                <a:solidFill>
                  <a:srgbClr val="1F3864"/>
                </a:solidFill>
                <a:latin typeface="Calibri"/>
              </a:rPr>
              <a:t>encoded directly from the simulation field</a:t>
            </a:r>
            <a:r>
              <a:rPr sz="1400" b="0">
                <a:solidFill>
                  <a:srgbClr val="242933"/>
                </a:solidFill>
                <a:latin typeface="Calibri"/>
              </a:rPr>
              <a:t> (ground truth); </a:t>
            </a:r>
            <a:r>
              <a:rPr sz="1400" b="1">
                <a:solidFill>
                  <a:srgbClr val="1F3864"/>
                </a:solidFill>
                <a:latin typeface="Calibri"/>
              </a:rPr>
              <a:t>z_markov</a:t>
            </a:r>
            <a:r>
              <a:rPr sz="1400" b="0">
                <a:solidFill>
                  <a:srgbClr val="242933"/>
                </a:solidFill>
                <a:latin typeface="Calibri"/>
              </a:rPr>
              <a:t> = the latent </a:t>
            </a:r>
            <a:r>
              <a:rPr sz="1400" b="1">
                <a:solidFill>
                  <a:srgbClr val="1F3864"/>
                </a:solidFill>
                <a:latin typeface="Calibri"/>
              </a:rPr>
              <a:t>produced by rolling the predictor forward</a:t>
            </a:r>
          </a:p>
          <a:p>
            <a:pPr algn="l">
              <a:spcBef>
                <a:spcPts val="0"/>
              </a:spcBef>
              <a:spcAft>
                <a:spcPts val="900"/>
              </a:spcAft>
            </a:pPr>
            <a:r>
              <a:rPr sz="1400" b="1">
                <a:solidFill>
                  <a:srgbClr val="C05210"/>
                </a:solidFill>
                <a:latin typeface="Calibri"/>
              </a:rPr>
              <a:t>•  </a:t>
            </a:r>
            <a:r>
              <a:rPr sz="1400" b="0">
                <a:solidFill>
                  <a:srgbClr val="242933"/>
                </a:solidFill>
                <a:latin typeface="Calibri"/>
              </a:rPr>
              <a:t>The curve is their </a:t>
            </a:r>
            <a:r>
              <a:rPr sz="1400" b="1">
                <a:solidFill>
                  <a:srgbClr val="1F3864"/>
                </a:solidFill>
                <a:latin typeface="Calibri"/>
              </a:rPr>
              <a:t>relative distance vs horizon</a:t>
            </a:r>
            <a:r>
              <a:rPr sz="1400" b="0">
                <a:solidFill>
                  <a:srgbClr val="242933"/>
                </a:solidFill>
                <a:latin typeface="Calibri"/>
              </a:rPr>
              <a:t> (‖z_markov − z_dns‖ / ‖z_dns‖); </a:t>
            </a:r>
            <a:r>
              <a:rPr sz="1400" b="1">
                <a:solidFill>
                  <a:srgbClr val="1F3864"/>
                </a:solidFill>
                <a:latin typeface="Calibri"/>
              </a:rPr>
              <a:t>lower / flatter is better</a:t>
            </a:r>
            <a:r>
              <a:rPr sz="1400" b="0">
                <a:solidFill>
                  <a:srgbClr val="242933"/>
                </a:solidFill>
                <a:latin typeface="Calibri"/>
              </a:rPr>
              <a:t> (the rollout stays on the data manifold)</a:t>
            </a:r>
          </a:p>
          <a:p>
            <a:pPr algn="l">
              <a:spcBef>
                <a:spcPts val="0"/>
              </a:spcBef>
              <a:spcAft>
                <a:spcPts val="900"/>
              </a:spcAft>
            </a:pPr>
            <a:r>
              <a:rPr sz="1400" b="1">
                <a:solidFill>
                  <a:srgbClr val="C05210"/>
                </a:solidFill>
                <a:latin typeface="Calibri"/>
              </a:rPr>
              <a:t>•  </a:t>
            </a:r>
            <a:r>
              <a:rPr sz="1400" b="1">
                <a:solidFill>
                  <a:srgbClr val="1F3864"/>
                </a:solidFill>
                <a:latin typeface="Calibri"/>
              </a:rPr>
              <a:t>Result:</a:t>
            </a:r>
            <a:r>
              <a:rPr sz="1400" b="0">
                <a:solidFill>
                  <a:srgbClr val="242933"/>
                </a:solidFill>
                <a:latin typeface="Calibri"/>
              </a:rPr>
              <a:t> the </a:t>
            </a:r>
            <a:r>
              <a:rPr sz="1400" b="1">
                <a:solidFill>
                  <a:srgbClr val="1F3864"/>
                </a:solidFill>
                <a:latin typeface="Calibri"/>
              </a:rPr>
              <a:t>unconditioned</a:t>
            </a:r>
            <a:r>
              <a:rPr sz="1400" b="0">
                <a:solidFill>
                  <a:srgbClr val="242933"/>
                </a:solidFill>
                <a:latin typeface="Calibri"/>
              </a:rPr>
              <a:t> rollout drift grows </a:t>
            </a:r>
            <a:r>
              <a:rPr sz="1400" b="1">
                <a:solidFill>
                  <a:srgbClr val="1F3864"/>
                </a:solidFill>
                <a:latin typeface="Calibri"/>
              </a:rPr>
              <a:t>gracefully</a:t>
            </a:r>
            <a:r>
              <a:rPr sz="1400" b="0">
                <a:solidFill>
                  <a:srgbClr val="242933"/>
                </a:solidFill>
                <a:latin typeface="Calibri"/>
              </a:rPr>
              <a:t> and </a:t>
            </a:r>
            <a:r>
              <a:rPr sz="1400" b="1">
                <a:solidFill>
                  <a:srgbClr val="1F3864"/>
                </a:solidFill>
                <a:latin typeface="Calibri"/>
              </a:rPr>
              <a:t>matches the conditioned model</a:t>
            </a:r>
            <a:r>
              <a:rPr sz="1400" b="0">
                <a:solidFill>
                  <a:srgbClr val="242933"/>
                </a:solidFill>
                <a:latin typeface="Calibri"/>
              </a:rPr>
              <a:t>; it stays on-manifold, exactly where the probes (and a planner) are valid</a:t>
            </a:r>
          </a:p>
        </p:txBody>
      </p:sp>
      <p:pic>
        <p:nvPicPr>
          <p:cNvPr id="7" name="Picture 6" descr="drift.png"/>
          <p:cNvPicPr>
            <a:picLocks noChangeAspect="1"/>
          </p:cNvPicPr>
          <p:nvPr/>
        </p:nvPicPr>
        <p:blipFill>
          <a:blip r:embed="rId2"/>
          <a:stretch>
            <a:fillRect/>
          </a:stretch>
        </p:blipFill>
        <p:spPr>
          <a:xfrm>
            <a:off x="7040880" y="1664208"/>
            <a:ext cx="4754880" cy="2932834"/>
          </a:xfrm>
          <a:prstGeom prst="rect">
            <a:avLst/>
          </a:prstGeom>
        </p:spPr>
      </p:pic>
      <p:sp>
        <p:nvSpPr>
          <p:cNvPr id="8" name="TextBox 7"/>
          <p:cNvSpPr txBox="1"/>
          <p:nvPr/>
        </p:nvSpPr>
        <p:spPr>
          <a:xfrm>
            <a:off x="7040880" y="6108192"/>
            <a:ext cx="47548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Rollout drift vs horizon (test_b): how far the rolled latent z_markov strays from the true encoded latent z_dns (relative distance). Lower / flatter = stays on-manifold.</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MECHANISM</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Diagnostic 2: topology of the encounter</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263640" cy="4572000"/>
          </a:xfrm>
          <a:prstGeom prst="rect">
            <a:avLst/>
          </a:prstGeom>
          <a:noFill/>
        </p:spPr>
        <p:txBody>
          <a:bodyPr wrap="square" anchor="t" lIns="0" rIns="0" tIns="0" bIns="0">
            <a:spAutoFit/>
          </a:bodyPr>
          <a:lstStyle/>
          <a:p>
            <a:pPr algn="l">
              <a:spcBef>
                <a:spcPts val="0"/>
              </a:spcBef>
              <a:spcAft>
                <a:spcPts val="900"/>
              </a:spcAft>
            </a:pPr>
            <a:r>
              <a:rPr sz="1400" b="1">
                <a:solidFill>
                  <a:srgbClr val="C05210"/>
                </a:solidFill>
                <a:latin typeface="Calibri"/>
              </a:rPr>
              <a:t>•  </a:t>
            </a:r>
            <a:r>
              <a:rPr sz="1400" b="0">
                <a:solidFill>
                  <a:srgbClr val="242933"/>
                </a:solidFill>
                <a:latin typeface="Calibri"/>
              </a:rPr>
              <a:t>A gust encounter is a </a:t>
            </a:r>
            <a:r>
              <a:rPr sz="1400" b="1">
                <a:solidFill>
                  <a:srgbClr val="1F3864"/>
                </a:solidFill>
                <a:latin typeface="Calibri"/>
              </a:rPr>
              <a:t>cycle</a:t>
            </a:r>
            <a:r>
              <a:rPr sz="1400" b="0">
                <a:solidFill>
                  <a:srgbClr val="242933"/>
                </a:solidFill>
                <a:latin typeface="Calibri"/>
              </a:rPr>
              <a:t>: the flow loops and roughly returns to where it started</a:t>
            </a:r>
          </a:p>
          <a:p>
            <a:pPr algn="l">
              <a:spcBef>
                <a:spcPts val="0"/>
              </a:spcBef>
              <a:spcAft>
                <a:spcPts val="900"/>
              </a:spcAft>
            </a:pPr>
            <a:r>
              <a:rPr sz="1400" b="1">
                <a:solidFill>
                  <a:srgbClr val="C05210"/>
                </a:solidFill>
                <a:latin typeface="Calibri"/>
              </a:rPr>
              <a:t>•  </a:t>
            </a:r>
            <a:r>
              <a:rPr sz="1400" b="0">
                <a:solidFill>
                  <a:srgbClr val="242933"/>
                </a:solidFill>
                <a:latin typeface="Calibri"/>
              </a:rPr>
              <a:t>We ask whether the latent traces </a:t>
            </a:r>
            <a:r>
              <a:rPr sz="1400" b="1">
                <a:solidFill>
                  <a:srgbClr val="1F3864"/>
                </a:solidFill>
                <a:latin typeface="Calibri"/>
              </a:rPr>
              <a:t>one clean loop</a:t>
            </a:r>
            <a:r>
              <a:rPr sz="1400" b="0">
                <a:solidFill>
                  <a:srgbClr val="242933"/>
                </a:solidFill>
                <a:latin typeface="Calibri"/>
              </a:rPr>
              <a:t> or a </a:t>
            </a:r>
            <a:r>
              <a:rPr sz="1400" b="1">
                <a:solidFill>
                  <a:srgbClr val="1F3864"/>
                </a:solidFill>
                <a:latin typeface="Calibri"/>
              </a:rPr>
              <a:t>tangle of many</a:t>
            </a:r>
          </a:p>
          <a:p>
            <a:pPr algn="l">
              <a:spcBef>
                <a:spcPts val="0"/>
              </a:spcBef>
              <a:spcAft>
                <a:spcPts val="900"/>
              </a:spcAft>
            </a:pPr>
            <a:r>
              <a:rPr sz="1400" b="1">
                <a:solidFill>
                  <a:srgbClr val="C05210"/>
                </a:solidFill>
                <a:latin typeface="Calibri"/>
              </a:rPr>
              <a:t>•  </a:t>
            </a:r>
            <a:r>
              <a:rPr sz="1400" b="1">
                <a:solidFill>
                  <a:srgbClr val="1F3864"/>
                </a:solidFill>
                <a:latin typeface="Calibri"/>
              </a:rPr>
              <a:t>Persistent homology</a:t>
            </a:r>
            <a:r>
              <a:rPr sz="1400" b="0">
                <a:solidFill>
                  <a:srgbClr val="242933"/>
                </a:solidFill>
                <a:latin typeface="Calibri"/>
              </a:rPr>
              <a:t> is just a principled </a:t>
            </a:r>
            <a:r>
              <a:rPr sz="1400" b="1">
                <a:solidFill>
                  <a:srgbClr val="1F3864"/>
                </a:solidFill>
                <a:latin typeface="Calibri"/>
              </a:rPr>
              <a:t>loop-counter</a:t>
            </a:r>
            <a:r>
              <a:rPr sz="1400" b="0">
                <a:solidFill>
                  <a:srgbClr val="242933"/>
                </a:solidFill>
                <a:latin typeface="Calibri"/>
              </a:rPr>
              <a:t> on the latent path (it counts the loops that genuinely persist, not noise)</a:t>
            </a:r>
          </a:p>
          <a:p>
            <a:pPr algn="l">
              <a:spcBef>
                <a:spcPts val="0"/>
              </a:spcBef>
              <a:spcAft>
                <a:spcPts val="900"/>
              </a:spcAft>
            </a:pPr>
            <a:r>
              <a:rPr sz="1400" b="1">
                <a:solidFill>
                  <a:srgbClr val="C05210"/>
                </a:solidFill>
                <a:latin typeface="Calibri"/>
              </a:rPr>
              <a:t>•  </a:t>
            </a:r>
            <a:r>
              <a:rPr sz="1400" b="1">
                <a:solidFill>
                  <a:srgbClr val="1F3864"/>
                </a:solidFill>
                <a:latin typeface="Calibri"/>
              </a:rPr>
              <a:t>Result:</a:t>
            </a:r>
            <a:r>
              <a:rPr sz="1400" b="0">
                <a:solidFill>
                  <a:srgbClr val="242933"/>
                </a:solidFill>
                <a:latin typeface="Calibri"/>
              </a:rPr>
              <a:t> the </a:t>
            </a:r>
            <a:r>
              <a:rPr sz="1400" b="1">
                <a:solidFill>
                  <a:srgbClr val="1F3864"/>
                </a:solidFill>
                <a:latin typeface="Calibri"/>
              </a:rPr>
              <a:t>unconditioned</a:t>
            </a:r>
            <a:r>
              <a:rPr sz="1400" b="0">
                <a:solidFill>
                  <a:srgbClr val="242933"/>
                </a:solidFill>
                <a:latin typeface="Calibri"/>
              </a:rPr>
              <a:t> JEPA latent makes </a:t>
            </a:r>
            <a:r>
              <a:rPr sz="1400" b="1">
                <a:solidFill>
                  <a:srgbClr val="1F3864"/>
                </a:solidFill>
                <a:latin typeface="Calibri"/>
              </a:rPr>
              <a:t>one loop</a:t>
            </a:r>
            <a:r>
              <a:rPr sz="1400" b="0">
                <a:solidFill>
                  <a:srgbClr val="242933"/>
                </a:solidFill>
                <a:latin typeface="Calibri"/>
              </a:rPr>
              <a:t> (median 1); the </a:t>
            </a:r>
            <a:r>
              <a:rPr sz="1400" b="1">
                <a:solidFill>
                  <a:srgbClr val="1F3864"/>
                </a:solidFill>
                <a:latin typeface="Calibri"/>
              </a:rPr>
              <a:t>reconstructive</a:t>
            </a:r>
            <a:r>
              <a:rPr sz="1400" b="0">
                <a:solidFill>
                  <a:srgbClr val="242933"/>
                </a:solidFill>
                <a:latin typeface="Calibri"/>
              </a:rPr>
              <a:t> latent </a:t>
            </a:r>
            <a:r>
              <a:rPr sz="1400" b="1">
                <a:solidFill>
                  <a:srgbClr val="1F3864"/>
                </a:solidFill>
                <a:latin typeface="Calibri"/>
              </a:rPr>
              <a:t>fragments into many</a:t>
            </a:r>
            <a:r>
              <a:rPr sz="1400" b="0">
                <a:solidFill>
                  <a:srgbClr val="242933"/>
                </a:solidFill>
                <a:latin typeface="Calibri"/>
              </a:rPr>
              <a:t> (median ~4); p ≈ 5×10⁻⁹</a:t>
            </a:r>
          </a:p>
          <a:p>
            <a:pPr algn="l">
              <a:spcBef>
                <a:spcPts val="0"/>
              </a:spcBef>
              <a:spcAft>
                <a:spcPts val="900"/>
              </a:spcAft>
            </a:pPr>
            <a:r>
              <a:rPr sz="1400" b="1">
                <a:solidFill>
                  <a:srgbClr val="C05210"/>
                </a:solidFill>
                <a:latin typeface="Calibri"/>
              </a:rPr>
              <a:t>•  </a:t>
            </a:r>
            <a:r>
              <a:rPr sz="1400" b="0">
                <a:solidFill>
                  <a:srgbClr val="242933"/>
                </a:solidFill>
                <a:latin typeface="Calibri"/>
              </a:rPr>
              <a:t>So the predictive state captures the encounter as a </a:t>
            </a:r>
            <a:r>
              <a:rPr sz="1400" b="1">
                <a:solidFill>
                  <a:srgbClr val="1F3864"/>
                </a:solidFill>
                <a:latin typeface="Calibri"/>
              </a:rPr>
              <a:t>single coherent cycle</a:t>
            </a:r>
            <a:r>
              <a:rPr sz="1400" b="0">
                <a:solidFill>
                  <a:srgbClr val="242933"/>
                </a:solidFill>
                <a:latin typeface="Calibri"/>
              </a:rPr>
              <a:t> (count of persistent H1 generators; Mann-Whitney test)</a:t>
            </a:r>
          </a:p>
        </p:txBody>
      </p:sp>
      <p:pic>
        <p:nvPicPr>
          <p:cNvPr id="7" name="Picture 6" descr="cycle.png"/>
          <p:cNvPicPr>
            <a:picLocks noChangeAspect="1"/>
          </p:cNvPicPr>
          <p:nvPr/>
        </p:nvPicPr>
        <p:blipFill>
          <a:blip r:embed="rId2"/>
          <a:stretch>
            <a:fillRect/>
          </a:stretch>
        </p:blipFill>
        <p:spPr>
          <a:xfrm>
            <a:off x="7040880" y="1664208"/>
            <a:ext cx="4754880" cy="1914240"/>
          </a:xfrm>
          <a:prstGeom prst="rect">
            <a:avLst/>
          </a:prstGeom>
        </p:spPr>
      </p:pic>
      <p:sp>
        <p:nvSpPr>
          <p:cNvPr id="8" name="TextBox 7"/>
          <p:cNvSpPr txBox="1"/>
          <p:nvPr/>
        </p:nvSpPr>
        <p:spPr>
          <a:xfrm>
            <a:off x="7040880" y="6108192"/>
            <a:ext cx="47548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The latent path of an encounter: the predictive latent traces one loop (median 1), the reconstructive latent many (median ~4). Persistent homology counts the loops.</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RESULT, PHYSICAL SPACE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Decoded reconstructions</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27632"/>
            <a:ext cx="10972800" cy="1417319"/>
          </a:xfrm>
          <a:prstGeom prst="rect">
            <a:avLst/>
          </a:prstGeom>
          <a:noFill/>
        </p:spPr>
        <p:txBody>
          <a:bodyPr wrap="square" anchor="t" lIns="0" rIns="0" tIns="0" bIns="0">
            <a:spAutoFit/>
          </a:bodyPr>
          <a:lstStyle/>
          <a:p>
            <a:pPr algn="l">
              <a:spcBef>
                <a:spcPts val="0"/>
              </a:spcBef>
              <a:spcAft>
                <a:spcPts val="900"/>
              </a:spcAft>
            </a:pPr>
            <a:r>
              <a:rPr sz="1700" b="1">
                <a:solidFill>
                  <a:srgbClr val="C05210"/>
                </a:solidFill>
                <a:latin typeface="Calibri"/>
              </a:rPr>
              <a:t>•  </a:t>
            </a:r>
            <a:r>
              <a:rPr sz="1700" b="0">
                <a:solidFill>
                  <a:srgbClr val="242933"/>
                </a:solidFill>
                <a:latin typeface="Calibri"/>
              </a:rPr>
              <a:t>Decoded fields: predictive vs reconstructive vs POD vs DNS</a:t>
            </a:r>
          </a:p>
          <a:p>
            <a:pPr algn="l">
              <a:spcBef>
                <a:spcPts val="0"/>
              </a:spcBef>
              <a:spcAft>
                <a:spcPts val="900"/>
              </a:spcAft>
            </a:pPr>
            <a:r>
              <a:rPr sz="1700" b="1">
                <a:solidFill>
                  <a:srgbClr val="C05210"/>
                </a:solidFill>
                <a:latin typeface="Calibri"/>
              </a:rPr>
              <a:t>•  </a:t>
            </a:r>
            <a:r>
              <a:rPr sz="1700" b="0">
                <a:solidFill>
                  <a:srgbClr val="242933"/>
                </a:solidFill>
                <a:latin typeface="Calibri"/>
              </a:rPr>
              <a:t>The predictive decode is </a:t>
            </a:r>
            <a:r>
              <a:rPr sz="1700" b="1">
                <a:solidFill>
                  <a:srgbClr val="1F3864"/>
                </a:solidFill>
                <a:latin typeface="Calibri"/>
              </a:rPr>
              <a:t>blurrier pixel-wise</a:t>
            </a:r>
            <a:r>
              <a:rPr sz="1700" b="0">
                <a:solidFill>
                  <a:srgbClr val="242933"/>
                </a:solidFill>
                <a:latin typeface="Calibri"/>
              </a:rPr>
              <a:t> but preserves the </a:t>
            </a:r>
            <a:r>
              <a:rPr sz="1700" b="1">
                <a:solidFill>
                  <a:srgbClr val="1F3864"/>
                </a:solidFill>
                <a:latin typeface="Calibri"/>
              </a:rPr>
              <a:t>transported large-scale wake</a:t>
            </a:r>
            <a:r>
              <a:rPr sz="1700" b="0">
                <a:solidFill>
                  <a:srgbClr val="242933"/>
                </a:solidFill>
                <a:latin typeface="Calibri"/>
              </a:rPr>
              <a:t>; the reconstructive decode is sharp yet drifts under rollout</a:t>
            </a:r>
          </a:p>
        </p:txBody>
      </p:sp>
      <p:pic>
        <p:nvPicPr>
          <p:cNvPr id="7" name="Picture 6" descr="reconstructions.png"/>
          <p:cNvPicPr>
            <a:picLocks noChangeAspect="1"/>
          </p:cNvPicPr>
          <p:nvPr/>
        </p:nvPicPr>
        <p:blipFill>
          <a:blip r:embed="rId2"/>
          <a:stretch>
            <a:fillRect/>
          </a:stretch>
        </p:blipFill>
        <p:spPr>
          <a:xfrm>
            <a:off x="3077833" y="3108960"/>
            <a:ext cx="6005853" cy="2926080"/>
          </a:xfrm>
          <a:prstGeom prst="rect">
            <a:avLst/>
          </a:prstGeom>
        </p:spPr>
      </p:pic>
      <p:sp>
        <p:nvSpPr>
          <p:cNvPr id="8" name="TextBox 7"/>
          <p:cNvSpPr txBox="1"/>
          <p:nvPr/>
        </p:nvSpPr>
        <p:spPr>
          <a:xfrm>
            <a:off x="731520" y="6053327"/>
            <a:ext cx="106984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Held-out reconstructions; the predictive objective trades pixel sharpness for transported structure.</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CONTROL RELEVANCE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Sparse sensor placement</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27632"/>
            <a:ext cx="10972800" cy="1965960"/>
          </a:xfrm>
          <a:prstGeom prst="rect">
            <a:avLst/>
          </a:prstGeom>
          <a:noFill/>
        </p:spPr>
        <p:txBody>
          <a:bodyPr wrap="square" anchor="t" lIns="0" rIns="0" tIns="0" bIns="0">
            <a:spAutoFit/>
          </a:bodyPr>
          <a:lstStyle/>
          <a:p>
            <a:pPr algn="l">
              <a:spcBef>
                <a:spcPts val="0"/>
              </a:spcBef>
              <a:spcAft>
                <a:spcPts val="900"/>
              </a:spcAft>
            </a:pPr>
            <a:r>
              <a:rPr sz="1700" b="1">
                <a:solidFill>
                  <a:srgbClr val="C05210"/>
                </a:solidFill>
                <a:latin typeface="Calibri"/>
              </a:rPr>
              <a:t>•  </a:t>
            </a:r>
            <a:r>
              <a:rPr sz="1700" b="0">
                <a:solidFill>
                  <a:srgbClr val="242933"/>
                </a:solidFill>
                <a:latin typeface="Calibri"/>
              </a:rPr>
              <a:t>Sparse wall-pressure sensors selected by </a:t>
            </a:r>
            <a:r>
              <a:rPr sz="1700" b="1">
                <a:solidFill>
                  <a:srgbClr val="1F3864"/>
                </a:solidFill>
                <a:latin typeface="Calibri"/>
              </a:rPr>
              <a:t>TCSI / qDEIM</a:t>
            </a:r>
            <a:r>
              <a:rPr sz="1700" b="0">
                <a:solidFill>
                  <a:srgbClr val="242933"/>
                </a:solidFill>
                <a:latin typeface="Calibri"/>
              </a:rPr>
              <a:t> vs uniform</a:t>
            </a:r>
          </a:p>
          <a:p>
            <a:pPr algn="l">
              <a:spcBef>
                <a:spcPts val="0"/>
              </a:spcBef>
              <a:spcAft>
                <a:spcPts val="900"/>
              </a:spcAft>
            </a:pPr>
            <a:r>
              <a:rPr sz="1700" b="1">
                <a:solidFill>
                  <a:srgbClr val="C05210"/>
                </a:solidFill>
                <a:latin typeface="Calibri"/>
              </a:rPr>
              <a:t>•  </a:t>
            </a:r>
            <a:r>
              <a:rPr sz="1700" b="1">
                <a:solidFill>
                  <a:srgbClr val="1F3864"/>
                </a:solidFill>
                <a:latin typeface="Calibri"/>
              </a:rPr>
              <a:t>Model:</a:t>
            </a:r>
            <a:r>
              <a:rPr sz="1700" b="0">
                <a:solidFill>
                  <a:srgbClr val="242933"/>
                </a:solidFill>
                <a:latin typeface="Calibri"/>
              </a:rPr>
              <a:t> the pressure → latent map is a </a:t>
            </a:r>
            <a:r>
              <a:rPr sz="1700" b="1">
                <a:solidFill>
                  <a:srgbClr val="1F3864"/>
                </a:solidFill>
                <a:latin typeface="Calibri"/>
              </a:rPr>
              <a:t>KernelRidge (RBF)</a:t>
            </a:r>
            <a:r>
              <a:rPr sz="1700" b="0">
                <a:solidFill>
                  <a:srgbClr val="242933"/>
                </a:solidFill>
                <a:latin typeface="Calibri"/>
              </a:rPr>
              <a:t> regressor on the K-sensor × pre-impact-window vector; K = 2 / 4 / 8 / 16 (LSTM / KRR 5-fold-CV selected to guard small-sample overfitting)</a:t>
            </a:r>
          </a:p>
          <a:p>
            <a:pPr algn="l">
              <a:spcBef>
                <a:spcPts val="0"/>
              </a:spcBef>
              <a:spcAft>
                <a:spcPts val="900"/>
              </a:spcAft>
            </a:pPr>
            <a:r>
              <a:rPr sz="1700" b="1">
                <a:solidFill>
                  <a:srgbClr val="C05210"/>
                </a:solidFill>
                <a:latin typeface="Calibri"/>
              </a:rPr>
              <a:t>•  </a:t>
            </a:r>
            <a:r>
              <a:rPr sz="1700" b="1">
                <a:solidFill>
                  <a:srgbClr val="1F3864"/>
                </a:solidFill>
                <a:latin typeface="Calibri"/>
              </a:rPr>
              <a:t>Metric — state-recovery R²:</a:t>
            </a:r>
            <a:r>
              <a:rPr sz="1700" b="0">
                <a:solidFill>
                  <a:srgbClr val="242933"/>
                </a:solidFill>
                <a:latin typeface="Calibri"/>
              </a:rPr>
              <a:t> the </a:t>
            </a:r>
            <a:r>
              <a:rPr sz="1700" b="1">
                <a:solidFill>
                  <a:srgbClr val="1F3864"/>
                </a:solidFill>
                <a:latin typeface="Calibri"/>
              </a:rPr>
              <a:t>fraction of the held-out latent's variance recovered from the K pressure taps</a:t>
            </a:r>
            <a:r>
              <a:rPr sz="1700" b="0">
                <a:solidFill>
                  <a:srgbClr val="242933"/>
                </a:solidFill>
                <a:latin typeface="Calibri"/>
              </a:rPr>
              <a:t> (1 = perfect, 0 = no better than the mean), for the </a:t>
            </a:r>
            <a:r>
              <a:rPr sz="1700" b="1">
                <a:solidFill>
                  <a:srgbClr val="1F3864"/>
                </a:solidFill>
                <a:latin typeface="Calibri"/>
              </a:rPr>
              <a:t>unconditioned tf-no-c latent</a:t>
            </a:r>
            <a:r>
              <a:rPr sz="1700" b="0">
                <a:solidFill>
                  <a:srgbClr val="242933"/>
                </a:solidFill>
                <a:latin typeface="Calibri"/>
              </a:rPr>
              <a:t> (no gust parameters anywhere)</a:t>
            </a:r>
          </a:p>
        </p:txBody>
      </p:sp>
      <p:pic>
        <p:nvPicPr>
          <p:cNvPr id="7" name="Picture 6" descr="sensor_placement.png"/>
          <p:cNvPicPr>
            <a:picLocks noChangeAspect="1"/>
          </p:cNvPicPr>
          <p:nvPr/>
        </p:nvPicPr>
        <p:blipFill>
          <a:blip r:embed="rId2"/>
          <a:stretch>
            <a:fillRect/>
          </a:stretch>
        </p:blipFill>
        <p:spPr>
          <a:xfrm>
            <a:off x="2813172" y="3657600"/>
            <a:ext cx="6535175" cy="2651760"/>
          </a:xfrm>
          <a:prstGeom prst="rect">
            <a:avLst/>
          </a:prstGeom>
        </p:spPr>
      </p:pic>
      <p:sp>
        <p:nvSpPr>
          <p:cNvPr id="8" name="TextBox 7"/>
          <p:cNvSpPr txBox="1"/>
          <p:nvPr/>
        </p:nvSpPr>
        <p:spPr>
          <a:xfrm>
            <a:off x="731520" y="6327648"/>
            <a:ext cx="106984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Optimal sparse sensor placement on the airfoil surface; state-recovery R² is the fraction of the unconditioned latent's variance recovered from K taps.</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CONTROL RELEVANCE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Flow recovered from sparse wall pressure</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263640" cy="4572000"/>
          </a:xfrm>
          <a:prstGeom prst="rect">
            <a:avLst/>
          </a:prstGeom>
          <a:noFill/>
        </p:spPr>
        <p:txBody>
          <a:bodyPr wrap="square" anchor="t" lIns="0" rIns="0" tIns="0" bIns="0">
            <a:spAutoFit/>
          </a:bodyPr>
          <a:lstStyle/>
          <a:p>
            <a:pPr algn="l">
              <a:spcBef>
                <a:spcPts val="0"/>
              </a:spcBef>
              <a:spcAft>
                <a:spcPts val="900"/>
              </a:spcAft>
            </a:pPr>
            <a:r>
              <a:rPr sz="1600" b="1">
                <a:solidFill>
                  <a:srgbClr val="C05210"/>
                </a:solidFill>
                <a:latin typeface="Calibri"/>
              </a:rPr>
              <a:t>•  </a:t>
            </a:r>
            <a:r>
              <a:rPr sz="1600" b="1">
                <a:solidFill>
                  <a:srgbClr val="1F3864"/>
                </a:solidFill>
                <a:latin typeface="Calibri"/>
              </a:rPr>
              <a:t>Model:</a:t>
            </a:r>
            <a:r>
              <a:rPr sz="1600" b="0">
                <a:solidFill>
                  <a:srgbClr val="242933"/>
                </a:solidFill>
                <a:latin typeface="Calibri"/>
              </a:rPr>
              <a:t> a </a:t>
            </a:r>
            <a:r>
              <a:rPr sz="1600" b="1">
                <a:solidFill>
                  <a:srgbClr val="1F3864"/>
                </a:solidFill>
                <a:latin typeface="Calibri"/>
              </a:rPr>
              <a:t>KernelRidge (RBF kernel)</a:t>
            </a:r>
            <a:r>
              <a:rPr sz="1600" b="0">
                <a:solidFill>
                  <a:srgbClr val="242933"/>
                </a:solidFill>
                <a:latin typeface="Calibri"/>
              </a:rPr>
              <a:t> regressor maps the K wall-pressure taps over a pre-impact window to the </a:t>
            </a:r>
            <a:r>
              <a:rPr sz="1600" b="1">
                <a:solidFill>
                  <a:srgbClr val="1F3864"/>
                </a:solidFill>
                <a:latin typeface="Calibri"/>
              </a:rPr>
              <a:t>impact-frame latent</a:t>
            </a:r>
            <a:r>
              <a:rPr sz="1600" b="0">
                <a:solidFill>
                  <a:srgbClr val="242933"/>
                </a:solidFill>
                <a:latin typeface="Calibri"/>
              </a:rPr>
              <a:t>; the frozen decoder then renders the field</a:t>
            </a:r>
          </a:p>
          <a:p>
            <a:pPr algn="l">
              <a:spcBef>
                <a:spcPts val="0"/>
              </a:spcBef>
              <a:spcAft>
                <a:spcPts val="900"/>
              </a:spcAft>
            </a:pPr>
            <a:r>
              <a:rPr sz="1600" b="1">
                <a:solidFill>
                  <a:srgbClr val="C05210"/>
                </a:solidFill>
                <a:latin typeface="Calibri"/>
              </a:rPr>
              <a:t>•  </a:t>
            </a:r>
            <a:r>
              <a:rPr sz="1600" b="1">
                <a:solidFill>
                  <a:srgbClr val="1F3864"/>
                </a:solidFill>
                <a:latin typeface="Calibri"/>
              </a:rPr>
              <a:t>K = 8 taps</a:t>
            </a:r>
            <a:r>
              <a:rPr sz="1600" b="0">
                <a:solidFill>
                  <a:srgbClr val="242933"/>
                </a:solidFill>
                <a:latin typeface="Calibri"/>
              </a:rPr>
              <a:t> recover the leading-edge vortex and shear layer; </a:t>
            </a:r>
            <a:r>
              <a:rPr sz="1600" b="1">
                <a:solidFill>
                  <a:srgbClr val="1F3864"/>
                </a:solidFill>
                <a:latin typeface="Calibri"/>
              </a:rPr>
              <a:t>K = 2</a:t>
            </a:r>
            <a:r>
              <a:rPr sz="1600" b="0">
                <a:solidFill>
                  <a:srgbClr val="242933"/>
                </a:solidFill>
                <a:latin typeface="Calibri"/>
              </a:rPr>
              <a:t> coarsens but keeps the gross wake structure</a:t>
            </a:r>
          </a:p>
          <a:p>
            <a:pPr algn="l">
              <a:spcBef>
                <a:spcPts val="0"/>
              </a:spcBef>
              <a:spcAft>
                <a:spcPts val="900"/>
              </a:spcAft>
            </a:pPr>
            <a:r>
              <a:rPr sz="1600" b="1">
                <a:solidFill>
                  <a:srgbClr val="C05210"/>
                </a:solidFill>
                <a:latin typeface="Calibri"/>
              </a:rPr>
              <a:t>•  </a:t>
            </a:r>
            <a:r>
              <a:rPr sz="1600" b="0">
                <a:solidFill>
                  <a:srgbClr val="242933"/>
                </a:solidFill>
                <a:latin typeface="Calibri"/>
              </a:rPr>
              <a:t>Benchmarked against the </a:t>
            </a:r>
            <a:r>
              <a:rPr sz="1600" b="1">
                <a:solidFill>
                  <a:srgbClr val="1F3864"/>
                </a:solidFill>
                <a:latin typeface="Calibri"/>
              </a:rPr>
              <a:t>best-case decode</a:t>
            </a:r>
            <a:r>
              <a:rPr sz="1600" b="0">
                <a:solidFill>
                  <a:srgbClr val="242933"/>
                </a:solidFill>
                <a:latin typeface="Calibri"/>
              </a:rPr>
              <a:t> (decode of the </a:t>
            </a:r>
            <a:r>
              <a:rPr sz="1600" b="1">
                <a:solidFill>
                  <a:srgbClr val="1F3864"/>
                </a:solidFill>
                <a:latin typeface="Calibri"/>
              </a:rPr>
              <a:t>true simulation latent</a:t>
            </a:r>
            <a:r>
              <a:rPr sz="1600" b="0">
                <a:solidFill>
                  <a:srgbClr val="242933"/>
                </a:solidFill>
                <a:latin typeface="Calibri"/>
              </a:rPr>
              <a:t>, i.e. the ceiling decode) and the simulation</a:t>
            </a:r>
          </a:p>
          <a:p>
            <a:pPr algn="l">
              <a:spcBef>
                <a:spcPts val="0"/>
              </a:spcBef>
              <a:spcAft>
                <a:spcPts val="900"/>
              </a:spcAft>
            </a:pPr>
            <a:r>
              <a:rPr sz="1600" b="1">
                <a:solidFill>
                  <a:srgbClr val="C05210"/>
                </a:solidFill>
                <a:latin typeface="Calibri"/>
              </a:rPr>
              <a:t>•  </a:t>
            </a:r>
            <a:r>
              <a:rPr sz="1600" b="0">
                <a:solidFill>
                  <a:srgbClr val="242933"/>
                </a:solidFill>
                <a:latin typeface="Calibri"/>
              </a:rPr>
              <a:t>So the predictive state is </a:t>
            </a:r>
            <a:r>
              <a:rPr sz="1600" b="1">
                <a:solidFill>
                  <a:srgbClr val="1F3864"/>
                </a:solidFill>
                <a:latin typeface="Calibri"/>
              </a:rPr>
              <a:t>reconstructible from a few wall sensors</a:t>
            </a:r>
            <a:r>
              <a:rPr sz="1600" b="0">
                <a:solidFill>
                  <a:srgbClr val="242933"/>
                </a:solidFill>
                <a:latin typeface="Calibri"/>
              </a:rPr>
              <a:t>, a deployment-relevant observability result</a:t>
            </a:r>
          </a:p>
        </p:txBody>
      </p:sp>
      <p:pic>
        <p:nvPicPr>
          <p:cNvPr id="7" name="Picture 6" descr="flow_recovery.png"/>
          <p:cNvPicPr>
            <a:picLocks noChangeAspect="1"/>
          </p:cNvPicPr>
          <p:nvPr/>
        </p:nvPicPr>
        <p:blipFill>
          <a:blip r:embed="rId2"/>
          <a:stretch>
            <a:fillRect/>
          </a:stretch>
        </p:blipFill>
        <p:spPr>
          <a:xfrm>
            <a:off x="7040880" y="1664208"/>
            <a:ext cx="4754880" cy="2728762"/>
          </a:xfrm>
          <a:prstGeom prst="rect">
            <a:avLst/>
          </a:prstGeom>
        </p:spPr>
      </p:pic>
      <p:sp>
        <p:nvSpPr>
          <p:cNvPr id="8" name="TextBox 7"/>
          <p:cNvSpPr txBox="1"/>
          <p:nvPr/>
        </p:nvSpPr>
        <p:spPr>
          <a:xfrm>
            <a:off x="7040880" y="6108192"/>
            <a:ext cx="47548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Flow recovered from sparse wall pressure: simulation, best-case (ceiling) decode of the true simulation latent, and decode of the latent estimated from K = 8 and K = 2 taps (held-out).</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CONTROL RELEVANCE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Sparse-sensor state estimation in action</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457200"/>
          </a:xfrm>
          <a:prstGeom prst="rect">
            <a:avLst/>
          </a:prstGeom>
          <a:noFill/>
        </p:spPr>
        <p:txBody>
          <a:bodyPr wrap="square" anchor="t" lIns="0" rIns="0" tIns="0" bIns="0">
            <a:spAutoFit/>
          </a:bodyPr>
          <a:lstStyle/>
          <a:p>
            <a:pPr algn="l">
              <a:spcBef>
                <a:spcPts val="0"/>
              </a:spcBef>
              <a:spcAft>
                <a:spcPts val="600"/>
              </a:spcAft>
            </a:pPr>
            <a:r>
              <a:rPr sz="1600" b="0">
                <a:solidFill>
                  <a:srgbClr val="242933"/>
                </a:solidFill>
                <a:latin typeface="Calibri"/>
              </a:rPr>
              <a:t>No predictor here: a per-frame </a:t>
            </a:r>
            <a:r>
              <a:rPr sz="1600" b="1">
                <a:solidFill>
                  <a:srgbClr val="1F3864"/>
                </a:solidFill>
                <a:latin typeface="Calibri"/>
              </a:rPr>
              <a:t>MLP</a:t>
            </a:r>
            <a:r>
              <a:rPr sz="1600" b="0">
                <a:solidFill>
                  <a:srgbClr val="242933"/>
                </a:solidFill>
                <a:latin typeface="Calibri"/>
              </a:rPr>
              <a:t> maps a causal 6-frame window of 8 wall-pressure taps to the latent, then the frozen decoder renders the field.</a:t>
            </a:r>
          </a:p>
        </p:txBody>
      </p:sp>
      <p:pic>
        <p:nvPicPr>
          <p:cNvPr id="7" name="sensing_anim.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600200" y="1965960"/>
            <a:ext cx="8961120" cy="3282696"/>
          </a:xfrm>
          <a:prstGeom prst="rect">
            <a:avLst/>
          </a:prstGeom>
        </p:spPr>
      </p:pic>
      <p:sp>
        <p:nvSpPr>
          <p:cNvPr id="8" name="TextBox 7"/>
          <p:cNvSpPr txBox="1"/>
          <p:nvPr/>
        </p:nvSpPr>
        <p:spPr>
          <a:xfrm>
            <a:off x="822960" y="5349240"/>
            <a:ext cx="1051560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DNS truth (green dots mark the 8 TCSI taps) vs the field recovered from wall pressure alone, on a held-out encounter. Held-out-encounter latent R² = 0.74, SSIM 0.63. Wall pressure fixes the near-body LEV and shear layer; the far wake is not surface-observable.</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26</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CONTROL RELEVANCE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Control relevance: observable ahead of impact</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080760" cy="4572000"/>
          </a:xfrm>
          <a:prstGeom prst="rect">
            <a:avLst/>
          </a:prstGeom>
          <a:noFill/>
        </p:spPr>
        <p:txBody>
          <a:bodyPr wrap="square" anchor="t" lIns="0" rIns="0" tIns="0" bIns="0">
            <a:spAutoFit/>
          </a:bodyPr>
          <a:lstStyle/>
          <a:p>
            <a:pPr algn="l">
              <a:spcBef>
                <a:spcPts val="0"/>
              </a:spcBef>
              <a:spcAft>
                <a:spcPts val="900"/>
              </a:spcAft>
            </a:pPr>
            <a:r>
              <a:rPr sz="1600" b="1">
                <a:solidFill>
                  <a:srgbClr val="C05210"/>
                </a:solidFill>
                <a:latin typeface="Calibri"/>
              </a:rPr>
              <a:t>•  </a:t>
            </a:r>
            <a:r>
              <a:rPr sz="1600" b="0">
                <a:solidFill>
                  <a:srgbClr val="242933"/>
                </a:solidFill>
                <a:latin typeface="Calibri"/>
              </a:rPr>
              <a:t>From a causal window of sparse wall pressure, recover the </a:t>
            </a:r>
            <a:r>
              <a:rPr sz="1600" b="1">
                <a:solidFill>
                  <a:srgbClr val="1F3864"/>
                </a:solidFill>
                <a:latin typeface="Calibri"/>
              </a:rPr>
              <a:t>impact-frame latent</a:t>
            </a:r>
            <a:r>
              <a:rPr sz="1600" b="0">
                <a:solidFill>
                  <a:srgbClr val="242933"/>
                </a:solidFill>
                <a:latin typeface="Calibri"/>
              </a:rPr>
              <a:t> at a </a:t>
            </a:r>
            <a:r>
              <a:rPr sz="1600" b="1">
                <a:solidFill>
                  <a:srgbClr val="1F3864"/>
                </a:solidFill>
                <a:latin typeface="Calibri"/>
              </a:rPr>
              <a:t>lead time before impact</a:t>
            </a:r>
            <a:r>
              <a:rPr sz="1600" b="0">
                <a:solidFill>
                  <a:srgbClr val="242933"/>
                </a:solidFill>
                <a:latin typeface="Calibri"/>
              </a:rPr>
              <a:t> (held-out test_b)</a:t>
            </a:r>
          </a:p>
          <a:p>
            <a:pPr algn="l">
              <a:spcBef>
                <a:spcPts val="0"/>
              </a:spcBef>
              <a:spcAft>
                <a:spcPts val="900"/>
              </a:spcAft>
            </a:pPr>
            <a:r>
              <a:rPr sz="1600" b="1">
                <a:solidFill>
                  <a:srgbClr val="C05210"/>
                </a:solidFill>
                <a:latin typeface="Calibri"/>
              </a:rPr>
              <a:t>•  </a:t>
            </a:r>
            <a:r>
              <a:rPr sz="1600" b="1">
                <a:solidFill>
                  <a:srgbClr val="1F3864"/>
                </a:solidFill>
                <a:latin typeface="Calibri"/>
              </a:rPr>
              <a:t>Impact state</a:t>
            </a:r>
            <a:r>
              <a:rPr sz="1600" b="0">
                <a:solidFill>
                  <a:srgbClr val="242933"/>
                </a:solidFill>
                <a:latin typeface="Calibri"/>
              </a:rPr>
              <a:t> is recovered at </a:t>
            </a:r>
            <a:r>
              <a:rPr sz="1600" b="1">
                <a:solidFill>
                  <a:srgbClr val="1F3864"/>
                </a:solidFill>
                <a:latin typeface="Calibri"/>
              </a:rPr>
              <a:t>R² ≈ 0.88</a:t>
            </a:r>
            <a:r>
              <a:rPr sz="1600" b="0">
                <a:solidFill>
                  <a:srgbClr val="242933"/>
                </a:solidFill>
                <a:latin typeface="Calibri"/>
              </a:rPr>
              <a:t> right at impact and stays </a:t>
            </a:r>
            <a:r>
              <a:rPr sz="1600" b="1">
                <a:solidFill>
                  <a:srgbClr val="1F3864"/>
                </a:solidFill>
                <a:latin typeface="Calibri"/>
              </a:rPr>
              <a:t>above 0.83 out to 8 frames ahead</a:t>
            </a:r>
            <a:r>
              <a:rPr sz="1600" b="0">
                <a:solidFill>
                  <a:srgbClr val="242933"/>
                </a:solidFill>
                <a:latin typeface="Calibri"/>
              </a:rPr>
              <a:t> (kernel ridge; LSTM comparable)</a:t>
            </a:r>
          </a:p>
          <a:p>
            <a:pPr algn="l">
              <a:spcBef>
                <a:spcPts val="0"/>
              </a:spcBef>
              <a:spcAft>
                <a:spcPts val="900"/>
              </a:spcAft>
            </a:pPr>
            <a:r>
              <a:rPr sz="1600" b="1">
                <a:solidFill>
                  <a:srgbClr val="C05210"/>
                </a:solidFill>
                <a:latin typeface="Calibri"/>
              </a:rPr>
              <a:t>•  </a:t>
            </a:r>
            <a:r>
              <a:rPr sz="1600" b="1">
                <a:solidFill>
                  <a:srgbClr val="1F3864"/>
                </a:solidFill>
                <a:latin typeface="Calibri"/>
              </a:rPr>
              <a:t>Impact lift</a:t>
            </a:r>
            <a:r>
              <a:rPr sz="1600" b="0">
                <a:solidFill>
                  <a:srgbClr val="242933"/>
                </a:solidFill>
                <a:latin typeface="Calibri"/>
              </a:rPr>
              <a:t> C_L is estimated with MAE rising gracefully from </a:t>
            </a:r>
            <a:r>
              <a:rPr sz="1600" b="1">
                <a:solidFill>
                  <a:srgbClr val="1F3864"/>
                </a:solidFill>
                <a:latin typeface="Calibri"/>
              </a:rPr>
              <a:t>≈ 0.38 at impact to ≈ 0.60 at 8 frames ahead</a:t>
            </a:r>
            <a:r>
              <a:rPr sz="1600" b="0">
                <a:solidFill>
                  <a:srgbClr val="242933"/>
                </a:solidFill>
                <a:latin typeface="Calibri"/>
              </a:rPr>
              <a:t> (LSTM lower, 0.29 to 0.49)</a:t>
            </a:r>
          </a:p>
          <a:p>
            <a:pPr algn="l">
              <a:spcBef>
                <a:spcPts val="0"/>
              </a:spcBef>
              <a:spcAft>
                <a:spcPts val="900"/>
              </a:spcAft>
            </a:pPr>
            <a:r>
              <a:rPr sz="1600" b="1">
                <a:solidFill>
                  <a:srgbClr val="C05210"/>
                </a:solidFill>
                <a:latin typeface="Calibri"/>
              </a:rPr>
              <a:t>•  </a:t>
            </a:r>
            <a:r>
              <a:rPr sz="1600" b="0">
                <a:solidFill>
                  <a:srgbClr val="242933"/>
                </a:solidFill>
                <a:latin typeface="Calibri"/>
              </a:rPr>
              <a:t>So the </a:t>
            </a:r>
            <a:r>
              <a:rPr sz="1600" b="1">
                <a:solidFill>
                  <a:srgbClr val="1F3864"/>
                </a:solidFill>
                <a:latin typeface="Calibri"/>
              </a:rPr>
              <a:t>unconditioned</a:t>
            </a:r>
            <a:r>
              <a:rPr sz="1600" b="0">
                <a:solidFill>
                  <a:srgbClr val="242933"/>
                </a:solidFill>
                <a:latin typeface="Calibri"/>
              </a:rPr>
              <a:t> state is </a:t>
            </a:r>
            <a:r>
              <a:rPr sz="1600" b="1">
                <a:solidFill>
                  <a:srgbClr val="1F3864"/>
                </a:solidFill>
                <a:latin typeface="Calibri"/>
              </a:rPr>
              <a:t>observable ahead of impact</a:t>
            </a:r>
            <a:r>
              <a:rPr sz="1600" b="0">
                <a:solidFill>
                  <a:srgbClr val="242933"/>
                </a:solidFill>
                <a:latin typeface="Calibri"/>
              </a:rPr>
              <a:t> from a few wall sensors: the ingredient a controller consumes</a:t>
            </a:r>
          </a:p>
        </p:txBody>
      </p:sp>
      <p:pic>
        <p:nvPicPr>
          <p:cNvPr id="7" name="Picture 6" descr="cl_inference_simple.png"/>
          <p:cNvPicPr>
            <a:picLocks noChangeAspect="1"/>
          </p:cNvPicPr>
          <p:nvPr/>
        </p:nvPicPr>
        <p:blipFill>
          <a:blip r:embed="rId2"/>
          <a:stretch>
            <a:fillRect/>
          </a:stretch>
        </p:blipFill>
        <p:spPr>
          <a:xfrm>
            <a:off x="6858000" y="1664208"/>
            <a:ext cx="5029200" cy="2258746"/>
          </a:xfrm>
          <a:prstGeom prst="rect">
            <a:avLst/>
          </a:prstGeom>
        </p:spPr>
      </p:pic>
      <p:sp>
        <p:nvSpPr>
          <p:cNvPr id="8" name="TextBox 7"/>
          <p:cNvSpPr txBox="1"/>
          <p:nvPr/>
        </p:nvSpPr>
        <p:spPr>
          <a:xfrm>
            <a:off x="6858000" y="6108192"/>
            <a:ext cx="502920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Recovered from sparse wall pressure at each lead time before impact (test_b): (a) impact-state R²; (b) impact-C_L MAE. Kernel ridge vs LSTM.</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CONTROL RELEVANCE</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Two forecast windows: early warning, then forecast</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27632"/>
            <a:ext cx="10972800" cy="1691640"/>
          </a:xfrm>
          <a:prstGeom prst="rect">
            <a:avLst/>
          </a:prstGeom>
          <a:noFill/>
        </p:spPr>
        <p:txBody>
          <a:bodyPr wrap="square" anchor="t" lIns="0" rIns="0" tIns="0" bIns="0">
            <a:spAutoFit/>
          </a:bodyPr>
          <a:lstStyle/>
          <a:p>
            <a:pPr algn="l">
              <a:spcBef>
                <a:spcPts val="0"/>
              </a:spcBef>
              <a:spcAft>
                <a:spcPts val="900"/>
              </a:spcAft>
            </a:pPr>
            <a:r>
              <a:rPr sz="1400" b="1">
                <a:solidFill>
                  <a:srgbClr val="C05210"/>
                </a:solidFill>
                <a:latin typeface="Calibri"/>
              </a:rPr>
              <a:t>•  </a:t>
            </a:r>
            <a:r>
              <a:rPr sz="1400" b="0">
                <a:solidFill>
                  <a:srgbClr val="242933"/>
                </a:solidFill>
                <a:latin typeface="Calibri"/>
              </a:rPr>
              <a:t>We </a:t>
            </a:r>
            <a:r>
              <a:rPr sz="1400" b="1">
                <a:solidFill>
                  <a:srgbClr val="1F3864"/>
                </a:solidFill>
                <a:latin typeface="Calibri"/>
              </a:rPr>
              <a:t>roll the unconditioned JEPA's own predictor forward in latent space</a:t>
            </a:r>
            <a:r>
              <a:rPr sz="1400" b="0">
                <a:solidFill>
                  <a:srgbClr val="242933"/>
                </a:solidFill>
                <a:latin typeface="Calibri"/>
              </a:rPr>
              <a:t> and read each observable off the rolled latent with a </a:t>
            </a:r>
            <a:r>
              <a:rPr sz="1400" b="1">
                <a:solidFill>
                  <a:srgbClr val="1F3864"/>
                </a:solidFill>
                <a:latin typeface="Calibri"/>
              </a:rPr>
              <a:t>fixed linear probe</a:t>
            </a:r>
            <a:r>
              <a:rPr sz="1400" b="0">
                <a:solidFill>
                  <a:srgbClr val="242933"/>
                </a:solidFill>
                <a:latin typeface="Calibri"/>
              </a:rPr>
              <a:t>: we </a:t>
            </a:r>
            <a:r>
              <a:rPr sz="1400" b="1">
                <a:solidFill>
                  <a:srgbClr val="1F3864"/>
                </a:solidFill>
                <a:latin typeface="Calibri"/>
              </a:rPr>
              <a:t>predict the JEPA latent, then probe wake / lift from it</a:t>
            </a:r>
          </a:p>
          <a:p>
            <a:pPr algn="l">
              <a:spcBef>
                <a:spcPts val="0"/>
              </a:spcBef>
              <a:spcAft>
                <a:spcPts val="900"/>
              </a:spcAft>
            </a:pPr>
            <a:r>
              <a:rPr sz="1400" b="1">
                <a:solidFill>
                  <a:srgbClr val="C05210"/>
                </a:solidFill>
                <a:latin typeface="Calibri"/>
              </a:rPr>
              <a:t>•  </a:t>
            </a:r>
            <a:r>
              <a:rPr sz="1400" b="1">
                <a:solidFill>
                  <a:srgbClr val="1F3864"/>
                </a:solidFill>
                <a:latin typeface="Calibri"/>
              </a:rPr>
              <a:t>Wake:</a:t>
            </a:r>
            <a:r>
              <a:rPr sz="1400" b="0">
                <a:solidFill>
                  <a:srgbClr val="242933"/>
                </a:solidFill>
                <a:latin typeface="Calibri"/>
              </a:rPr>
              <a:t> a wide </a:t>
            </a:r>
            <a:r>
              <a:rPr sz="1400" b="1">
                <a:solidFill>
                  <a:srgbClr val="1F3864"/>
                </a:solidFill>
                <a:latin typeface="Calibri"/>
              </a:rPr>
              <a:t>±16-frame (≈ ±0.8 t/c)</a:t>
            </a:r>
            <a:r>
              <a:rPr sz="1400" b="0">
                <a:solidFill>
                  <a:srgbClr val="242933"/>
                </a:solidFill>
                <a:latin typeface="Calibri"/>
              </a:rPr>
              <a:t> window around impact (R² 0.7-0.9) -- the structural signature gives </a:t>
            </a:r>
            <a:r>
              <a:rPr sz="1400" b="1">
                <a:solidFill>
                  <a:srgbClr val="1F3864"/>
                </a:solidFill>
                <a:latin typeface="Calibri"/>
              </a:rPr>
              <a:t>early warning</a:t>
            </a:r>
            <a:r>
              <a:rPr sz="1400" b="0">
                <a:solidFill>
                  <a:srgbClr val="242933"/>
                </a:solidFill>
                <a:latin typeface="Calibri"/>
              </a:rPr>
              <a:t> and short-range forecast</a:t>
            </a:r>
          </a:p>
          <a:p>
            <a:pPr algn="l">
              <a:spcBef>
                <a:spcPts val="0"/>
              </a:spcBef>
              <a:spcAft>
                <a:spcPts val="900"/>
              </a:spcAft>
            </a:pPr>
            <a:r>
              <a:rPr sz="1400" b="1">
                <a:solidFill>
                  <a:srgbClr val="C05210"/>
                </a:solidFill>
                <a:latin typeface="Calibri"/>
              </a:rPr>
              <a:t>•  </a:t>
            </a:r>
            <a:r>
              <a:rPr sz="1400" b="1">
                <a:solidFill>
                  <a:srgbClr val="1F3864"/>
                </a:solidFill>
                <a:latin typeface="Calibri"/>
              </a:rPr>
              <a:t>Lift C_L:</a:t>
            </a:r>
            <a:r>
              <a:rPr sz="1400" b="0">
                <a:solidFill>
                  <a:srgbClr val="242933"/>
                </a:solidFill>
                <a:latin typeface="Calibri"/>
              </a:rPr>
              <a:t> hard to anticipate (flat before impact) but </a:t>
            </a:r>
            <a:r>
              <a:rPr sz="1400" b="1">
                <a:solidFill>
                  <a:srgbClr val="1F3864"/>
                </a:solidFill>
                <a:latin typeface="Calibri"/>
              </a:rPr>
              <a:t>strongly forecastable after</a:t>
            </a:r>
            <a:r>
              <a:rPr sz="1400" b="0">
                <a:solidFill>
                  <a:srgbClr val="242933"/>
                </a:solidFill>
                <a:latin typeface="Calibri"/>
              </a:rPr>
              <a:t> (R² ≈ 0.8 to +12) -- the load is predictable </a:t>
            </a:r>
            <a:r>
              <a:rPr sz="1400" b="1">
                <a:solidFill>
                  <a:srgbClr val="1F3864"/>
                </a:solidFill>
                <a:latin typeface="Calibri"/>
              </a:rPr>
              <a:t>once impact hits</a:t>
            </a:r>
          </a:p>
        </p:txBody>
      </p:sp>
      <p:pic>
        <p:nvPicPr>
          <p:cNvPr id="7" name="Picture 6" descr="forecast_windows.png"/>
          <p:cNvPicPr>
            <a:picLocks noChangeAspect="1"/>
          </p:cNvPicPr>
          <p:nvPr/>
        </p:nvPicPr>
        <p:blipFill>
          <a:blip r:embed="rId2"/>
          <a:stretch>
            <a:fillRect/>
          </a:stretch>
        </p:blipFill>
        <p:spPr>
          <a:xfrm>
            <a:off x="3012736" y="3383280"/>
            <a:ext cx="6136046" cy="2560320"/>
          </a:xfrm>
          <a:prstGeom prst="rect">
            <a:avLst/>
          </a:prstGeom>
        </p:spPr>
      </p:pic>
      <p:sp>
        <p:nvSpPr>
          <p:cNvPr id="8" name="TextBox 7"/>
          <p:cNvSpPr txBox="1"/>
          <p:nvPr/>
        </p:nvSpPr>
        <p:spPr>
          <a:xfrm>
            <a:off x="731520" y="5961888"/>
            <a:ext cx="106984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Wake (left) and lift (right) R² vs frames relative to impact (test_b): x &lt; 0 anticipation lead, x &gt; 0 forecast horizon; tf-no-c and lstm-no-c.</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CONCLUSIONS</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Conclusions</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10972800" cy="4572000"/>
          </a:xfrm>
          <a:prstGeom prst="rect">
            <a:avLst/>
          </a:prstGeom>
          <a:noFill/>
        </p:spPr>
        <p:txBody>
          <a:bodyPr wrap="square" anchor="t" lIns="0" rIns="0" tIns="0" bIns="0">
            <a:spAutoFit/>
          </a:bodyPr>
          <a:lstStyle/>
          <a:p>
            <a:pPr algn="l">
              <a:spcBef>
                <a:spcPts val="0"/>
              </a:spcBef>
              <a:spcAft>
                <a:spcPts val="900"/>
              </a:spcAft>
            </a:pPr>
            <a:r>
              <a:rPr sz="1800" b="1">
                <a:solidFill>
                  <a:srgbClr val="C05210"/>
                </a:solidFill>
                <a:latin typeface="Calibri"/>
              </a:rPr>
              <a:t>•  </a:t>
            </a:r>
            <a:r>
              <a:rPr sz="1800" b="0">
                <a:solidFill>
                  <a:srgbClr val="242933"/>
                </a:solidFill>
                <a:latin typeface="Calibri"/>
              </a:rPr>
              <a:t>A </a:t>
            </a:r>
            <a:r>
              <a:rPr sz="1800" b="1">
                <a:solidFill>
                  <a:srgbClr val="1F3864"/>
                </a:solidFill>
                <a:latin typeface="Calibri"/>
              </a:rPr>
              <a:t>fully unconditioned predictive latent</a:t>
            </a:r>
            <a:r>
              <a:rPr sz="1800" b="0">
                <a:solidFill>
                  <a:srgbClr val="242933"/>
                </a:solidFill>
                <a:latin typeface="Calibri"/>
              </a:rPr>
              <a:t> (no gust parameters anywhere) </a:t>
            </a:r>
            <a:r>
              <a:rPr sz="1800" b="1">
                <a:solidFill>
                  <a:srgbClr val="1F3864"/>
                </a:solidFill>
                <a:latin typeface="Calibri"/>
              </a:rPr>
              <a:t>representationally keeps the wake</a:t>
            </a:r>
            <a:r>
              <a:rPr sz="1800" b="0">
                <a:solidFill>
                  <a:srgbClr val="242933"/>
                </a:solidFill>
                <a:latin typeface="Calibri"/>
              </a:rPr>
              <a:t> (wake R² ≈ 0.71) that </a:t>
            </a:r>
            <a:r>
              <a:rPr sz="1800" b="1">
                <a:solidFill>
                  <a:srgbClr val="1F3864"/>
                </a:solidFill>
                <a:latin typeface="Calibri"/>
              </a:rPr>
              <a:t>force-only and reconstruction-only</a:t>
            </a:r>
            <a:r>
              <a:rPr sz="1800" b="0">
                <a:solidFill>
                  <a:srgbClr val="242933"/>
                </a:solidFill>
                <a:latin typeface="Calibri"/>
              </a:rPr>
              <a:t> states lose</a:t>
            </a:r>
          </a:p>
          <a:p>
            <a:pPr algn="l">
              <a:spcBef>
                <a:spcPts val="0"/>
              </a:spcBef>
              <a:spcAft>
                <a:spcPts val="900"/>
              </a:spcAft>
            </a:pPr>
            <a:r>
              <a:rPr sz="1800" b="1">
                <a:solidFill>
                  <a:srgbClr val="C05210"/>
                </a:solidFill>
                <a:latin typeface="Calibri"/>
              </a:rPr>
              <a:t>•  </a:t>
            </a:r>
            <a:r>
              <a:rPr sz="1800" b="0">
                <a:solidFill>
                  <a:srgbClr val="242933"/>
                </a:solidFill>
                <a:latin typeface="Calibri"/>
              </a:rPr>
              <a:t>That latent </a:t>
            </a:r>
            <a:r>
              <a:rPr sz="1800" b="1">
                <a:solidFill>
                  <a:srgbClr val="1F3864"/>
                </a:solidFill>
                <a:latin typeface="Calibri"/>
              </a:rPr>
              <a:t>traces a single clean cycle</a:t>
            </a:r>
            <a:r>
              <a:rPr sz="1800" b="0">
                <a:solidFill>
                  <a:srgbClr val="242933"/>
                </a:solidFill>
                <a:latin typeface="Calibri"/>
              </a:rPr>
              <a:t>, is </a:t>
            </a:r>
            <a:r>
              <a:rPr sz="1800" b="1">
                <a:solidFill>
                  <a:srgbClr val="1F3864"/>
                </a:solidFill>
                <a:latin typeface="Calibri"/>
              </a:rPr>
              <a:t>transport-consistent</a:t>
            </a:r>
            <a:r>
              <a:rPr sz="1800" b="0">
                <a:solidFill>
                  <a:srgbClr val="242933"/>
                </a:solidFill>
                <a:latin typeface="Calibri"/>
              </a:rPr>
              <a:t> within an encounter, and is </a:t>
            </a:r>
            <a:r>
              <a:rPr sz="1800" b="1">
                <a:solidFill>
                  <a:srgbClr val="1F3864"/>
                </a:solidFill>
                <a:latin typeface="Calibri"/>
              </a:rPr>
              <a:t>observable from sparse wall pressure</a:t>
            </a:r>
          </a:p>
          <a:p>
            <a:pPr algn="l">
              <a:spcBef>
                <a:spcPts val="0"/>
              </a:spcBef>
              <a:spcAft>
                <a:spcPts val="500"/>
              </a:spcAft>
            </a:pPr>
            <a:r>
              <a:rPr sz="1500" b="0">
                <a:solidFill>
                  <a:srgbClr val="6B7280"/>
                </a:solidFill>
                <a:latin typeface="Calibri"/>
              </a:rPr>
              <a:t>      –  </a:t>
            </a:r>
            <a:r>
              <a:rPr sz="1500" b="1">
                <a:solidFill>
                  <a:srgbClr val="1F3864"/>
                </a:solidFill>
                <a:latin typeface="Calibri"/>
              </a:rPr>
              <a:t>compact</a:t>
            </a:r>
            <a:r>
              <a:rPr sz="1500" b="0">
                <a:solidFill>
                  <a:srgbClr val="6B7280"/>
                </a:solidFill>
                <a:latin typeface="Calibri"/>
              </a:rPr>
              <a:t> (d = 32 ≈ d = 64, participation ratio ≈ 1.7)</a:t>
            </a:r>
          </a:p>
          <a:p>
            <a:pPr algn="l">
              <a:spcBef>
                <a:spcPts val="0"/>
              </a:spcBef>
              <a:spcAft>
                <a:spcPts val="900"/>
              </a:spcAft>
            </a:pPr>
            <a:r>
              <a:rPr sz="1800" b="1">
                <a:solidFill>
                  <a:srgbClr val="C05210"/>
                </a:solidFill>
                <a:latin typeface="Calibri"/>
              </a:rPr>
              <a:t>•  </a:t>
            </a:r>
            <a:r>
              <a:rPr sz="1800" b="0">
                <a:solidFill>
                  <a:srgbClr val="242933"/>
                </a:solidFill>
                <a:latin typeface="Calibri"/>
              </a:rPr>
              <a:t>The </a:t>
            </a:r>
            <a:r>
              <a:rPr sz="1800" b="1">
                <a:solidFill>
                  <a:srgbClr val="1F3864"/>
                </a:solidFill>
                <a:latin typeface="Calibri"/>
              </a:rPr>
              <a:t>rollout</a:t>
            </a:r>
            <a:r>
              <a:rPr sz="1800" b="0">
                <a:solidFill>
                  <a:srgbClr val="242933"/>
                </a:solidFill>
                <a:latin typeface="Calibri"/>
              </a:rPr>
              <a:t> is shown </a:t>
            </a:r>
            <a:r>
              <a:rPr sz="1800" b="1">
                <a:solidFill>
                  <a:srgbClr val="1F3864"/>
                </a:solidFill>
                <a:latin typeface="Calibri"/>
              </a:rPr>
              <a:t>qualitatively</a:t>
            </a:r>
            <a:r>
              <a:rPr sz="1800" b="0">
                <a:solidFill>
                  <a:srgbClr val="242933"/>
                </a:solidFill>
                <a:latin typeface="Calibri"/>
              </a:rPr>
              <a:t>: it stays on-manifold and tracks the wake, but we make </a:t>
            </a:r>
            <a:r>
              <a:rPr sz="1800" b="1">
                <a:solidFill>
                  <a:srgbClr val="1F3864"/>
                </a:solidFill>
                <a:latin typeface="Calibri"/>
              </a:rPr>
              <a:t>no forward-closure R² claim</a:t>
            </a:r>
          </a:p>
          <a:p>
            <a:pPr algn="l">
              <a:spcBef>
                <a:spcPts val="0"/>
              </a:spcBef>
              <a:spcAft>
                <a:spcPts val="900"/>
              </a:spcAft>
            </a:pPr>
            <a:r>
              <a:rPr sz="1800" b="1">
                <a:solidFill>
                  <a:srgbClr val="C05210"/>
                </a:solidFill>
                <a:latin typeface="Calibri"/>
              </a:rPr>
              <a:t>•  </a:t>
            </a:r>
            <a:r>
              <a:rPr sz="1800" b="0">
                <a:solidFill>
                  <a:srgbClr val="242933"/>
                </a:solidFill>
                <a:latin typeface="Calibri"/>
              </a:rPr>
              <a:t>It is a </a:t>
            </a:r>
            <a:r>
              <a:rPr sz="1800" b="1">
                <a:solidFill>
                  <a:srgbClr val="1F3864"/>
                </a:solidFill>
                <a:latin typeface="Calibri"/>
              </a:rPr>
              <a:t>substrate</a:t>
            </a:r>
            <a:r>
              <a:rPr sz="1800" b="0">
                <a:solidFill>
                  <a:srgbClr val="242933"/>
                </a:solidFill>
                <a:latin typeface="Calibri"/>
              </a:rPr>
              <a:t> for model-based control and RL world-models, </a:t>
            </a:r>
            <a:r>
              <a:rPr sz="1800" b="1">
                <a:solidFill>
                  <a:srgbClr val="1F3864"/>
                </a:solidFill>
                <a:latin typeface="Calibri"/>
              </a:rPr>
              <a:t>not yet a validated controller</a:t>
            </a:r>
          </a:p>
          <a:p>
            <a:pPr algn="l">
              <a:spcBef>
                <a:spcPts val="0"/>
              </a:spcBef>
              <a:spcAft>
                <a:spcPts val="900"/>
              </a:spcAft>
            </a:pPr>
            <a:r>
              <a:rPr sz="1800" b="1">
                <a:solidFill>
                  <a:srgbClr val="C05210"/>
                </a:solidFill>
                <a:latin typeface="Calibri"/>
              </a:rPr>
              <a:t>•  </a:t>
            </a:r>
            <a:r>
              <a:rPr sz="1800" b="1">
                <a:solidFill>
                  <a:srgbClr val="1F3864"/>
                </a:solidFill>
                <a:latin typeface="Calibri"/>
              </a:rPr>
              <a:t>Next:</a:t>
            </a:r>
            <a:r>
              <a:rPr sz="1800" b="0">
                <a:solidFill>
                  <a:srgbClr val="242933"/>
                </a:solidFill>
                <a:latin typeface="Calibri"/>
              </a:rPr>
              <a:t> add an </a:t>
            </a:r>
            <a:r>
              <a:rPr sz="1800" b="1">
                <a:solidFill>
                  <a:srgbClr val="1F3864"/>
                </a:solidFill>
                <a:latin typeface="Calibri"/>
              </a:rPr>
              <a:t>actuation channel</a:t>
            </a:r>
            <a:r>
              <a:rPr sz="1800" b="0">
                <a:solidFill>
                  <a:srgbClr val="242933"/>
                </a:solidFill>
                <a:latin typeface="Calibri"/>
              </a:rPr>
              <a:t> (same machinery), </a:t>
            </a:r>
            <a:r>
              <a:rPr sz="1800" b="1">
                <a:solidFill>
                  <a:srgbClr val="1F3864"/>
                </a:solidFill>
                <a:latin typeface="Calibri"/>
              </a:rPr>
              <a:t>close the loop</a:t>
            </a:r>
            <a:r>
              <a:rPr sz="1800" b="0">
                <a:solidFill>
                  <a:srgbClr val="242933"/>
                </a:solidFill>
                <a:latin typeface="Calibri"/>
              </a:rPr>
              <a:t>, push to </a:t>
            </a:r>
            <a:r>
              <a:rPr sz="1800" b="1">
                <a:solidFill>
                  <a:srgbClr val="1F3864"/>
                </a:solidFill>
                <a:latin typeface="Calibri"/>
              </a:rPr>
              <a:t>3D observability</a:t>
            </a:r>
            <a:r>
              <a:rPr sz="1800" b="0">
                <a:solidFill>
                  <a:srgbClr val="242933"/>
                </a:solidFill>
                <a:latin typeface="Calibri"/>
              </a:rPr>
              <a:t> at |G| = 4, and carry the recipe to </a:t>
            </a:r>
            <a:r>
              <a:rPr sz="1800" b="1">
                <a:solidFill>
                  <a:srgbClr val="1F3864"/>
                </a:solidFill>
                <a:latin typeface="Calibri"/>
              </a:rPr>
              <a:t>other parametric flows</a:t>
            </a:r>
          </a:p>
        </p:txBody>
      </p:sp>
      <p:sp>
        <p:nvSpPr>
          <p:cNvPr id="7" name="TextBox 6"/>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8" name="TextBox 7"/>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THANKS</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Acknowledgements</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881360" cy="457200"/>
          </a:xfrm>
          <a:prstGeom prst="rect">
            <a:avLst/>
          </a:prstGeom>
          <a:noFill/>
        </p:spPr>
        <p:txBody>
          <a:bodyPr wrap="square" anchor="t" lIns="0" rIns="0" tIns="0" bIns="0">
            <a:spAutoFit/>
          </a:bodyPr>
          <a:lstStyle/>
          <a:p>
            <a:pPr algn="l">
              <a:spcBef>
                <a:spcPts val="0"/>
              </a:spcBef>
              <a:spcAft>
                <a:spcPts val="600"/>
              </a:spcAft>
            </a:pPr>
            <a:r>
              <a:rPr sz="1800" b="1">
                <a:solidFill>
                  <a:srgbClr val="242933"/>
                </a:solidFill>
                <a:latin typeface="Calibri"/>
              </a:rPr>
              <a:t>This work is a collaboration with:</a:t>
            </a:r>
          </a:p>
        </p:txBody>
      </p:sp>
      <p:pic>
        <p:nvPicPr>
          <p:cNvPr id="7" name="Picture 6" descr="photo_solera_sq.png"/>
          <p:cNvPicPr>
            <a:picLocks noChangeAspect="1"/>
          </p:cNvPicPr>
          <p:nvPr/>
        </p:nvPicPr>
        <p:blipFill>
          <a:blip r:embed="rId2"/>
          <a:stretch>
            <a:fillRect/>
          </a:stretch>
        </p:blipFill>
        <p:spPr>
          <a:xfrm>
            <a:off x="1554479" y="2011680"/>
            <a:ext cx="1554480" cy="1554480"/>
          </a:xfrm>
          <a:prstGeom prst="rect">
            <a:avLst/>
          </a:prstGeom>
        </p:spPr>
      </p:pic>
      <p:sp>
        <p:nvSpPr>
          <p:cNvPr id="8" name="TextBox 7"/>
          <p:cNvSpPr txBox="1"/>
          <p:nvPr/>
        </p:nvSpPr>
        <p:spPr>
          <a:xfrm>
            <a:off x="640079" y="3657600"/>
            <a:ext cx="3383280" cy="685800"/>
          </a:xfrm>
          <a:prstGeom prst="rect">
            <a:avLst/>
          </a:prstGeom>
          <a:noFill/>
        </p:spPr>
        <p:txBody>
          <a:bodyPr wrap="square" anchor="t" lIns="0" rIns="0" tIns="0" bIns="0">
            <a:spAutoFit/>
          </a:bodyPr>
          <a:lstStyle/>
          <a:p>
            <a:pPr algn="ctr">
              <a:spcBef>
                <a:spcPts val="0"/>
              </a:spcBef>
              <a:spcAft>
                <a:spcPts val="600"/>
              </a:spcAft>
            </a:pPr>
            <a:r>
              <a:rPr sz="1500" b="1">
                <a:solidFill>
                  <a:srgbClr val="1F3864"/>
                </a:solidFill>
                <a:latin typeface="Calibri"/>
              </a:rPr>
              <a:t>Alberto Solera-Rico</a:t>
            </a:r>
          </a:p>
          <a:p>
            <a:pPr algn="ctr">
              <a:spcBef>
                <a:spcPts val="0"/>
              </a:spcBef>
              <a:spcAft>
                <a:spcPts val="600"/>
              </a:spcAft>
            </a:pPr>
            <a:r>
              <a:rPr sz="1200" b="0">
                <a:solidFill>
                  <a:srgbClr val="6B7280"/>
                </a:solidFill>
                <a:latin typeface="Calibri"/>
              </a:rPr>
              <a:t>INTA · UC3M</a:t>
            </a:r>
          </a:p>
        </p:txBody>
      </p:sp>
      <p:pic>
        <p:nvPicPr>
          <p:cNvPr id="9" name="Picture 8" descr="photo_miro_sq.png"/>
          <p:cNvPicPr>
            <a:picLocks noChangeAspect="1"/>
          </p:cNvPicPr>
          <p:nvPr/>
        </p:nvPicPr>
        <p:blipFill>
          <a:blip r:embed="rId3"/>
          <a:stretch>
            <a:fillRect/>
          </a:stretch>
        </p:blipFill>
        <p:spPr>
          <a:xfrm>
            <a:off x="5303520" y="2011680"/>
            <a:ext cx="1554480" cy="1554480"/>
          </a:xfrm>
          <a:prstGeom prst="rect">
            <a:avLst/>
          </a:prstGeom>
        </p:spPr>
      </p:pic>
      <p:sp>
        <p:nvSpPr>
          <p:cNvPr id="10" name="TextBox 9"/>
          <p:cNvSpPr txBox="1"/>
          <p:nvPr/>
        </p:nvSpPr>
        <p:spPr>
          <a:xfrm>
            <a:off x="4389120" y="3657600"/>
            <a:ext cx="3383280" cy="685800"/>
          </a:xfrm>
          <a:prstGeom prst="rect">
            <a:avLst/>
          </a:prstGeom>
          <a:noFill/>
        </p:spPr>
        <p:txBody>
          <a:bodyPr wrap="square" anchor="t" lIns="0" rIns="0" tIns="0" bIns="0">
            <a:spAutoFit/>
          </a:bodyPr>
          <a:lstStyle/>
          <a:p>
            <a:pPr algn="ctr">
              <a:spcBef>
                <a:spcPts val="0"/>
              </a:spcBef>
              <a:spcAft>
                <a:spcPts val="600"/>
              </a:spcAft>
            </a:pPr>
            <a:r>
              <a:rPr sz="1500" b="1">
                <a:solidFill>
                  <a:srgbClr val="1F3864"/>
                </a:solidFill>
                <a:latin typeface="Calibri"/>
              </a:rPr>
              <a:t>Arnau Miró</a:t>
            </a:r>
          </a:p>
          <a:p>
            <a:pPr algn="ctr">
              <a:spcBef>
                <a:spcPts val="0"/>
              </a:spcBef>
              <a:spcAft>
                <a:spcPts val="600"/>
              </a:spcAft>
            </a:pPr>
            <a:r>
              <a:rPr sz="1200" b="0">
                <a:solidFill>
                  <a:srgbClr val="6B7280"/>
                </a:solidFill>
                <a:latin typeface="Calibri"/>
              </a:rPr>
              <a:t>UPC · BSC</a:t>
            </a:r>
          </a:p>
        </p:txBody>
      </p:sp>
      <p:pic>
        <p:nvPicPr>
          <p:cNvPr id="11" name="Picture 10" descr="photo_lehmkuhl_sq.png"/>
          <p:cNvPicPr>
            <a:picLocks noChangeAspect="1"/>
          </p:cNvPicPr>
          <p:nvPr/>
        </p:nvPicPr>
        <p:blipFill>
          <a:blip r:embed="rId4"/>
          <a:stretch>
            <a:fillRect/>
          </a:stretch>
        </p:blipFill>
        <p:spPr>
          <a:xfrm>
            <a:off x="9052560" y="2011680"/>
            <a:ext cx="1554480" cy="1554480"/>
          </a:xfrm>
          <a:prstGeom prst="rect">
            <a:avLst/>
          </a:prstGeom>
        </p:spPr>
      </p:pic>
      <p:sp>
        <p:nvSpPr>
          <p:cNvPr id="12" name="TextBox 11"/>
          <p:cNvSpPr txBox="1"/>
          <p:nvPr/>
        </p:nvSpPr>
        <p:spPr>
          <a:xfrm>
            <a:off x="8138160" y="3657600"/>
            <a:ext cx="3383280" cy="685800"/>
          </a:xfrm>
          <a:prstGeom prst="rect">
            <a:avLst/>
          </a:prstGeom>
          <a:noFill/>
        </p:spPr>
        <p:txBody>
          <a:bodyPr wrap="square" anchor="t" lIns="0" rIns="0" tIns="0" bIns="0">
            <a:spAutoFit/>
          </a:bodyPr>
          <a:lstStyle/>
          <a:p>
            <a:pPr algn="ctr">
              <a:spcBef>
                <a:spcPts val="0"/>
              </a:spcBef>
              <a:spcAft>
                <a:spcPts val="600"/>
              </a:spcAft>
            </a:pPr>
            <a:r>
              <a:rPr sz="1500" b="1">
                <a:solidFill>
                  <a:srgbClr val="1F3864"/>
                </a:solidFill>
                <a:latin typeface="Calibri"/>
              </a:rPr>
              <a:t>Oriol Lehmkuhl</a:t>
            </a:r>
          </a:p>
          <a:p>
            <a:pPr algn="ctr">
              <a:spcBef>
                <a:spcPts val="0"/>
              </a:spcBef>
              <a:spcAft>
                <a:spcPts val="600"/>
              </a:spcAft>
            </a:pPr>
            <a:r>
              <a:rPr sz="1200" b="0">
                <a:solidFill>
                  <a:srgbClr val="6B7280"/>
                </a:solidFill>
                <a:latin typeface="Calibri"/>
              </a:rPr>
              <a:t>BSC</a:t>
            </a:r>
          </a:p>
        </p:txBody>
      </p:sp>
      <p:sp>
        <p:nvSpPr>
          <p:cNvPr id="13" name="Rectangle 12"/>
          <p:cNvSpPr/>
          <p:nvPr/>
        </p:nvSpPr>
        <p:spPr>
          <a:xfrm>
            <a:off x="640080" y="4617720"/>
            <a:ext cx="10881360" cy="1600200"/>
          </a:xfrm>
          <a:prstGeom prst="rect">
            <a:avLst/>
          </a:prstGeom>
          <a:solidFill>
            <a:srgbClr val="F3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617720"/>
            <a:ext cx="91440" cy="160020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773168"/>
            <a:ext cx="7498079" cy="1371600"/>
          </a:xfrm>
          <a:prstGeom prst="rect">
            <a:avLst/>
          </a:prstGeom>
          <a:noFill/>
        </p:spPr>
        <p:txBody>
          <a:bodyPr wrap="square" anchor="t" lIns="0" rIns="0" tIns="0" bIns="0">
            <a:spAutoFit/>
          </a:bodyPr>
          <a:lstStyle/>
          <a:p>
            <a:pPr algn="l">
              <a:spcBef>
                <a:spcPts val="0"/>
              </a:spcBef>
              <a:spcAft>
                <a:spcPts val="600"/>
              </a:spcAft>
            </a:pPr>
            <a:r>
              <a:rPr sz="1300" b="0">
                <a:solidFill>
                  <a:srgbClr val="242933"/>
                </a:solidFill>
                <a:latin typeface="Calibri"/>
              </a:rPr>
              <a:t>Work produced with the support of a 2024 Leonardo Grant for Researchers and Cultural Creators, BBVA Foundation, project PREVENT (grant LEO24-2-15988). The Foundation takes no responsibility for the opinions, statements and contents of this project, which are entirely the responsibility of its authors.</a:t>
            </a:r>
          </a:p>
        </p:txBody>
      </p:sp>
      <p:pic>
        <p:nvPicPr>
          <p:cNvPr id="16" name="Picture 15" descr="IMG_2283.jpeg"/>
          <p:cNvPicPr>
            <a:picLocks noChangeAspect="1"/>
          </p:cNvPicPr>
          <p:nvPr/>
        </p:nvPicPr>
        <p:blipFill>
          <a:blip r:embed="rId5"/>
          <a:stretch>
            <a:fillRect/>
          </a:stretch>
        </p:blipFill>
        <p:spPr>
          <a:xfrm>
            <a:off x="9462630" y="4846320"/>
            <a:ext cx="1008659" cy="566928"/>
          </a:xfrm>
          <a:prstGeom prst="rect">
            <a:avLst/>
          </a:prstGeom>
        </p:spPr>
      </p:pic>
      <p:pic>
        <p:nvPicPr>
          <p:cNvPr id="17" name="Picture 16" descr="IMG_2282.png"/>
          <p:cNvPicPr>
            <a:picLocks noChangeAspect="1"/>
          </p:cNvPicPr>
          <p:nvPr/>
        </p:nvPicPr>
        <p:blipFill>
          <a:blip r:embed="rId6"/>
          <a:stretch>
            <a:fillRect/>
          </a:stretch>
        </p:blipFill>
        <p:spPr>
          <a:xfrm>
            <a:off x="9467124" y="5532120"/>
            <a:ext cx="999671" cy="566928"/>
          </a:xfrm>
          <a:prstGeom prst="rect">
            <a:avLst/>
          </a:prstGeom>
        </p:spPr>
      </p:pic>
      <p:sp>
        <p:nvSpPr>
          <p:cNvPr id="18" name="TextBox 17"/>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9" name="TextBox 18"/>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06040"/>
            <a:ext cx="10332720" cy="1463040"/>
          </a:xfrm>
          <a:prstGeom prst="rect">
            <a:avLst/>
          </a:prstGeom>
          <a:noFill/>
        </p:spPr>
        <p:txBody>
          <a:bodyPr wrap="square" anchor="ctr" lIns="0" rIns="0" tIns="0" bIns="0">
            <a:spAutoFit/>
          </a:bodyPr>
          <a:lstStyle/>
          <a:p>
            <a:pPr algn="l">
              <a:spcBef>
                <a:spcPts val="0"/>
              </a:spcBef>
              <a:spcAft>
                <a:spcPts val="600"/>
              </a:spcAft>
            </a:pPr>
            <a:r>
              <a:rPr sz="3600" b="1">
                <a:solidFill>
                  <a:srgbClr val="FFFFFF"/>
                </a:solidFill>
                <a:latin typeface="Calibri"/>
              </a:rPr>
              <a:t>Backup slides</a:t>
            </a:r>
          </a:p>
          <a:p>
            <a:pPr algn="l">
              <a:spcBef>
                <a:spcPts val="600"/>
              </a:spcBef>
              <a:spcAft>
                <a:spcPts val="600"/>
              </a:spcAft>
            </a:pPr>
            <a:r>
              <a:rPr sz="1600" b="0">
                <a:solidFill>
                  <a:srgbClr val="C9D3E6"/>
                </a:solidFill>
                <a:latin typeface="Calibri"/>
              </a:rPr>
              <a:t>Supporting detail and ablations</a:t>
            </a:r>
          </a:p>
        </p:txBody>
      </p:sp>
      <p:sp>
        <p:nvSpPr>
          <p:cNvPr id="4" name="Rectangle 3"/>
          <p:cNvSpPr/>
          <p:nvPr/>
        </p:nvSpPr>
        <p:spPr>
          <a:xfrm>
            <a:off x="960120" y="3886200"/>
            <a:ext cx="2743200" cy="54864"/>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BACKUP, MECHANISM</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Transport geometry (optimal transport)</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263640" cy="4572000"/>
          </a:xfrm>
          <a:prstGeom prst="rect">
            <a:avLst/>
          </a:prstGeom>
          <a:noFill/>
        </p:spPr>
        <p:txBody>
          <a:bodyPr wrap="square" anchor="t" lIns="0" rIns="0" tIns="0" bIns="0">
            <a:spAutoFit/>
          </a:bodyPr>
          <a:lstStyle/>
          <a:p>
            <a:pPr algn="l">
              <a:spcBef>
                <a:spcPts val="0"/>
              </a:spcBef>
              <a:spcAft>
                <a:spcPts val="900"/>
              </a:spcAft>
            </a:pPr>
            <a:r>
              <a:rPr sz="1300" b="1">
                <a:solidFill>
                  <a:srgbClr val="C05210"/>
                </a:solidFill>
                <a:latin typeface="Calibri"/>
              </a:rPr>
              <a:t>•  </a:t>
            </a:r>
            <a:r>
              <a:rPr sz="1300" b="1">
                <a:solidFill>
                  <a:srgbClr val="1F3864"/>
                </a:solidFill>
                <a:latin typeface="Calibri"/>
              </a:rPr>
              <a:t>Why:</a:t>
            </a:r>
            <a:r>
              <a:rPr sz="1300" b="0">
                <a:solidFill>
                  <a:srgbClr val="242933"/>
                </a:solidFill>
                <a:latin typeface="Calibri"/>
              </a:rPr>
              <a:t> Euclidean / pixel distance ignores </a:t>
            </a:r>
            <a:r>
              <a:rPr sz="1300" b="1">
                <a:solidFill>
                  <a:srgbClr val="1F3864"/>
                </a:solidFill>
                <a:latin typeface="Calibri"/>
              </a:rPr>
              <a:t>where structures move</a:t>
            </a:r>
            <a:r>
              <a:rPr sz="1300" b="0">
                <a:solidFill>
                  <a:srgbClr val="242933"/>
                </a:solidFill>
                <a:latin typeface="Calibri"/>
              </a:rPr>
              <a:t>; control cares about advection of the LEV and shear layer</a:t>
            </a:r>
          </a:p>
          <a:p>
            <a:pPr algn="l">
              <a:spcBef>
                <a:spcPts val="0"/>
              </a:spcBef>
              <a:spcAft>
                <a:spcPts val="900"/>
              </a:spcAft>
            </a:pPr>
            <a:r>
              <a:rPr sz="1300" b="1">
                <a:solidFill>
                  <a:srgbClr val="C05210"/>
                </a:solidFill>
                <a:latin typeface="Calibri"/>
              </a:rPr>
              <a:t>•  </a:t>
            </a:r>
            <a:r>
              <a:rPr sz="1300" b="1">
                <a:solidFill>
                  <a:srgbClr val="1F3864"/>
                </a:solidFill>
                <a:latin typeface="Calibri"/>
              </a:rPr>
              <a:t>OT field distance</a:t>
            </a:r>
            <a:r>
              <a:rPr sz="1300" b="0">
                <a:solidFill>
                  <a:srgbClr val="242933"/>
                </a:solidFill>
                <a:latin typeface="Calibri"/>
              </a:rPr>
              <a:t> (after Tran, Yeh &amp; Taira, JFM 2026): split vorticity into ± parts, transport each with </a:t>
            </a:r>
            <a:r>
              <a:rPr sz="1300" b="1">
                <a:solidFill>
                  <a:srgbClr val="1F3864"/>
                </a:solidFill>
                <a:latin typeface="Calibri"/>
              </a:rPr>
              <a:t>unbalanced Sinkhorn</a:t>
            </a:r>
            <a:r>
              <a:rPr sz="1300" b="0">
                <a:solidFill>
                  <a:srgbClr val="242933"/>
                </a:solidFill>
                <a:latin typeface="Calibri"/>
              </a:rPr>
              <a:t> OT and sum, the least work to rearrange one field into another</a:t>
            </a:r>
          </a:p>
          <a:p>
            <a:pPr algn="l">
              <a:spcBef>
                <a:spcPts val="0"/>
              </a:spcBef>
              <a:spcAft>
                <a:spcPts val="900"/>
              </a:spcAft>
            </a:pPr>
            <a:r>
              <a:rPr sz="1300" b="1">
                <a:solidFill>
                  <a:srgbClr val="C05210"/>
                </a:solidFill>
                <a:latin typeface="Calibri"/>
              </a:rPr>
              <a:t>•  </a:t>
            </a:r>
            <a:r>
              <a:rPr sz="1300" b="0">
                <a:solidFill>
                  <a:srgbClr val="242933"/>
                </a:solidFill>
                <a:latin typeface="Calibri"/>
              </a:rPr>
              <a:t>We did </a:t>
            </a:r>
            <a:r>
              <a:rPr sz="1300" b="1">
                <a:solidFill>
                  <a:srgbClr val="1F3864"/>
                </a:solidFill>
                <a:latin typeface="Calibri"/>
              </a:rPr>
              <a:t>not</a:t>
            </a:r>
            <a:r>
              <a:rPr sz="1300" b="0">
                <a:solidFill>
                  <a:srgbClr val="242933"/>
                </a:solidFill>
                <a:latin typeface="Calibri"/>
              </a:rPr>
              <a:t> train the latent to match OT (that paper does); this is a </a:t>
            </a:r>
            <a:r>
              <a:rPr sz="1300" b="1">
                <a:solidFill>
                  <a:srgbClr val="1F3864"/>
                </a:solidFill>
                <a:latin typeface="Calibri"/>
              </a:rPr>
              <a:t>post-hoc test</a:t>
            </a:r>
            <a:r>
              <a:rPr sz="1300" b="0">
                <a:solidFill>
                  <a:srgbClr val="242933"/>
                </a:solidFill>
                <a:latin typeface="Calibri"/>
              </a:rPr>
              <a:t>: per encounter, Spearman-correlate the </a:t>
            </a:r>
            <a:r>
              <a:rPr sz="1300" b="1">
                <a:solidFill>
                  <a:srgbClr val="1F3864"/>
                </a:solidFill>
                <a:latin typeface="Calibri"/>
              </a:rPr>
              <a:t>latent</a:t>
            </a:r>
            <a:r>
              <a:rPr sz="1300" b="0">
                <a:solidFill>
                  <a:srgbClr val="242933"/>
                </a:solidFill>
                <a:latin typeface="Calibri"/>
              </a:rPr>
              <a:t> distance matrix with the </a:t>
            </a:r>
            <a:r>
              <a:rPr sz="1300" b="1">
                <a:solidFill>
                  <a:srgbClr val="1F3864"/>
                </a:solidFill>
                <a:latin typeface="Calibri"/>
              </a:rPr>
              <a:t>OT</a:t>
            </a:r>
            <a:r>
              <a:rPr sz="1300" b="0">
                <a:solidFill>
                  <a:srgbClr val="242933"/>
                </a:solidFill>
                <a:latin typeface="Calibri"/>
              </a:rPr>
              <a:t> matrix (n = 42)</a:t>
            </a:r>
          </a:p>
          <a:p>
            <a:pPr algn="l">
              <a:spcBef>
                <a:spcPts val="0"/>
              </a:spcBef>
              <a:spcAft>
                <a:spcPts val="900"/>
              </a:spcAft>
            </a:pPr>
            <a:r>
              <a:rPr sz="1300" b="1">
                <a:solidFill>
                  <a:srgbClr val="C05210"/>
                </a:solidFill>
                <a:latin typeface="Calibri"/>
              </a:rPr>
              <a:t>•  </a:t>
            </a:r>
            <a:r>
              <a:rPr sz="1300" b="1">
                <a:solidFill>
                  <a:srgbClr val="1F3864"/>
                </a:solidFill>
                <a:latin typeface="Calibri"/>
              </a:rPr>
              <a:t>Within-encounter:</a:t>
            </a:r>
            <a:r>
              <a:rPr sz="1300" b="0">
                <a:solidFill>
                  <a:srgbClr val="242933"/>
                </a:solidFill>
                <a:latin typeface="Calibri"/>
              </a:rPr>
              <a:t> the unconditioned JEPA </a:t>
            </a:r>
            <a:r>
              <a:rPr sz="1300" b="1">
                <a:solidFill>
                  <a:srgbClr val="1F3864"/>
                </a:solidFill>
                <a:latin typeface="Calibri"/>
              </a:rPr>
              <a:t>0.61</a:t>
            </a:r>
            <a:r>
              <a:rPr sz="1300" b="0">
                <a:solidFill>
                  <a:srgbClr val="242933"/>
                </a:solidFill>
                <a:latin typeface="Calibri"/>
              </a:rPr>
              <a:t> vs reconstructive </a:t>
            </a:r>
            <a:r>
              <a:rPr sz="1300" b="1">
                <a:solidFill>
                  <a:srgbClr val="1F3864"/>
                </a:solidFill>
                <a:latin typeface="Calibri"/>
              </a:rPr>
              <a:t>0.45</a:t>
            </a:r>
            <a:r>
              <a:rPr sz="1300" b="0">
                <a:solidFill>
                  <a:srgbClr val="242933"/>
                </a:solidFill>
                <a:latin typeface="Calibri"/>
              </a:rPr>
              <a:t>, order-preservation along the trajectory, </a:t>
            </a:r>
            <a:r>
              <a:rPr sz="1300" b="1">
                <a:solidFill>
                  <a:srgbClr val="1F3864"/>
                </a:solidFill>
                <a:latin typeface="Calibri"/>
              </a:rPr>
              <a:t>not</a:t>
            </a:r>
            <a:r>
              <a:rPr sz="1300" b="0">
                <a:solidFill>
                  <a:srgbClr val="242933"/>
                </a:solidFill>
                <a:latin typeface="Calibri"/>
              </a:rPr>
              <a:t> an isometry</a:t>
            </a:r>
          </a:p>
          <a:p>
            <a:pPr algn="l">
              <a:spcBef>
                <a:spcPts val="0"/>
              </a:spcBef>
              <a:spcAft>
                <a:spcPts val="900"/>
              </a:spcAft>
            </a:pPr>
            <a:r>
              <a:rPr sz="1300" b="1">
                <a:solidFill>
                  <a:srgbClr val="C05210"/>
                </a:solidFill>
                <a:latin typeface="Calibri"/>
              </a:rPr>
              <a:t>•  </a:t>
            </a:r>
            <a:r>
              <a:rPr sz="1300" b="1">
                <a:solidFill>
                  <a:srgbClr val="1F3864"/>
                </a:solidFill>
                <a:latin typeface="Calibri"/>
              </a:rPr>
              <a:t>Honest caveat:</a:t>
            </a:r>
            <a:r>
              <a:rPr sz="1300" b="0">
                <a:solidFill>
                  <a:srgbClr val="242933"/>
                </a:solidFill>
                <a:latin typeface="Calibri"/>
              </a:rPr>
              <a:t> *pooled across* encounters the alignment </a:t>
            </a:r>
            <a:r>
              <a:rPr sz="1300" b="1">
                <a:solidFill>
                  <a:srgbClr val="1F3864"/>
                </a:solidFill>
                <a:latin typeface="Calibri"/>
              </a:rPr>
              <a:t>does not hold</a:t>
            </a:r>
            <a:r>
              <a:rPr sz="1300" b="0">
                <a:solidFill>
                  <a:srgbClr val="242933"/>
                </a:solidFill>
                <a:latin typeface="Calibri"/>
              </a:rPr>
              <a:t>, so it is </a:t>
            </a:r>
            <a:r>
              <a:rPr sz="1300" b="1">
                <a:solidFill>
                  <a:srgbClr val="1F3864"/>
                </a:solidFill>
                <a:latin typeface="Calibri"/>
              </a:rPr>
              <a:t>trajectory-local</a:t>
            </a:r>
            <a:r>
              <a:rPr sz="1300" b="0">
                <a:solidFill>
                  <a:srgbClr val="242933"/>
                </a:solidFill>
                <a:latin typeface="Calibri"/>
              </a:rPr>
              <a:t>, not a global latent metric</a:t>
            </a:r>
          </a:p>
        </p:txBody>
      </p:sp>
      <p:pic>
        <p:nvPicPr>
          <p:cNvPr id="7" name="Picture 6" descr="ot.png"/>
          <p:cNvPicPr>
            <a:picLocks noChangeAspect="1"/>
          </p:cNvPicPr>
          <p:nvPr/>
        </p:nvPicPr>
        <p:blipFill>
          <a:blip r:embed="rId2"/>
          <a:stretch>
            <a:fillRect/>
          </a:stretch>
        </p:blipFill>
        <p:spPr>
          <a:xfrm>
            <a:off x="7040880" y="1664208"/>
            <a:ext cx="4754880" cy="2219591"/>
          </a:xfrm>
          <a:prstGeom prst="rect">
            <a:avLst/>
          </a:prstGeom>
        </p:spPr>
      </p:pic>
      <p:sp>
        <p:nvSpPr>
          <p:cNvPr id="8" name="TextBox 7"/>
          <p:cNvSpPr txBox="1"/>
          <p:nvPr/>
        </p:nvSpPr>
        <p:spPr>
          <a:xfrm>
            <a:off x="7040880" y="6108192"/>
            <a:ext cx="47548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Per-encounter latent-vs-OT distance alignment (Shepard). OT field distance after Tran, Yeh &amp; Taira (JFM 2026). Within-encounter Spearman 0.61 vs 0.45; pooled it does not hold.</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BACKUP</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Dataset and protocol</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263640" cy="4572000"/>
          </a:xfrm>
          <a:prstGeom prst="rect">
            <a:avLst/>
          </a:prstGeom>
          <a:noFill/>
        </p:spPr>
        <p:txBody>
          <a:bodyPr wrap="square" anchor="t" lIns="0" rIns="0" tIns="0" bIns="0">
            <a:spAutoFit/>
          </a:bodyPr>
          <a:lstStyle/>
          <a:p>
            <a:pPr algn="l">
              <a:spcBef>
                <a:spcPts val="0"/>
              </a:spcBef>
              <a:spcAft>
                <a:spcPts val="900"/>
              </a:spcAft>
            </a:pPr>
            <a:r>
              <a:rPr sz="1700" b="1">
                <a:solidFill>
                  <a:srgbClr val="C05210"/>
                </a:solidFill>
                <a:latin typeface="Calibri"/>
              </a:rPr>
              <a:t>•  </a:t>
            </a:r>
            <a:r>
              <a:rPr sz="1700" b="0">
                <a:solidFill>
                  <a:srgbClr val="242933"/>
                </a:solidFill>
                <a:latin typeface="Calibri"/>
              </a:rPr>
              <a:t>Partition </a:t>
            </a:r>
            <a:r>
              <a:rPr sz="1700" b="1">
                <a:solidFill>
                  <a:srgbClr val="1F3864"/>
                </a:solidFill>
                <a:latin typeface="Calibri"/>
              </a:rPr>
              <a:t>v2</a:t>
            </a:r>
            <a:r>
              <a:rPr sz="1700" b="0">
                <a:solidFill>
                  <a:srgbClr val="242933"/>
                </a:solidFill>
                <a:latin typeface="Calibri"/>
              </a:rPr>
              <a:t> (locked, sha256-anchored): 84 cases</a:t>
            </a:r>
          </a:p>
          <a:p>
            <a:pPr algn="l">
              <a:spcBef>
                <a:spcPts val="0"/>
              </a:spcBef>
              <a:spcAft>
                <a:spcPts val="900"/>
              </a:spcAft>
            </a:pPr>
            <a:r>
              <a:rPr sz="1700" b="1">
                <a:solidFill>
                  <a:srgbClr val="C05210"/>
                </a:solidFill>
                <a:latin typeface="Calibri"/>
              </a:rPr>
              <a:t>•  </a:t>
            </a:r>
            <a:r>
              <a:rPr sz="1700" b="1">
                <a:solidFill>
                  <a:srgbClr val="1F3864"/>
                </a:solidFill>
                <a:latin typeface="Calibri"/>
              </a:rPr>
              <a:t>226</a:t>
            </a:r>
            <a:r>
              <a:rPr sz="1700" b="0">
                <a:solidFill>
                  <a:srgbClr val="242933"/>
                </a:solidFill>
                <a:latin typeface="Calibri"/>
              </a:rPr>
              <a:t> train encounters · </a:t>
            </a:r>
            <a:r>
              <a:rPr sz="1700" b="1">
                <a:solidFill>
                  <a:srgbClr val="1F3864"/>
                </a:solidFill>
                <a:latin typeface="Calibri"/>
              </a:rPr>
              <a:t>42</a:t>
            </a:r>
            <a:r>
              <a:rPr sz="1700" b="0">
                <a:solidFill>
                  <a:srgbClr val="242933"/>
                </a:solidFill>
                <a:latin typeface="Calibri"/>
              </a:rPr>
              <a:t> test_b · </a:t>
            </a:r>
            <a:r>
              <a:rPr sz="1700" b="1">
                <a:solidFill>
                  <a:srgbClr val="1F3864"/>
                </a:solidFill>
                <a:latin typeface="Calibri"/>
              </a:rPr>
              <a:t>24</a:t>
            </a:r>
            <a:r>
              <a:rPr sz="1700" b="0">
                <a:solidFill>
                  <a:srgbClr val="242933"/>
                </a:solidFill>
                <a:latin typeface="Calibri"/>
              </a:rPr>
              <a:t> test_c (|G| = 4)</a:t>
            </a:r>
          </a:p>
          <a:p>
            <a:pPr algn="l">
              <a:spcBef>
                <a:spcPts val="0"/>
              </a:spcBef>
              <a:spcAft>
                <a:spcPts val="900"/>
              </a:spcAft>
            </a:pPr>
            <a:r>
              <a:rPr sz="1700" b="1">
                <a:solidFill>
                  <a:srgbClr val="C05210"/>
                </a:solidFill>
                <a:latin typeface="Calibri"/>
              </a:rPr>
              <a:t>•  </a:t>
            </a:r>
            <a:r>
              <a:rPr sz="1700" b="0">
                <a:solidFill>
                  <a:srgbClr val="242933"/>
                </a:solidFill>
                <a:latin typeface="Calibri"/>
              </a:rPr>
              <a:t>ω_z pipeline v1: spatial mask + p99.99 clip + 3σ scale (train_std 3.55), no mean shift (preserves vorticity antisymmetry)</a:t>
            </a:r>
          </a:p>
          <a:p>
            <a:pPr algn="l">
              <a:spcBef>
                <a:spcPts val="0"/>
              </a:spcBef>
              <a:spcAft>
                <a:spcPts val="900"/>
              </a:spcAft>
            </a:pPr>
            <a:r>
              <a:rPr sz="1700" b="1">
                <a:solidFill>
                  <a:srgbClr val="C05210"/>
                </a:solidFill>
                <a:latin typeface="Calibri"/>
              </a:rPr>
              <a:t>•  </a:t>
            </a:r>
            <a:r>
              <a:rPr sz="1700" b="0">
                <a:solidFill>
                  <a:srgbClr val="242933"/>
                </a:solidFill>
                <a:latin typeface="Calibri"/>
              </a:rPr>
              <a:t>Reporting: bootstrap n = 2000 CIs · 3 encoder seeds · 5-fold probe CV</a:t>
            </a:r>
          </a:p>
        </p:txBody>
      </p:sp>
      <p:pic>
        <p:nvPicPr>
          <p:cNvPr id="7" name="Picture 6" descr="paramspace.png"/>
          <p:cNvPicPr>
            <a:picLocks noChangeAspect="1"/>
          </p:cNvPicPr>
          <p:nvPr/>
        </p:nvPicPr>
        <p:blipFill>
          <a:blip r:embed="rId2"/>
          <a:stretch>
            <a:fillRect/>
          </a:stretch>
        </p:blipFill>
        <p:spPr>
          <a:xfrm>
            <a:off x="7040880" y="1664208"/>
            <a:ext cx="4754880" cy="1985716"/>
          </a:xfrm>
          <a:prstGeom prst="rect">
            <a:avLst/>
          </a:prstGeom>
        </p:spPr>
      </p:pic>
      <p:sp>
        <p:nvSpPr>
          <p:cNvPr id="8" name="TextBox 7"/>
          <p:cNvSpPr txBox="1"/>
          <p:nvPr/>
        </p:nvSpPr>
        <p:spPr>
          <a:xfrm>
            <a:off x="7040880" y="6108192"/>
            <a:ext cx="47548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Training envelope in (G, D, Y).</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BACKUP (CONDITIONED-MODEL CONTROL)</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Matched-capacity: d = 32 vs d = 64</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10972800" cy="4572000"/>
          </a:xfrm>
          <a:prstGeom prst="rect">
            <a:avLst/>
          </a:prstGeom>
          <a:noFill/>
        </p:spPr>
        <p:txBody>
          <a:bodyPr wrap="square" anchor="t" lIns="0" rIns="0" tIns="0" bIns="0">
            <a:spAutoFit/>
          </a:bodyPr>
          <a:lstStyle/>
          <a:p>
            <a:pPr algn="l">
              <a:spcBef>
                <a:spcPts val="0"/>
              </a:spcBef>
              <a:spcAft>
                <a:spcPts val="900"/>
              </a:spcAft>
            </a:pPr>
            <a:r>
              <a:rPr sz="1800" b="1">
                <a:solidFill>
                  <a:srgbClr val="C05210"/>
                </a:solidFill>
                <a:latin typeface="Calibri"/>
              </a:rPr>
              <a:t>•  </a:t>
            </a:r>
            <a:r>
              <a:rPr sz="1800" b="1">
                <a:solidFill>
                  <a:srgbClr val="1F3864"/>
                </a:solidFill>
                <a:latin typeface="Calibri"/>
              </a:rPr>
              <a:t>(Conditioned-model control; no unconditioned variant run.)</a:t>
            </a:r>
            <a:r>
              <a:rPr sz="1800" b="0">
                <a:solidFill>
                  <a:srgbClr val="242933"/>
                </a:solidFill>
                <a:latin typeface="Calibri"/>
              </a:rPr>
              <a:t> Halving the latent leaves the representation and </a:t>
            </a:r>
            <a:r>
              <a:rPr sz="1800" b="1">
                <a:solidFill>
                  <a:srgbClr val="1F3864"/>
                </a:solidFill>
                <a:latin typeface="Calibri"/>
              </a:rPr>
              <a:t>every mechanism diagnostic</a:t>
            </a:r>
            <a:r>
              <a:rPr sz="1800" b="0">
                <a:solidFill>
                  <a:srgbClr val="242933"/>
                </a:solidFill>
                <a:latin typeface="Calibri"/>
              </a:rPr>
              <a:t> intact</a:t>
            </a:r>
          </a:p>
          <a:p>
            <a:pPr algn="l">
              <a:spcBef>
                <a:spcPts val="0"/>
              </a:spcBef>
              <a:spcAft>
                <a:spcPts val="500"/>
              </a:spcAft>
            </a:pPr>
            <a:r>
              <a:rPr sz="1500" b="0">
                <a:solidFill>
                  <a:srgbClr val="6B7280"/>
                </a:solidFill>
                <a:latin typeface="Calibri"/>
              </a:rPr>
              <a:t>      –  representational wake R² 0.74 (d=32) vs 0.75 (d=64); drift ratio 0.86 vs 0.85; OT 0.61 vs 0.63</a:t>
            </a:r>
          </a:p>
          <a:p>
            <a:pPr algn="l">
              <a:spcBef>
                <a:spcPts val="0"/>
              </a:spcBef>
              <a:spcAft>
                <a:spcPts val="900"/>
              </a:spcAft>
            </a:pPr>
            <a:r>
              <a:rPr sz="1800" b="1">
                <a:solidFill>
                  <a:srgbClr val="C05210"/>
                </a:solidFill>
                <a:latin typeface="Calibri"/>
              </a:rPr>
              <a:t>•  </a:t>
            </a:r>
            <a:r>
              <a:rPr sz="1800" b="0">
                <a:solidFill>
                  <a:srgbClr val="242933"/>
                </a:solidFill>
                <a:latin typeface="Calibri"/>
              </a:rPr>
              <a:t>Cost is </a:t>
            </a:r>
            <a:r>
              <a:rPr sz="1800" b="1">
                <a:solidFill>
                  <a:srgbClr val="1F3864"/>
                </a:solidFill>
                <a:latin typeface="Calibri"/>
              </a:rPr>
              <a:t>in-distribution forecast sharpness</a:t>
            </a:r>
            <a:r>
              <a:rPr sz="1800" b="0">
                <a:solidFill>
                  <a:srgbClr val="242933"/>
                </a:solidFill>
                <a:latin typeface="Calibri"/>
              </a:rPr>
              <a:t>: H = 16 wake closure 0.45 → 0.21</a:t>
            </a:r>
          </a:p>
          <a:p>
            <a:pPr algn="l">
              <a:spcBef>
                <a:spcPts val="0"/>
              </a:spcBef>
              <a:spcAft>
                <a:spcPts val="900"/>
              </a:spcAft>
            </a:pPr>
            <a:r>
              <a:rPr sz="1800" b="1">
                <a:solidFill>
                  <a:srgbClr val="C05210"/>
                </a:solidFill>
                <a:latin typeface="Calibri"/>
              </a:rPr>
              <a:t>•  </a:t>
            </a:r>
            <a:r>
              <a:rPr sz="1800" b="0">
                <a:solidFill>
                  <a:srgbClr val="242933"/>
                </a:solidFill>
                <a:latin typeface="Calibri"/>
              </a:rPr>
              <a:t>Participation ratio ≈ 1.7, leading PC ≈ ¾ of variance → the effective dimension is a handful</a:t>
            </a:r>
          </a:p>
        </p:txBody>
      </p:sp>
      <p:sp>
        <p:nvSpPr>
          <p:cNvPr id="7" name="TextBox 6"/>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8" name="TextBox 7"/>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BACKUP (CONDITIONED-MODEL CONTROL)</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Seed variance</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10972800" cy="4572000"/>
          </a:xfrm>
          <a:prstGeom prst="rect">
            <a:avLst/>
          </a:prstGeom>
          <a:noFill/>
        </p:spPr>
        <p:txBody>
          <a:bodyPr wrap="square" anchor="t" lIns="0" rIns="0" tIns="0" bIns="0">
            <a:spAutoFit/>
          </a:bodyPr>
          <a:lstStyle/>
          <a:p>
            <a:pPr algn="l">
              <a:spcBef>
                <a:spcPts val="0"/>
              </a:spcBef>
              <a:spcAft>
                <a:spcPts val="900"/>
              </a:spcAft>
            </a:pPr>
            <a:r>
              <a:rPr sz="1800" b="1">
                <a:solidFill>
                  <a:srgbClr val="C05210"/>
                </a:solidFill>
                <a:latin typeface="Calibri"/>
              </a:rPr>
              <a:t>•  </a:t>
            </a:r>
            <a:r>
              <a:rPr sz="1800" b="1">
                <a:solidFill>
                  <a:srgbClr val="1F3864"/>
                </a:solidFill>
                <a:latin typeface="Calibri"/>
              </a:rPr>
              <a:t>(Conditioned-model control; no unconditioned variant run.)</a:t>
            </a:r>
            <a:r>
              <a:rPr sz="1800" b="0">
                <a:solidFill>
                  <a:srgbClr val="242933"/>
                </a:solidFill>
                <a:latin typeface="Calibri"/>
              </a:rPr>
              <a:t> Three encoder seeds per cell; wake-closure means reported ± standard deviation</a:t>
            </a:r>
          </a:p>
          <a:p>
            <a:pPr algn="l">
              <a:spcBef>
                <a:spcPts val="0"/>
              </a:spcBef>
              <a:spcAft>
                <a:spcPts val="900"/>
              </a:spcAft>
            </a:pPr>
            <a:r>
              <a:rPr sz="1800" b="1">
                <a:solidFill>
                  <a:srgbClr val="C05210"/>
                </a:solidFill>
                <a:latin typeface="Calibri"/>
              </a:rPr>
              <a:t>•  </a:t>
            </a:r>
            <a:r>
              <a:rPr sz="1800" b="0">
                <a:solidFill>
                  <a:srgbClr val="242933"/>
                </a:solidFill>
                <a:latin typeface="Calibri"/>
              </a:rPr>
              <a:t>The reconstructive CNN+ViT cell has </a:t>
            </a:r>
            <a:r>
              <a:rPr sz="1800" b="1">
                <a:solidFill>
                  <a:srgbClr val="1F3864"/>
                </a:solidFill>
                <a:latin typeface="Calibri"/>
              </a:rPr>
              <a:t>large seed variance (±0.27)</a:t>
            </a:r>
            <a:r>
              <a:rPr sz="1800" b="0">
                <a:solidFill>
                  <a:srgbClr val="242933"/>
                </a:solidFill>
                <a:latin typeface="Calibri"/>
              </a:rPr>
              <a:t>, consistent with the drift mechanism: without a forward-predictable geometry, closure is unstable across initialisations</a:t>
            </a:r>
          </a:p>
          <a:p>
            <a:pPr algn="l">
              <a:spcBef>
                <a:spcPts val="0"/>
              </a:spcBef>
              <a:spcAft>
                <a:spcPts val="900"/>
              </a:spcAft>
            </a:pPr>
            <a:r>
              <a:rPr sz="1800" b="1">
                <a:solidFill>
                  <a:srgbClr val="C05210"/>
                </a:solidFill>
                <a:latin typeface="Calibri"/>
              </a:rPr>
              <a:t>•  </a:t>
            </a:r>
            <a:r>
              <a:rPr sz="1800" b="0">
                <a:solidFill>
                  <a:srgbClr val="242933"/>
                </a:solidFill>
                <a:latin typeface="Calibri"/>
              </a:rPr>
              <a:t>Predictive cells are tight (±0.03–0.06)</a:t>
            </a:r>
          </a:p>
        </p:txBody>
      </p:sp>
      <p:sp>
        <p:nvSpPr>
          <p:cNvPr id="7" name="TextBox 6"/>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8" name="TextBox 7"/>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BACKUP</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Parameter observability from the latent</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27632"/>
            <a:ext cx="10972800" cy="1691640"/>
          </a:xfrm>
          <a:prstGeom prst="rect">
            <a:avLst/>
          </a:prstGeom>
          <a:noFill/>
        </p:spPr>
        <p:txBody>
          <a:bodyPr wrap="square" anchor="t" lIns="0" rIns="0" tIns="0" bIns="0">
            <a:spAutoFit/>
          </a:bodyPr>
          <a:lstStyle/>
          <a:p>
            <a:pPr algn="l">
              <a:spcBef>
                <a:spcPts val="0"/>
              </a:spcBef>
              <a:spcAft>
                <a:spcPts val="900"/>
              </a:spcAft>
            </a:pPr>
            <a:r>
              <a:rPr sz="1700" b="1">
                <a:solidFill>
                  <a:srgbClr val="C05210"/>
                </a:solidFill>
                <a:latin typeface="Calibri"/>
              </a:rPr>
              <a:t>•  </a:t>
            </a:r>
            <a:r>
              <a:rPr sz="1700" b="0">
                <a:solidFill>
                  <a:srgbClr val="242933"/>
                </a:solidFill>
                <a:latin typeface="Calibri"/>
              </a:rPr>
              <a:t>z → (G, D, Y) probe R² from the rolled-out latent, K = 8 pre-impact sensors</a:t>
            </a:r>
          </a:p>
          <a:p>
            <a:pPr algn="l">
              <a:spcBef>
                <a:spcPts val="0"/>
              </a:spcBef>
              <a:spcAft>
                <a:spcPts val="900"/>
              </a:spcAft>
            </a:pPr>
            <a:r>
              <a:rPr sz="1700" b="1">
                <a:solidFill>
                  <a:srgbClr val="C05210"/>
                </a:solidFill>
                <a:latin typeface="Calibri"/>
              </a:rPr>
              <a:t>•  </a:t>
            </a:r>
            <a:r>
              <a:rPr sz="1700" b="0">
                <a:solidFill>
                  <a:srgbClr val="242933"/>
                </a:solidFill>
                <a:latin typeface="Calibri"/>
              </a:rPr>
              <a:t>test_b: </a:t>
            </a:r>
            <a:r>
              <a:rPr sz="1700" b="1">
                <a:solidFill>
                  <a:srgbClr val="1F3864"/>
                </a:solidFill>
                <a:latin typeface="Calibri"/>
              </a:rPr>
              <a:t>G 0.46 · D 0.80 · Y 0.10</a:t>
            </a:r>
            <a:r>
              <a:rPr sz="1700" b="0">
                <a:solidFill>
                  <a:srgbClr val="242933"/>
                </a:solidFill>
                <a:latin typeface="Calibri"/>
              </a:rPr>
              <a:t>, gust strength and core diameter recoverable; cross-stream offset Y is marginal</a:t>
            </a:r>
          </a:p>
          <a:p>
            <a:pPr algn="l">
              <a:spcBef>
                <a:spcPts val="0"/>
              </a:spcBef>
              <a:spcAft>
                <a:spcPts val="900"/>
              </a:spcAft>
            </a:pPr>
            <a:r>
              <a:rPr sz="1700" b="1">
                <a:solidFill>
                  <a:srgbClr val="C05210"/>
                </a:solidFill>
                <a:latin typeface="Calibri"/>
              </a:rPr>
              <a:t>•  </a:t>
            </a:r>
            <a:r>
              <a:rPr sz="1700" b="0">
                <a:solidFill>
                  <a:srgbClr val="242933"/>
                </a:solidFill>
                <a:latin typeface="Calibri"/>
              </a:rPr>
              <a:t>test_c (|G| = 4): negative, the 3D observability boundary of a single mid-plane slice</a:t>
            </a:r>
          </a:p>
        </p:txBody>
      </p:sp>
      <p:pic>
        <p:nvPicPr>
          <p:cNvPr id="7" name="Picture 6" descr="pressure_observability.png"/>
          <p:cNvPicPr>
            <a:picLocks noChangeAspect="1"/>
          </p:cNvPicPr>
          <p:nvPr/>
        </p:nvPicPr>
        <p:blipFill>
          <a:blip r:embed="rId2"/>
          <a:stretch>
            <a:fillRect/>
          </a:stretch>
        </p:blipFill>
        <p:spPr>
          <a:xfrm>
            <a:off x="3403388" y="3383280"/>
            <a:ext cx="5354743" cy="2377440"/>
          </a:xfrm>
          <a:prstGeom prst="rect">
            <a:avLst/>
          </a:prstGeom>
        </p:spPr>
      </p:pic>
      <p:sp>
        <p:nvSpPr>
          <p:cNvPr id="8" name="TextBox 7"/>
          <p:cNvSpPr txBox="1"/>
          <p:nvPr/>
        </p:nvSpPr>
        <p:spPr>
          <a:xfrm>
            <a:off x="731520" y="5779008"/>
            <a:ext cx="1069848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Gust parameters implicit in the latent on held-out cases.</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BACKUP</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SSIM convention</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10972800" cy="4572000"/>
          </a:xfrm>
          <a:prstGeom prst="rect">
            <a:avLst/>
          </a:prstGeom>
          <a:noFill/>
        </p:spPr>
        <p:txBody>
          <a:bodyPr wrap="square" anchor="t" lIns="0" rIns="0" tIns="0" bIns="0">
            <a:spAutoFit/>
          </a:bodyPr>
          <a:lstStyle/>
          <a:p>
            <a:pPr algn="l">
              <a:spcBef>
                <a:spcPts val="0"/>
              </a:spcBef>
              <a:spcAft>
                <a:spcPts val="900"/>
              </a:spcAft>
            </a:pPr>
            <a:r>
              <a:rPr sz="1800" b="1">
                <a:solidFill>
                  <a:srgbClr val="C05210"/>
                </a:solidFill>
                <a:latin typeface="Calibri"/>
              </a:rPr>
              <a:t>•  </a:t>
            </a:r>
            <a:r>
              <a:rPr sz="1800" b="0">
                <a:solidFill>
                  <a:srgbClr val="242933"/>
                </a:solidFill>
                <a:latin typeface="Calibri"/>
              </a:rPr>
              <a:t>Reconstruction SSIM uses the </a:t>
            </a:r>
            <a:r>
              <a:rPr sz="1800" b="1">
                <a:solidFill>
                  <a:srgbClr val="1F3864"/>
                </a:solidFill>
                <a:latin typeface="Calibri"/>
              </a:rPr>
              <a:t>Wang convention</a:t>
            </a:r>
            <a:r>
              <a:rPr sz="1800" b="0">
                <a:solidFill>
                  <a:srgbClr val="242933"/>
                </a:solidFill>
                <a:latin typeface="Calibri"/>
              </a:rPr>
              <a:t> (K1 = 0.01, K2 = 0.03) on pipeline-normalised ω</a:t>
            </a:r>
          </a:p>
          <a:p>
            <a:pPr algn="l">
              <a:spcBef>
                <a:spcPts val="0"/>
              </a:spcBef>
              <a:spcAft>
                <a:spcPts val="900"/>
              </a:spcAft>
            </a:pPr>
            <a:r>
              <a:rPr sz="1800" b="1">
                <a:solidFill>
                  <a:srgbClr val="C05210"/>
                </a:solidFill>
                <a:latin typeface="Calibri"/>
              </a:rPr>
              <a:t>•  </a:t>
            </a:r>
            <a:r>
              <a:rPr sz="1800" b="0">
                <a:solidFill>
                  <a:srgbClr val="242933"/>
                </a:solidFill>
                <a:latin typeface="Calibri"/>
              </a:rPr>
              <a:t>Data range </a:t>
            </a:r>
            <a:r>
              <a:rPr sz="1800" b="1">
                <a:solidFill>
                  <a:srgbClr val="1F3864"/>
                </a:solidFill>
                <a:latin typeface="Calibri"/>
              </a:rPr>
              <a:t>L = 2 · global p99.9(|target|) ≈ 8.31</a:t>
            </a:r>
            <a:r>
              <a:rPr sz="1800" b="0">
                <a:solidFill>
                  <a:srgbClr val="242933"/>
                </a:solidFill>
                <a:latin typeface="Calibri"/>
              </a:rPr>
              <a:t> (split v2)</a:t>
            </a:r>
          </a:p>
          <a:p>
            <a:pPr algn="l">
              <a:spcBef>
                <a:spcPts val="0"/>
              </a:spcBef>
              <a:spcAft>
                <a:spcPts val="900"/>
              </a:spcAft>
            </a:pPr>
            <a:r>
              <a:rPr sz="1800" b="1">
                <a:solidFill>
                  <a:srgbClr val="C05210"/>
                </a:solidFill>
                <a:latin typeface="Calibri"/>
              </a:rPr>
              <a:t>•  </a:t>
            </a:r>
            <a:r>
              <a:rPr sz="1800" b="0">
                <a:solidFill>
                  <a:srgbClr val="242933"/>
                </a:solidFill>
                <a:latin typeface="Calibri"/>
              </a:rPr>
              <a:t>Decoder test_a SSIM ≈ </a:t>
            </a:r>
            <a:r>
              <a:rPr sz="1800" b="1">
                <a:solidFill>
                  <a:srgbClr val="1F3864"/>
                </a:solidFill>
                <a:latin typeface="Calibri"/>
              </a:rPr>
              <a:t>0.73</a:t>
            </a:r>
            <a:r>
              <a:rPr sz="1800" b="0">
                <a:solidFill>
                  <a:srgbClr val="242933"/>
                </a:solidFill>
                <a:latin typeface="Calibri"/>
              </a:rPr>
              <a:t> at this convention</a:t>
            </a:r>
          </a:p>
        </p:txBody>
      </p:sp>
      <p:sp>
        <p:nvSpPr>
          <p:cNvPr id="7" name="TextBox 6"/>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8" name="TextBox 7"/>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BACKUP</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Parameter-only floor</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37360"/>
            <a:ext cx="10972800" cy="4572000"/>
          </a:xfrm>
          <a:prstGeom prst="rect">
            <a:avLst/>
          </a:prstGeom>
          <a:noFill/>
        </p:spPr>
        <p:txBody>
          <a:bodyPr wrap="square" anchor="t" lIns="0" rIns="0" tIns="0" bIns="0">
            <a:spAutoFit/>
          </a:bodyPr>
          <a:lstStyle/>
          <a:p>
            <a:pPr algn="l">
              <a:spcBef>
                <a:spcPts val="0"/>
              </a:spcBef>
              <a:spcAft>
                <a:spcPts val="900"/>
              </a:spcAft>
            </a:pPr>
            <a:r>
              <a:rPr sz="1800" b="1">
                <a:solidFill>
                  <a:srgbClr val="C05210"/>
                </a:solidFill>
                <a:latin typeface="Calibri"/>
              </a:rPr>
              <a:t>•  </a:t>
            </a:r>
            <a:r>
              <a:rPr sz="1800" b="0">
                <a:solidFill>
                  <a:srgbClr val="242933"/>
                </a:solidFill>
                <a:latin typeface="Calibri"/>
              </a:rPr>
              <a:t>KRR-RBF on (G, D, Y) → observable at impact; train / test_b / test_c R²</a:t>
            </a:r>
          </a:p>
          <a:p>
            <a:pPr algn="l">
              <a:spcBef>
                <a:spcPts val="0"/>
              </a:spcBef>
              <a:spcAft>
                <a:spcPts val="500"/>
              </a:spcAft>
            </a:pPr>
            <a:r>
              <a:rPr sz="1500" b="0">
                <a:solidFill>
                  <a:srgbClr val="6B7280"/>
                </a:solidFill>
                <a:latin typeface="Calibri"/>
              </a:rPr>
              <a:t>      –  on train, (G, D, Y) interpolates C_L and C_D well (226 points in 3-D)</a:t>
            </a:r>
          </a:p>
          <a:p>
            <a:pPr algn="l">
              <a:spcBef>
                <a:spcPts val="0"/>
              </a:spcBef>
              <a:spcAft>
                <a:spcPts val="900"/>
              </a:spcAft>
            </a:pPr>
            <a:r>
              <a:rPr sz="1800" b="1">
                <a:solidFill>
                  <a:srgbClr val="C05210"/>
                </a:solidFill>
                <a:latin typeface="Calibri"/>
              </a:rPr>
              <a:t>•  </a:t>
            </a:r>
            <a:r>
              <a:rPr sz="1800" b="0">
                <a:solidFill>
                  <a:srgbClr val="242933"/>
                </a:solidFill>
                <a:latin typeface="Calibri"/>
              </a:rPr>
              <a:t>On </a:t>
            </a:r>
            <a:r>
              <a:rPr sz="1800" b="1">
                <a:solidFill>
                  <a:srgbClr val="1F3864"/>
                </a:solidFill>
                <a:latin typeface="Calibri"/>
              </a:rPr>
              <a:t>test_b</a:t>
            </a:r>
            <a:r>
              <a:rPr sz="1800" b="0">
                <a:solidFill>
                  <a:srgbClr val="242933"/>
                </a:solidFill>
                <a:latin typeface="Calibri"/>
              </a:rPr>
              <a:t> the floor </a:t>
            </a:r>
            <a:r>
              <a:rPr sz="1800" b="1">
                <a:solidFill>
                  <a:srgbClr val="1F3864"/>
                </a:solidFill>
                <a:latin typeface="Calibri"/>
              </a:rPr>
              <a:t>collapses</a:t>
            </a:r>
            <a:r>
              <a:rPr sz="1800" b="0">
                <a:solidFill>
                  <a:srgbClr val="242933"/>
                </a:solidFill>
                <a:latin typeface="Calibri"/>
              </a:rPr>
              <a:t> across observables; on </a:t>
            </a:r>
            <a:r>
              <a:rPr sz="1800" b="1">
                <a:solidFill>
                  <a:srgbClr val="1F3864"/>
                </a:solidFill>
                <a:latin typeface="Calibri"/>
              </a:rPr>
              <a:t>test_c</a:t>
            </a:r>
            <a:r>
              <a:rPr sz="1800" b="0">
                <a:solidFill>
                  <a:srgbClr val="242933"/>
                </a:solidFill>
                <a:latin typeface="Calibri"/>
              </a:rPr>
              <a:t> it is negative for 5 of 6</a:t>
            </a:r>
          </a:p>
          <a:p>
            <a:pPr algn="l">
              <a:spcBef>
                <a:spcPts val="0"/>
              </a:spcBef>
              <a:spcAft>
                <a:spcPts val="900"/>
              </a:spcAft>
            </a:pPr>
            <a:r>
              <a:rPr sz="1800" b="1">
                <a:solidFill>
                  <a:srgbClr val="C05210"/>
                </a:solidFill>
                <a:latin typeface="Calibri"/>
              </a:rPr>
              <a:t>•  </a:t>
            </a:r>
            <a:r>
              <a:rPr sz="1800" b="0">
                <a:solidFill>
                  <a:srgbClr val="242933"/>
                </a:solidFill>
                <a:latin typeface="Calibri"/>
              </a:rPr>
              <a:t>→ JEPA's generalisation is </a:t>
            </a:r>
            <a:r>
              <a:rPr sz="1800" b="1">
                <a:solidFill>
                  <a:srgbClr val="1F3864"/>
                </a:solidFill>
                <a:latin typeface="Calibri"/>
              </a:rPr>
              <a:t>not</a:t>
            </a:r>
            <a:r>
              <a:rPr sz="1800" b="0">
                <a:solidFill>
                  <a:srgbClr val="242933"/>
                </a:solidFill>
                <a:latin typeface="Calibri"/>
              </a:rPr>
              <a:t> explained by the gust parameters alone</a:t>
            </a:r>
          </a:p>
        </p:txBody>
      </p:sp>
      <p:sp>
        <p:nvSpPr>
          <p:cNvPr id="7" name="TextBox 6"/>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8" name="TextBox 7"/>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0515600" cy="292608"/>
          </a:xfrm>
          <a:prstGeom prst="rect">
            <a:avLst/>
          </a:prstGeom>
          <a:noFill/>
        </p:spPr>
        <p:txBody>
          <a:bodyPr wrap="square" anchor="t" lIns="0" rIns="0" tIns="0" bIns="0">
            <a:spAutoFit/>
          </a:bodyPr>
          <a:lstStyle/>
          <a:p>
            <a:pPr algn="l">
              <a:spcBef>
                <a:spcPts val="0"/>
              </a:spcBef>
              <a:spcAft>
                <a:spcPts val="0"/>
              </a:spcAft>
            </a:pPr>
            <a:r>
              <a:rPr sz="1250" b="1">
                <a:solidFill>
                  <a:srgbClr val="C05210"/>
                </a:solidFill>
                <a:latin typeface="Calibri"/>
              </a:rPr>
              <a:t>BACKUP</a:t>
            </a:r>
          </a:p>
        </p:txBody>
      </p:sp>
      <p:sp>
        <p:nvSpPr>
          <p:cNvPr id="3" name="TextBox 2"/>
          <p:cNvSpPr txBox="1"/>
          <p:nvPr/>
        </p:nvSpPr>
        <p:spPr>
          <a:xfrm>
            <a:off x="502920" y="548640"/>
            <a:ext cx="11201400" cy="868680"/>
          </a:xfrm>
          <a:prstGeom prst="rect">
            <a:avLst/>
          </a:prstGeom>
          <a:noFill/>
        </p:spPr>
        <p:txBody>
          <a:bodyPr wrap="square" anchor="t" lIns="0" rIns="0" tIns="0" bIns="0">
            <a:spAutoFit/>
          </a:bodyPr>
          <a:lstStyle/>
          <a:p>
            <a:pPr algn="l">
              <a:spcBef>
                <a:spcPts val="0"/>
              </a:spcBef>
              <a:spcAft>
                <a:spcPts val="0"/>
              </a:spcAft>
            </a:pPr>
            <a:r>
              <a:rPr sz="2600" b="1">
                <a:solidFill>
                  <a:srgbClr val="1F3864"/>
                </a:solidFill>
                <a:latin typeface="Calibri"/>
              </a:rPr>
              <a:t>Phase–amplitude reading</a:t>
            </a:r>
          </a:p>
        </p:txBody>
      </p:sp>
      <p:sp>
        <p:nvSpPr>
          <p:cNvPr id="4" name="Rectangle 3"/>
          <p:cNvSpPr/>
          <p:nvPr/>
        </p:nvSpPr>
        <p:spPr>
          <a:xfrm>
            <a:off x="502920" y="1371600"/>
            <a:ext cx="11183112" cy="20116"/>
          </a:xfrm>
          <a:prstGeom prst="rect">
            <a:avLst/>
          </a:prstGeom>
          <a:solidFill>
            <a:srgbClr val="D6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357884"/>
            <a:ext cx="1920240" cy="45720"/>
          </a:xfrm>
          <a:prstGeom prst="rect">
            <a:avLst/>
          </a:prstGeom>
          <a:solidFill>
            <a:srgbClr val="C05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691640"/>
            <a:ext cx="6446520" cy="4572000"/>
          </a:xfrm>
          <a:prstGeom prst="rect">
            <a:avLst/>
          </a:prstGeom>
          <a:noFill/>
        </p:spPr>
        <p:txBody>
          <a:bodyPr wrap="square" anchor="t" lIns="0" rIns="0" tIns="0" bIns="0">
            <a:spAutoFit/>
          </a:bodyPr>
          <a:lstStyle/>
          <a:p>
            <a:pPr algn="l">
              <a:spcBef>
                <a:spcPts val="0"/>
              </a:spcBef>
              <a:spcAft>
                <a:spcPts val="900"/>
              </a:spcAft>
            </a:pPr>
            <a:r>
              <a:rPr sz="1700" b="1">
                <a:solidFill>
                  <a:srgbClr val="C05210"/>
                </a:solidFill>
                <a:latin typeface="Calibri"/>
              </a:rPr>
              <a:t>•  </a:t>
            </a:r>
            <a:r>
              <a:rPr sz="1700" b="0">
                <a:solidFill>
                  <a:srgbClr val="242933"/>
                </a:solidFill>
                <a:latin typeface="Calibri"/>
              </a:rPr>
              <a:t>Phase–amplitude decomposition of the encounter cycle in the predictive latent</a:t>
            </a:r>
          </a:p>
          <a:p>
            <a:pPr algn="l">
              <a:spcBef>
                <a:spcPts val="0"/>
              </a:spcBef>
              <a:spcAft>
                <a:spcPts val="900"/>
              </a:spcAft>
            </a:pPr>
            <a:r>
              <a:rPr sz="1700" b="1">
                <a:solidFill>
                  <a:srgbClr val="C05210"/>
                </a:solidFill>
                <a:latin typeface="Calibri"/>
              </a:rPr>
              <a:t>•  </a:t>
            </a:r>
            <a:r>
              <a:rPr sz="1700" b="0">
                <a:solidFill>
                  <a:srgbClr val="242933"/>
                </a:solidFill>
                <a:latin typeface="Calibri"/>
              </a:rPr>
              <a:t>The sharp </a:t>
            </a:r>
            <a:r>
              <a:rPr sz="1700" b="1">
                <a:solidFill>
                  <a:srgbClr val="1F3864"/>
                </a:solidFill>
                <a:latin typeface="Calibri"/>
              </a:rPr>
              <a:t>2π → 0 step</a:t>
            </a:r>
            <a:r>
              <a:rPr sz="1700" b="0">
                <a:solidFill>
                  <a:srgbClr val="242933"/>
                </a:solidFill>
                <a:latin typeface="Calibri"/>
              </a:rPr>
              <a:t> in panel (b) is a </a:t>
            </a:r>
            <a:r>
              <a:rPr sz="1700" b="1">
                <a:solidFill>
                  <a:srgbClr val="1F3864"/>
                </a:solidFill>
                <a:latin typeface="Calibri"/>
              </a:rPr>
              <a:t>phase wrap</a:t>
            </a:r>
            <a:r>
              <a:rPr sz="1700" b="0">
                <a:solidFill>
                  <a:srgbClr val="242933"/>
                </a:solidFill>
                <a:latin typeface="Calibri"/>
              </a:rPr>
              <a:t> (θ is a cyclic angle on the orbit; it resets at the branch cut, which falls near impact), </a:t>
            </a:r>
            <a:r>
              <a:rPr sz="1700" b="1">
                <a:solidFill>
                  <a:srgbClr val="1F3864"/>
                </a:solidFill>
                <a:latin typeface="Calibri"/>
              </a:rPr>
              <a:t>not a physical jump</a:t>
            </a:r>
          </a:p>
          <a:p>
            <a:pPr algn="l">
              <a:spcBef>
                <a:spcPts val="0"/>
              </a:spcBef>
              <a:spcAft>
                <a:spcPts val="900"/>
              </a:spcAft>
            </a:pPr>
            <a:r>
              <a:rPr sz="1700" b="1">
                <a:solidFill>
                  <a:srgbClr val="C05210"/>
                </a:solidFill>
                <a:latin typeface="Calibri"/>
              </a:rPr>
              <a:t>•  </a:t>
            </a:r>
            <a:r>
              <a:rPr sz="1700" b="0">
                <a:solidFill>
                  <a:srgbClr val="242933"/>
                </a:solidFill>
                <a:latin typeface="Calibri"/>
              </a:rPr>
              <a:t>Connects the predictor to the </a:t>
            </a:r>
            <a:r>
              <a:rPr sz="1700" b="1">
                <a:solidFill>
                  <a:srgbClr val="1F3864"/>
                </a:solidFill>
                <a:latin typeface="Calibri"/>
              </a:rPr>
              <a:t>sensitivity-function control</a:t>
            </a:r>
            <a:r>
              <a:rPr sz="1700" b="0">
                <a:solidFill>
                  <a:srgbClr val="242933"/>
                </a:solidFill>
                <a:latin typeface="Calibri"/>
              </a:rPr>
              <a:t> designed for these flows</a:t>
            </a:r>
          </a:p>
          <a:p>
            <a:pPr algn="l">
              <a:spcBef>
                <a:spcPts val="0"/>
              </a:spcBef>
              <a:spcAft>
                <a:spcPts val="900"/>
              </a:spcAft>
            </a:pPr>
            <a:r>
              <a:rPr sz="1700" b="1">
                <a:solidFill>
                  <a:srgbClr val="C05210"/>
                </a:solidFill>
                <a:latin typeface="Calibri"/>
              </a:rPr>
              <a:t>•  </a:t>
            </a:r>
            <a:r>
              <a:rPr sz="1700" b="0">
                <a:solidFill>
                  <a:srgbClr val="242933"/>
                </a:solidFill>
                <a:latin typeface="Calibri"/>
              </a:rPr>
              <a:t>An actuation channel is the natural next input for closed-loop control</a:t>
            </a:r>
          </a:p>
        </p:txBody>
      </p:sp>
      <p:pic>
        <p:nvPicPr>
          <p:cNvPr id="7" name="Picture 6" descr="phase_amplitude.png"/>
          <p:cNvPicPr>
            <a:picLocks noChangeAspect="1"/>
          </p:cNvPicPr>
          <p:nvPr/>
        </p:nvPicPr>
        <p:blipFill>
          <a:blip r:embed="rId2"/>
          <a:stretch>
            <a:fillRect/>
          </a:stretch>
        </p:blipFill>
        <p:spPr>
          <a:xfrm>
            <a:off x="7248832" y="1664208"/>
            <a:ext cx="4521855" cy="4389120"/>
          </a:xfrm>
          <a:prstGeom prst="rect">
            <a:avLst/>
          </a:prstGeom>
        </p:spPr>
      </p:pic>
      <p:sp>
        <p:nvSpPr>
          <p:cNvPr id="8" name="TextBox 7"/>
          <p:cNvSpPr txBox="1"/>
          <p:nvPr/>
        </p:nvSpPr>
        <p:spPr>
          <a:xfrm>
            <a:off x="7223760" y="6108192"/>
            <a:ext cx="4572000" cy="365760"/>
          </a:xfrm>
          <a:prstGeom prst="rect">
            <a:avLst/>
          </a:prstGeom>
          <a:noFill/>
        </p:spPr>
        <p:txBody>
          <a:bodyPr wrap="square" anchor="t" lIns="0" rIns="0" tIns="0" bIns="0">
            <a:spAutoFit/>
          </a:bodyPr>
          <a:lstStyle/>
          <a:p>
            <a:pPr algn="ctr">
              <a:spcBef>
                <a:spcPts val="0"/>
              </a:spcBef>
              <a:spcAft>
                <a:spcPts val="600"/>
              </a:spcAft>
            </a:pPr>
            <a:r>
              <a:rPr sz="1100" b="0">
                <a:solidFill>
                  <a:srgbClr val="6B7280"/>
                </a:solidFill>
                <a:latin typeface="Calibri"/>
              </a:rPr>
              <a:t>The 2π → 0 step in panel (b) is a phase wrap (cyclic angle resetting at the branch cut near impact), not a physical discontinuity.</a:t>
            </a:r>
          </a:p>
        </p:txBody>
      </p:sp>
      <p:sp>
        <p:nvSpPr>
          <p:cNvPr id="9" name="TextBox 8"/>
          <p:cNvSpPr txBox="1"/>
          <p:nvPr/>
        </p:nvSpPr>
        <p:spPr>
          <a:xfrm>
            <a:off x="502920" y="6455664"/>
            <a:ext cx="8686800" cy="274320"/>
          </a:xfrm>
          <a:prstGeom prst="rect">
            <a:avLst/>
          </a:prstGeom>
          <a:noFill/>
        </p:spPr>
        <p:txBody>
          <a:bodyPr wrap="square" anchor="t" lIns="0" rIns="0" tIns="0" bIns="0">
            <a:spAutoFit/>
          </a:bodyPr>
          <a:lstStyle/>
          <a:p>
            <a:pPr algn="l">
              <a:spcBef>
                <a:spcPts val="0"/>
              </a:spcBef>
              <a:spcAft>
                <a:spcPts val="600"/>
              </a:spcAft>
            </a:pPr>
            <a:r>
              <a:rPr sz="950" b="0">
                <a:solidFill>
                  <a:srgbClr val="6B7280"/>
                </a:solidFill>
                <a:latin typeface="Calibri"/>
              </a:rPr>
              <a:t>Sparse-sensing state estimation, vortex-gust interactions  ·  EUROMECH colloquium</a:t>
            </a:r>
          </a:p>
        </p:txBody>
      </p:sp>
      <p:sp>
        <p:nvSpPr>
          <p:cNvPr id="10" name="TextBox 9"/>
          <p:cNvSpPr txBox="1"/>
          <p:nvPr/>
        </p:nvSpPr>
        <p:spPr>
          <a:xfrm>
            <a:off x="11292840" y="6455664"/>
            <a:ext cx="685800" cy="274320"/>
          </a:xfrm>
          <a:prstGeom prst="rect">
            <a:avLst/>
          </a:prstGeom>
          <a:noFill/>
        </p:spPr>
        <p:txBody>
          <a:bodyPr wrap="square" anchor="t" lIns="0" rIns="0" tIns="0" bIns="0">
            <a:spAutoFit/>
          </a:bodyPr>
          <a:lstStyle/>
          <a:p>
            <a:pPr algn="r">
              <a:spcBef>
                <a:spcPts val="0"/>
              </a:spcBef>
              <a:spcAft>
                <a:spcPts val="600"/>
              </a:spcAft>
            </a:pPr>
            <a:r>
              <a:rPr sz="950" b="0">
                <a:solidFill>
                  <a:srgbClr val="6B7280"/>
                </a:solidFill>
                <a:latin typeface="Calibri"/>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