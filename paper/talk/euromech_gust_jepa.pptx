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extreme gust control needs a fast, faithful forward model. Our work asks which reduced state is worth planning against, and shows a predictive (JEPA) latent captures the wake physics that reconstructive and linear baselines lose. Audience is new to JEPA, so I will spend a slide on what it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Pure DNS, no model yet: motivate the difficulty. A moderate in-envelope gust (G = +2, train set); the lift swings by about 13 in C_L. Pitch to a control audience: the bottleneck for model-based control / RL is a reduced dynamics model that stays trustworthy under rollout.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slide (no results yet): the wake challenge, the large-scale wake enstrophy definition (Gaussian split), and the goal: forward closure, especially of the wake. The predictive-vs-reconstructive Gaussian-split result comes later, in Results.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central question. Closure = the rolled-out latent still lets you read off the physical observables. This is exactly the property a planner or RL agent needs.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DNS claim bounded (solver-resolution metadata pending). Emphasise the six observables, wake enstrophy being the one that separates the methods; the 3D envelope shows test_c (|G|=4) sitting far outside the training cloud.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Pedagogic core for a non-ML audience. Same first three boxes; the only change is Decoder -&gt; Predictor and where the loss lives: pixels (AE) vs latent space (JEPA). No decoder in JEPA; the anti-collapse term stops the encoder collapsing.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JEPA slide: recipe (latent loss + anti-collapse, no decoder), cheap latent rollout, lineage, and the control framing.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Conditioning split is deliberate: encoder = pure state map; the gust enters the dynamics. For control, an actuation channel would enter where the gust does.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Illustrated alternative to the box diagram (slide 6); keep whichever style you prefer.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Illustrated alternative to the box architecture (slide 8); keep whichever style you prefer.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is the whole point: only the encoder changes. The conditioning floor rules out 'the parameters did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Wake enstrophy is where the predictive latent wins; forces are easy for every family. State the two unfamiliar observables and the per-observable-units point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Closure tightens at the shorter horizon, but the family separation persists.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four frames out, the family separation holds on the wake.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Embedded MP4 (plays in PowerPoint; a still shows otherwise). Two observables (wake enstrophy and lift): original (DNS) vs encoded-latent reconstruction vs rolled-latent prediction, for a representative low-error gust encounter.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Physical-space companion to the scalar forecast: same encounter, decoded with the frozen LapFiLM visualisation decoder (never part of the JEPA loss). Reconstruction is the representational ceiling; prediction is the rolled latent decoded.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explains the main result mechanistically at the representation level: the wake is a collective code only the predictive objective builds.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Physical-space version of 'it is the wake': the predictive reconstruction keeps the large-scale wake, the reconstructive one smooths it. These are encode-then-decode reconstructions; bands are mean +/- 1 s.d. over test_b. Moved here from the opening so results follow the method.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Backs the 'it is the wake' story: the latent organises coordinates by physical function. Descriptive correlation only; the causal (SURD) part of this analysis is not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 the skeptic: isolate the cause before the mechanism. Honest two-part answer: objective carries it, but the wake head is a necessary ingredient.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Non-standard metric, so define it. Low one-step error is worthless if the rollout walks off the data manifold where probes are invalid. R2 here is probe-on-rolled-latent, not a direct predictor of the observables.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persistent homology simply: count loops that survive over a range of scales. Numbers: JEPA median 1 vs Fukami 3.5 H1 generators on z_dns (encounter-level MWU p~4e-8; all 10 cases consistent). Snapshots are encode-&gt;decode reconstructions; no temporal predictor 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 method = signed-vorticity split + unbalanced Sinkhorn (Tran, Yeh &amp; Taira JFM 2026, their eq 5). Our code uses the entropic transport cost, not the fully debiased Sinkhorn divergence, which does not change orderings. We do NOT train the latent to match OT, this is a post-hoc diagnostic. Be critical: 0.63&gt;0.45 is within-encounter; pooled it reverses, so claim only trajectory-local transport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Reframed to match the figure (flow from pressure). The predictive-vs-reconstructive wake tracking is already on slide 3 (scale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Dynamic companion to the static flow-recovery slide: a causal 6-frame pressure window at 16 TCSI taps -&gt; MLP -&gt; latent -&gt; frozen decoder, applied frame by frame. This is state ESTIMATION, not forecasting; the JEPA predictor is not used 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venue hook: the predictive latent gives both a sensor-observable state and a useful pre-impact forecast, the two ingredients a controller needs.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 closing slide. What we built: forward-closed, compact, observable, wake-driven. Honest boundary: conditional model, not a validated controller. Outlook: actuation channel, closed loop, 3D observability, other flows. Point forward to the RL half of the colloquium.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Acknowledgements: author photos (Solera-Rico, Miró, Lehmkuhl) and the BBVA Foundation / Red Leonardo funding logos. Funding: 2024 Leonardo Grant, project PREVENT (LEO24-2-15988).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26.png"/><Relationship Id="rId5"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jpg"/><Relationship Id="rId6" Type="http://schemas.openxmlformats.org/officeDocument/2006/relationships/image" Target="../media/image32.png"/><Relationship Id="rId7"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234440"/>
            <a:ext cx="10698480" cy="2286000"/>
          </a:xfrm>
          <a:prstGeom prst="rect">
            <a:avLst/>
          </a:prstGeom>
          <a:noFill/>
        </p:spPr>
        <p:txBody>
          <a:bodyPr wrap="square" anchor="t" lIns="0" rIns="0" tIns="0" bIns="0">
            <a:spAutoFit/>
          </a:bodyPr>
          <a:lstStyle/>
          <a:p>
            <a:pPr algn="l">
              <a:spcBef>
                <a:spcPts val="0"/>
              </a:spcBef>
              <a:spcAft>
                <a:spcPts val="600"/>
              </a:spcAft>
            </a:pPr>
            <a:r>
              <a:rPr sz="3100" b="1">
                <a:solidFill>
                  <a:srgbClr val="1F3864"/>
                </a:solidFill>
                <a:latin typeface="Calibri"/>
              </a:rPr>
              <a:t>Sparse-sensing state estimation of vortex-gust airfoil interactions</a:t>
            </a:r>
          </a:p>
          <a:p>
            <a:pPr algn="l">
              <a:spcBef>
                <a:spcPts val="0"/>
              </a:spcBef>
              <a:spcAft>
                <a:spcPts val="0"/>
              </a:spcAft>
            </a:pPr>
            <a:r>
              <a:rPr sz="2100" b="1">
                <a:solidFill>
                  <a:srgbClr val="C05210"/>
                </a:solidFill>
                <a:latin typeface="Calibri"/>
              </a:rPr>
              <a:t>Toward model-based flow control</a:t>
            </a:r>
          </a:p>
        </p:txBody>
      </p:sp>
      <p:sp>
        <p:nvSpPr>
          <p:cNvPr id="4" name="Rectangle 3"/>
          <p:cNvSpPr/>
          <p:nvPr/>
        </p:nvSpPr>
        <p:spPr>
          <a:xfrm>
            <a:off x="914400" y="3611880"/>
            <a:ext cx="2743200" cy="54864"/>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840480"/>
            <a:ext cx="10515600" cy="1371600"/>
          </a:xfrm>
          <a:prstGeom prst="rect">
            <a:avLst/>
          </a:prstGeom>
          <a:noFill/>
        </p:spPr>
        <p:txBody>
          <a:bodyPr wrap="square" anchor="t" lIns="0" rIns="0" tIns="0" bIns="0">
            <a:spAutoFit/>
          </a:bodyPr>
          <a:lstStyle/>
          <a:p>
            <a:pPr algn="l">
              <a:spcBef>
                <a:spcPts val="0"/>
              </a:spcBef>
              <a:spcAft>
                <a:spcPts val="300"/>
              </a:spcAft>
            </a:pPr>
            <a:r>
              <a:rPr sz="1500" b="0">
                <a:solidFill>
                  <a:srgbClr val="242933"/>
                </a:solidFill>
                <a:latin typeface="Calibri"/>
              </a:rPr>
              <a:t>A. Solera-Rico, A. Miró, O. Lehmkuhl, </a:t>
            </a:r>
            <a:r>
              <a:rPr sz="1500" b="1">
                <a:solidFill>
                  <a:srgbClr val="1F3864"/>
                </a:solidFill>
                <a:latin typeface="Calibri"/>
              </a:rPr>
              <a:t>C. Sanmiguel Vila</a:t>
            </a:r>
          </a:p>
          <a:p>
            <a:pPr algn="l">
              <a:spcBef>
                <a:spcPts val="0"/>
              </a:spcBef>
              <a:spcAft>
                <a:spcPts val="0"/>
              </a:spcAft>
            </a:pPr>
            <a:r>
              <a:rPr sz="1250" b="0">
                <a:solidFill>
                  <a:srgbClr val="C05210"/>
                </a:solidFill>
                <a:latin typeface="Calibri"/>
              </a:rPr>
              <a:t>csanvil@inta.es</a:t>
            </a:r>
          </a:p>
        </p:txBody>
      </p:sp>
      <p:pic>
        <p:nvPicPr>
          <p:cNvPr id="6" name="Picture 5" descr="euromech_crop.png"/>
          <p:cNvPicPr>
            <a:picLocks noChangeAspect="1"/>
          </p:cNvPicPr>
          <p:nvPr/>
        </p:nvPicPr>
        <p:blipFill>
          <a:blip r:embed="rId2"/>
          <a:stretch>
            <a:fillRect/>
          </a:stretch>
        </p:blipFill>
        <p:spPr>
          <a:xfrm>
            <a:off x="10561320" y="390906"/>
            <a:ext cx="1051560" cy="644652"/>
          </a:xfrm>
          <a:prstGeom prst="rect">
            <a:avLst/>
          </a:prstGeom>
        </p:spPr>
      </p:pic>
      <p:pic>
        <p:nvPicPr>
          <p:cNvPr id="7" name="Picture 6" descr="IMG_2286.png"/>
          <p:cNvPicPr>
            <a:picLocks noChangeAspect="1"/>
          </p:cNvPicPr>
          <p:nvPr/>
        </p:nvPicPr>
        <p:blipFill>
          <a:blip r:embed="rId3"/>
          <a:stretch>
            <a:fillRect/>
          </a:stretch>
        </p:blipFill>
        <p:spPr>
          <a:xfrm>
            <a:off x="914400" y="4892040"/>
            <a:ext cx="603504" cy="603504"/>
          </a:xfrm>
          <a:prstGeom prst="rect">
            <a:avLst/>
          </a:prstGeom>
        </p:spPr>
      </p:pic>
      <p:pic>
        <p:nvPicPr>
          <p:cNvPr id="8" name="Picture 7" descr="IMG_2289.png"/>
          <p:cNvPicPr>
            <a:picLocks noChangeAspect="1"/>
          </p:cNvPicPr>
          <p:nvPr/>
        </p:nvPicPr>
        <p:blipFill>
          <a:blip r:embed="rId4"/>
          <a:stretch>
            <a:fillRect/>
          </a:stretch>
        </p:blipFill>
        <p:spPr>
          <a:xfrm>
            <a:off x="1783080" y="4965192"/>
            <a:ext cx="1270367" cy="457200"/>
          </a:xfrm>
          <a:prstGeom prst="rect">
            <a:avLst/>
          </a:prstGeom>
        </p:spPr>
      </p:pic>
      <p:pic>
        <p:nvPicPr>
          <p:cNvPr id="9" name="Picture 8" descr="IMG_2287.png"/>
          <p:cNvPicPr>
            <a:picLocks noChangeAspect="1"/>
          </p:cNvPicPr>
          <p:nvPr/>
        </p:nvPicPr>
        <p:blipFill>
          <a:blip r:embed="rId5"/>
          <a:stretch>
            <a:fillRect/>
          </a:stretch>
        </p:blipFill>
        <p:spPr>
          <a:xfrm>
            <a:off x="3429000" y="4895782"/>
            <a:ext cx="676656" cy="596018"/>
          </a:xfrm>
          <a:prstGeom prst="rect">
            <a:avLst/>
          </a:prstGeom>
        </p:spPr>
      </p:pic>
      <p:pic>
        <p:nvPicPr>
          <p:cNvPr id="10" name="Picture 9" descr="IMG_2288.png"/>
          <p:cNvPicPr>
            <a:picLocks noChangeAspect="1"/>
          </p:cNvPicPr>
          <p:nvPr/>
        </p:nvPicPr>
        <p:blipFill>
          <a:blip r:embed="rId6"/>
          <a:stretch>
            <a:fillRect/>
          </a:stretch>
        </p:blipFill>
        <p:spPr>
          <a:xfrm>
            <a:off x="4315968" y="4892040"/>
            <a:ext cx="603504" cy="603504"/>
          </a:xfrm>
          <a:prstGeom prst="rect">
            <a:avLst/>
          </a:prstGeom>
        </p:spPr>
      </p:pic>
      <p:sp>
        <p:nvSpPr>
          <p:cNvPr id="11" name="TextBox 10"/>
          <p:cNvSpPr txBox="1"/>
          <p:nvPr/>
        </p:nvSpPr>
        <p:spPr>
          <a:xfrm>
            <a:off x="914400" y="5989320"/>
            <a:ext cx="10515600" cy="457200"/>
          </a:xfrm>
          <a:prstGeom prst="rect">
            <a:avLst/>
          </a:prstGeom>
          <a:noFill/>
        </p:spPr>
        <p:txBody>
          <a:bodyPr wrap="square" anchor="t" lIns="0" rIns="0" tIns="0" bIns="0">
            <a:spAutoFit/>
          </a:bodyPr>
          <a:lstStyle/>
          <a:p>
            <a:pPr algn="l">
              <a:spcBef>
                <a:spcPts val="0"/>
              </a:spcBef>
              <a:spcAft>
                <a:spcPts val="600"/>
              </a:spcAft>
            </a:pPr>
            <a:r>
              <a:rPr sz="1200" b="1">
                <a:solidFill>
                  <a:srgbClr val="1F3864"/>
                </a:solidFill>
                <a:latin typeface="Calibri"/>
              </a:rPr>
              <a:t>EUROMECH Colloquium  ·  Data-driven active control in flows: from model-based to reinforcement learning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MOTIVATION</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control problem: gusts are fast, strong, nonlinear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4572000" cy="457200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Small and micro air vehicles increasingly fly where the </a:t>
            </a:r>
            <a:r>
              <a:rPr sz="1500" b="1">
                <a:solidFill>
                  <a:srgbClr val="1F3864"/>
                </a:solidFill>
                <a:latin typeface="Calibri"/>
              </a:rPr>
              <a:t>gust speed is comparable to or above the flight speed</a:t>
            </a:r>
            <a:r>
              <a:rPr sz="1500" b="0">
                <a:solidFill>
                  <a:srgbClr val="242933"/>
                </a:solidFill>
                <a:latin typeface="Calibri"/>
              </a:rPr>
              <a:t> (urban canyons, building and ship wakes): gust ratio </a:t>
            </a:r>
            <a:r>
              <a:rPr sz="1500" b="1">
                <a:solidFill>
                  <a:srgbClr val="1F3864"/>
                </a:solidFill>
                <a:latin typeface="Calibri"/>
              </a:rPr>
              <a:t>G &gt; 1</a:t>
            </a:r>
            <a:r>
              <a:rPr sz="1500" b="0">
                <a:solidFill>
                  <a:srgbClr val="242933"/>
                </a:solidFill>
                <a:latin typeface="Calibri"/>
              </a:rPr>
              <a:t> brings large, fast load transients classical models miss</a:t>
            </a:r>
          </a:p>
          <a:p>
            <a:pPr algn="l">
              <a:spcBef>
                <a:spcPts val="0"/>
              </a:spcBef>
              <a:spcAft>
                <a:spcPts val="900"/>
              </a:spcAft>
            </a:pPr>
            <a:r>
              <a:rPr sz="1500" b="1">
                <a:solidFill>
                  <a:srgbClr val="C05210"/>
                </a:solidFill>
                <a:latin typeface="Calibri"/>
              </a:rPr>
              <a:t>•  </a:t>
            </a:r>
            <a:r>
              <a:rPr sz="1500" b="0">
                <a:solidFill>
                  <a:srgbClr val="242933"/>
                </a:solidFill>
                <a:latin typeface="Calibri"/>
              </a:rPr>
              <a:t>A vortex strikes the wing: a </a:t>
            </a:r>
            <a:r>
              <a:rPr sz="1500" b="1">
                <a:solidFill>
                  <a:srgbClr val="1F3864"/>
                </a:solidFill>
                <a:latin typeface="Calibri"/>
              </a:rPr>
              <a:t>leading-edge vortex</a:t>
            </a:r>
            <a:r>
              <a:rPr sz="1500" b="0">
                <a:solidFill>
                  <a:srgbClr val="242933"/>
                </a:solidFill>
                <a:latin typeface="Calibri"/>
              </a:rPr>
              <a:t> forms and sheds, and the lift swings strongly (right: DNS, a moderate </a:t>
            </a:r>
            <a:r>
              <a:rPr sz="1500" b="1">
                <a:solidFill>
                  <a:srgbClr val="1F3864"/>
                </a:solidFill>
                <a:latin typeface="Calibri"/>
              </a:rPr>
              <a:t>G = +2</a:t>
            </a:r>
            <a:r>
              <a:rPr sz="1500" b="0">
                <a:solidFill>
                  <a:srgbClr val="242933"/>
                </a:solidFill>
                <a:latin typeface="Calibri"/>
              </a:rPr>
              <a:t> gust, C_L from about -5 to +8)</a:t>
            </a:r>
          </a:p>
          <a:p>
            <a:pPr algn="l">
              <a:spcBef>
                <a:spcPts val="0"/>
              </a:spcBef>
              <a:spcAft>
                <a:spcPts val="900"/>
              </a:spcAft>
            </a:pPr>
            <a:r>
              <a:rPr sz="1500" b="1">
                <a:solidFill>
                  <a:srgbClr val="C05210"/>
                </a:solidFill>
                <a:latin typeface="Calibri"/>
              </a:rPr>
              <a:t>•  </a:t>
            </a:r>
            <a:r>
              <a:rPr sz="1500" b="0">
                <a:solidFill>
                  <a:srgbClr val="242933"/>
                </a:solidFill>
                <a:latin typeface="Calibri"/>
              </a:rPr>
              <a:t>Active control, model-based or RL, needs a </a:t>
            </a:r>
            <a:r>
              <a:rPr sz="1500" b="1">
                <a:solidFill>
                  <a:srgbClr val="1F3864"/>
                </a:solidFill>
                <a:latin typeface="Calibri"/>
              </a:rPr>
              <a:t>fast, faithful forward model</a:t>
            </a:r>
            <a:r>
              <a:rPr sz="1500" b="0">
                <a:solidFill>
                  <a:srgbClr val="242933"/>
                </a:solidFill>
                <a:latin typeface="Calibri"/>
              </a:rPr>
              <a:t> it can trust under rollout</a:t>
            </a:r>
          </a:p>
          <a:p>
            <a:pPr algn="l">
              <a:spcBef>
                <a:spcPts val="0"/>
              </a:spcBef>
              <a:spcAft>
                <a:spcPts val="900"/>
              </a:spcAft>
            </a:pPr>
            <a:r>
              <a:rPr sz="1500" b="1">
                <a:solidFill>
                  <a:srgbClr val="C05210"/>
                </a:solidFill>
                <a:latin typeface="Calibri"/>
              </a:rPr>
              <a:t>•  </a:t>
            </a:r>
            <a:r>
              <a:rPr sz="1500" b="1">
                <a:solidFill>
                  <a:srgbClr val="1F3864"/>
                </a:solidFill>
                <a:latin typeface="Calibri"/>
              </a:rPr>
              <a:t>This talk: what reduced state is worth planning against?</a:t>
            </a:r>
          </a:p>
        </p:txBody>
      </p:sp>
      <p:pic>
        <p:nvPicPr>
          <p:cNvPr id="7" name="gust_motivation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40680" y="1600200"/>
            <a:ext cx="6126480" cy="4352544"/>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OBJECTIVE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Objective: a reduced state that keeps the wake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The load transient is built by the </a:t>
            </a:r>
            <a:r>
              <a:rPr sz="1800" b="1">
                <a:solidFill>
                  <a:srgbClr val="1F3864"/>
                </a:solidFill>
                <a:latin typeface="Calibri"/>
              </a:rPr>
              <a:t>leading-edge vortex (LEV)</a:t>
            </a:r>
            <a:r>
              <a:rPr sz="1800" b="0">
                <a:solidFill>
                  <a:srgbClr val="242933"/>
                </a:solidFill>
                <a:latin typeface="Calibri"/>
              </a:rPr>
              <a:t> and the wake it leaves: the discriminating information is in the </a:t>
            </a:r>
            <a:r>
              <a:rPr sz="1800" b="1">
                <a:solidFill>
                  <a:srgbClr val="1F3864"/>
                </a:solidFill>
                <a:latin typeface="Calibri"/>
              </a:rPr>
              <a:t>wake</a:t>
            </a:r>
            <a:r>
              <a:rPr sz="1800" b="0">
                <a:solidFill>
                  <a:srgbClr val="242933"/>
                </a:solidFill>
                <a:latin typeface="Calibri"/>
              </a:rPr>
              <a:t>, not the integrated forces C_L, C_D</a:t>
            </a:r>
          </a:p>
          <a:p>
            <a:pPr algn="l">
              <a:spcBef>
                <a:spcPts val="0"/>
              </a:spcBef>
              <a:spcAft>
                <a:spcPts val="900"/>
              </a:spcAft>
            </a:pPr>
            <a:r>
              <a:rPr sz="1800" b="1">
                <a:solidFill>
                  <a:srgbClr val="C05210"/>
                </a:solidFill>
                <a:latin typeface="Calibri"/>
              </a:rPr>
              <a:t>•  </a:t>
            </a:r>
            <a:r>
              <a:rPr sz="1800" b="0">
                <a:solidFill>
                  <a:srgbClr val="242933"/>
                </a:solidFill>
                <a:latin typeface="Calibri"/>
              </a:rPr>
              <a:t>We quantify it by the </a:t>
            </a:r>
            <a:r>
              <a:rPr sz="1800" b="1">
                <a:solidFill>
                  <a:srgbClr val="1F3864"/>
                </a:solidFill>
                <a:latin typeface="Calibri"/>
              </a:rPr>
              <a:t>large-scale wake enstrophy</a:t>
            </a:r>
            <a:r>
              <a:rPr sz="1800" b="0">
                <a:solidFill>
                  <a:srgbClr val="242933"/>
                </a:solidFill>
                <a:latin typeface="Calibri"/>
              </a:rPr>
              <a:t>: a Gaussian scale split (Motoori &amp; Goto 2019) at σ/c = 0.05 isolates the load-bearing large-scale vorticity (LEV + shear layer) from fine turbulence, then integrates ω_L² over the wake</a:t>
            </a:r>
          </a:p>
          <a:p>
            <a:pPr algn="l">
              <a:spcBef>
                <a:spcPts val="0"/>
              </a:spcBef>
              <a:spcAft>
                <a:spcPts val="900"/>
              </a:spcAft>
            </a:pPr>
            <a:r>
              <a:rPr sz="1800" b="1">
                <a:solidFill>
                  <a:srgbClr val="C05210"/>
                </a:solidFill>
                <a:latin typeface="Calibri"/>
              </a:rPr>
              <a:t>•  </a:t>
            </a:r>
            <a:r>
              <a:rPr sz="1800" b="1">
                <a:solidFill>
                  <a:srgbClr val="1F3864"/>
                </a:solidFill>
                <a:latin typeface="Calibri"/>
              </a:rPr>
              <a:t>Objective:</a:t>
            </a:r>
            <a:r>
              <a:rPr sz="1800" b="0">
                <a:solidFill>
                  <a:srgbClr val="242933"/>
                </a:solidFill>
                <a:latin typeface="Calibri"/>
              </a:rPr>
              <a:t> find a reduced state that stays </a:t>
            </a:r>
            <a:r>
              <a:rPr sz="1800" b="1">
                <a:solidFill>
                  <a:srgbClr val="1F3864"/>
                </a:solidFill>
                <a:latin typeface="Calibri"/>
              </a:rPr>
              <a:t>forward-closed</a:t>
            </a:r>
            <a:r>
              <a:rPr sz="1800" b="0">
                <a:solidFill>
                  <a:srgbClr val="242933"/>
                </a:solidFill>
                <a:latin typeface="Calibri"/>
              </a:rPr>
              <a:t>, every observable still recoverable as the state is propagated, in particular one that keeps the </a:t>
            </a:r>
            <a:r>
              <a:rPr sz="1800" b="1">
                <a:solidFill>
                  <a:srgbClr val="1F3864"/>
                </a:solidFill>
                <a:latin typeface="Calibri"/>
              </a:rPr>
              <a:t>wake</a:t>
            </a:r>
            <a:r>
              <a:rPr sz="1800" b="0">
                <a:solidFill>
                  <a:srgbClr val="242933"/>
                </a:solidFill>
                <a:latin typeface="Calibri"/>
              </a:rPr>
              <a:t>, not just the forces</a:t>
            </a:r>
          </a:p>
          <a:p>
            <a:pPr algn="l">
              <a:spcBef>
                <a:spcPts val="0"/>
              </a:spcBef>
              <a:spcAft>
                <a:spcPts val="900"/>
              </a:spcAft>
            </a:pPr>
            <a:r>
              <a:rPr sz="1800" b="1">
                <a:solidFill>
                  <a:srgbClr val="C05210"/>
                </a:solidFill>
                <a:latin typeface="Calibri"/>
              </a:rPr>
              <a:t>•  </a:t>
            </a:r>
            <a:r>
              <a:rPr sz="1800" b="0">
                <a:solidFill>
                  <a:srgbClr val="242933"/>
                </a:solidFill>
                <a:latin typeface="Calibri"/>
              </a:rPr>
              <a:t>And </a:t>
            </a:r>
            <a:r>
              <a:rPr sz="1800" b="1">
                <a:solidFill>
                  <a:srgbClr val="1F3864"/>
                </a:solidFill>
                <a:latin typeface="Calibri"/>
              </a:rPr>
              <a:t>compare candidate states</a:t>
            </a:r>
            <a:r>
              <a:rPr sz="1800" b="0">
                <a:solidFill>
                  <a:srgbClr val="242933"/>
                </a:solidFill>
                <a:latin typeface="Calibri"/>
              </a:rPr>
              <a:t>, predictive vs reconstructive vs linear, under one matched protocol</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LITERATURE AND IDEA</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opening for JEPA</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72800" cy="219456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Most flow ROMs, POD/DMD, autoencoders, are trained to </a:t>
            </a:r>
            <a:r>
              <a:rPr sz="1800" b="1">
                <a:solidFill>
                  <a:srgbClr val="1F3864"/>
                </a:solidFill>
                <a:latin typeface="Calibri"/>
              </a:rPr>
              <a:t>reconstruct the field</a:t>
            </a:r>
          </a:p>
          <a:p>
            <a:pPr algn="l">
              <a:spcBef>
                <a:spcPts val="0"/>
              </a:spcBef>
              <a:spcAft>
                <a:spcPts val="500"/>
              </a:spcAft>
            </a:pPr>
            <a:r>
              <a:rPr sz="1500" b="0">
                <a:solidFill>
                  <a:srgbClr val="6B7280"/>
                </a:solidFill>
                <a:latin typeface="Calibri"/>
              </a:rPr>
              <a:t>      –  reconstruction fixes the latent only up to a diffeomorphism, so its geometry is not constrained to be predictable</a:t>
            </a:r>
          </a:p>
          <a:p>
            <a:pPr algn="l">
              <a:spcBef>
                <a:spcPts val="0"/>
              </a:spcBef>
              <a:spcAft>
                <a:spcPts val="900"/>
              </a:spcAft>
            </a:pPr>
            <a:r>
              <a:rPr sz="1800" b="1">
                <a:solidFill>
                  <a:srgbClr val="C05210"/>
                </a:solidFill>
                <a:latin typeface="Calibri"/>
              </a:rPr>
              <a:t>•  </a:t>
            </a:r>
            <a:r>
              <a:rPr sz="1800" b="0">
                <a:solidFill>
                  <a:srgbClr val="242933"/>
                </a:solidFill>
                <a:latin typeface="Calibri"/>
              </a:rPr>
              <a:t>Alternative: learn a state that is </a:t>
            </a:r>
            <a:r>
              <a:rPr sz="1800" b="1">
                <a:solidFill>
                  <a:srgbClr val="1F3864"/>
                </a:solidFill>
                <a:latin typeface="Calibri"/>
              </a:rPr>
              <a:t>predictive by construction</a:t>
            </a:r>
            <a:r>
              <a:rPr sz="1800" b="0">
                <a:solidFill>
                  <a:srgbClr val="242933"/>
                </a:solidFill>
                <a:latin typeface="Calibri"/>
              </a:rPr>
              <a:t>, and plan against it</a:t>
            </a:r>
          </a:p>
        </p:txBody>
      </p:sp>
      <p:sp>
        <p:nvSpPr>
          <p:cNvPr id="7" name="Rectangle 6"/>
          <p:cNvSpPr/>
          <p:nvPr/>
        </p:nvSpPr>
        <p:spPr>
          <a:xfrm>
            <a:off x="640080" y="4160520"/>
            <a:ext cx="10881360" cy="155448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160520"/>
            <a:ext cx="91440" cy="155448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60520"/>
            <a:ext cx="10332720" cy="1554480"/>
          </a:xfrm>
          <a:prstGeom prst="rect">
            <a:avLst/>
          </a:prstGeom>
          <a:noFill/>
        </p:spPr>
        <p:txBody>
          <a:bodyPr wrap="square" anchor="ctr" lIns="0" rIns="0" tIns="0" bIns="0">
            <a:spAutoFit/>
          </a:bodyPr>
          <a:lstStyle/>
          <a:p>
            <a:pPr algn="l">
              <a:spcBef>
                <a:spcPts val="0"/>
              </a:spcBef>
              <a:spcAft>
                <a:spcPts val="600"/>
              </a:spcAft>
            </a:pPr>
            <a:r>
              <a:rPr sz="2200" b="1">
                <a:solidFill>
                  <a:srgbClr val="1F3864"/>
                </a:solidFill>
                <a:latin typeface="Calibri"/>
              </a:rPr>
              <a:t>Which reduced state stays physically closed when propagated forward,
so that every observable remains recoverable along the rollout?</a:t>
            </a:r>
          </a:p>
        </p:txBody>
      </p:sp>
      <p:sp>
        <p:nvSpPr>
          <p:cNvPr id="10" name="TextBox 9"/>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1" name="TextBox 10"/>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DATA</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Data</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89788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1">
                <a:solidFill>
                  <a:srgbClr val="1F3864"/>
                </a:solidFill>
                <a:latin typeface="Calibri"/>
              </a:rPr>
              <a:t>DNS</a:t>
            </a:r>
            <a:r>
              <a:rPr sz="1600" b="0">
                <a:solidFill>
                  <a:srgbClr val="242933"/>
                </a:solidFill>
                <a:latin typeface="Calibri"/>
              </a:rPr>
              <a:t> (SOD2D, no subgrid-scale model), NACA 0012, α = 14°, </a:t>
            </a:r>
            <a:r>
              <a:rPr sz="1600" b="1">
                <a:solidFill>
                  <a:srgbClr val="1F3864"/>
                </a:solidFill>
                <a:latin typeface="Calibri"/>
              </a:rPr>
              <a:t>Re = 5000</a:t>
            </a:r>
          </a:p>
          <a:p>
            <a:pPr algn="l">
              <a:spcBef>
                <a:spcPts val="0"/>
              </a:spcBef>
              <a:spcAft>
                <a:spcPts val="900"/>
              </a:spcAft>
            </a:pPr>
            <a:r>
              <a:rPr sz="1600" b="1">
                <a:solidFill>
                  <a:srgbClr val="C05210"/>
                </a:solidFill>
                <a:latin typeface="Calibri"/>
              </a:rPr>
              <a:t>•  </a:t>
            </a:r>
            <a:r>
              <a:rPr sz="1600" b="0">
                <a:solidFill>
                  <a:srgbClr val="242933"/>
                </a:solidFill>
                <a:latin typeface="Calibri"/>
              </a:rPr>
              <a:t>Taylor-vortex gusts parametrised by strength </a:t>
            </a:r>
            <a:r>
              <a:rPr sz="1600" b="1">
                <a:solidFill>
                  <a:srgbClr val="1F3864"/>
                </a:solidFill>
                <a:latin typeface="Calibri"/>
              </a:rPr>
              <a:t>G</a:t>
            </a:r>
            <a:r>
              <a:rPr sz="1600" b="0">
                <a:solidFill>
                  <a:srgbClr val="242933"/>
                </a:solidFill>
                <a:latin typeface="Calibri"/>
              </a:rPr>
              <a:t>, core diameter </a:t>
            </a:r>
            <a:r>
              <a:rPr sz="1600" b="1">
                <a:solidFill>
                  <a:srgbClr val="1F3864"/>
                </a:solidFill>
                <a:latin typeface="Calibri"/>
              </a:rPr>
              <a:t>D</a:t>
            </a:r>
            <a:r>
              <a:rPr sz="1600" b="0">
                <a:solidFill>
                  <a:srgbClr val="242933"/>
                </a:solidFill>
                <a:latin typeface="Calibri"/>
              </a:rPr>
              <a:t>, wall-normal offset </a:t>
            </a:r>
            <a:r>
              <a:rPr sz="1600" b="1">
                <a:solidFill>
                  <a:srgbClr val="1F3864"/>
                </a:solidFill>
                <a:latin typeface="Calibri"/>
              </a:rPr>
              <a:t>Y</a:t>
            </a:r>
            <a:r>
              <a:rPr sz="1600" b="0">
                <a:solidFill>
                  <a:srgbClr val="242933"/>
                </a:solidFill>
                <a:latin typeface="Calibri"/>
              </a:rPr>
              <a:t> (right: the 84-case envelope, isometric)</a:t>
            </a:r>
          </a:p>
          <a:p>
            <a:pPr algn="l">
              <a:spcBef>
                <a:spcPts val="0"/>
              </a:spcBef>
              <a:spcAft>
                <a:spcPts val="900"/>
              </a:spcAft>
            </a:pPr>
            <a:r>
              <a:rPr sz="1600" b="1">
                <a:solidFill>
                  <a:srgbClr val="C05210"/>
                </a:solidFill>
                <a:latin typeface="Calibri"/>
              </a:rPr>
              <a:t>•  </a:t>
            </a:r>
            <a:r>
              <a:rPr sz="1600" b="0">
                <a:solidFill>
                  <a:srgbClr val="242933"/>
                </a:solidFill>
                <a:latin typeface="Calibri"/>
              </a:rPr>
              <a:t>Impact-centred encounters; six observables: C_L, C_D, impulse I_y, </a:t>
            </a:r>
            <a:r>
              <a:rPr sz="1600" b="1">
                <a:solidFill>
                  <a:srgbClr val="1F3864"/>
                </a:solidFill>
                <a:latin typeface="Calibri"/>
              </a:rPr>
              <a:t>wake enstrophy</a:t>
            </a:r>
            <a:r>
              <a:rPr sz="1600" b="0">
                <a:solidFill>
                  <a:srgbClr val="242933"/>
                </a:solidFill>
                <a:latin typeface="Calibri"/>
              </a:rPr>
              <a:t>, ±circulation</a:t>
            </a:r>
          </a:p>
          <a:p>
            <a:pPr algn="l">
              <a:spcBef>
                <a:spcPts val="0"/>
              </a:spcBef>
              <a:spcAft>
                <a:spcPts val="900"/>
              </a:spcAft>
            </a:pPr>
            <a:r>
              <a:rPr sz="1600" b="1">
                <a:solidFill>
                  <a:srgbClr val="C05210"/>
                </a:solidFill>
                <a:latin typeface="Calibri"/>
              </a:rPr>
              <a:t>•  </a:t>
            </a:r>
            <a:r>
              <a:rPr sz="1600" b="0">
                <a:solidFill>
                  <a:srgbClr val="242933"/>
                </a:solidFill>
                <a:latin typeface="Calibri"/>
              </a:rPr>
              <a:t>Held-out </a:t>
            </a:r>
            <a:r>
              <a:rPr sz="1600" b="1">
                <a:solidFill>
                  <a:srgbClr val="1F3864"/>
                </a:solidFill>
                <a:latin typeface="Calibri"/>
              </a:rPr>
              <a:t>test_b</a:t>
            </a:r>
            <a:r>
              <a:rPr sz="1600" b="0">
                <a:solidFill>
                  <a:srgbClr val="242933"/>
                </a:solidFill>
                <a:latin typeface="Calibri"/>
              </a:rPr>
              <a:t> (interpolation) and </a:t>
            </a:r>
            <a:r>
              <a:rPr sz="1600" b="1">
                <a:solidFill>
                  <a:srgbClr val="1F3864"/>
                </a:solidFill>
                <a:latin typeface="Calibri"/>
              </a:rPr>
              <a:t>test_c</a:t>
            </a:r>
            <a:r>
              <a:rPr sz="1600" b="0">
                <a:solidFill>
                  <a:srgbClr val="242933"/>
                </a:solidFill>
                <a:latin typeface="Calibri"/>
              </a:rPr>
              <a:t> (|G| = 4 extrapolation)</a:t>
            </a:r>
          </a:p>
        </p:txBody>
      </p:sp>
      <p:pic>
        <p:nvPicPr>
          <p:cNvPr id="7" name="Picture 6" descr="paramspace3d.png"/>
          <p:cNvPicPr>
            <a:picLocks noChangeAspect="1"/>
          </p:cNvPicPr>
          <p:nvPr/>
        </p:nvPicPr>
        <p:blipFill>
          <a:blip r:embed="rId2"/>
          <a:stretch>
            <a:fillRect/>
          </a:stretch>
        </p:blipFill>
        <p:spPr>
          <a:xfrm>
            <a:off x="7013116" y="1664208"/>
            <a:ext cx="4536086" cy="4389120"/>
          </a:xfrm>
          <a:prstGeom prst="rect">
            <a:avLst/>
          </a:prstGeom>
        </p:spPr>
      </p:pic>
      <p:sp>
        <p:nvSpPr>
          <p:cNvPr id="8" name="TextBox 7"/>
          <p:cNvSpPr txBox="1"/>
          <p:nvPr/>
        </p:nvSpPr>
        <p:spPr>
          <a:xfrm>
            <a:off x="6675120" y="6108192"/>
            <a:ext cx="52120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Training envelope in (G, D, Y): train, test_b interpolation, test_c |G| = 4 extrapolation, baseline.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PRIMER</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What is a JEPA?  (1 / 2)</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91056"/>
            <a:ext cx="10789920" cy="457200"/>
          </a:xfrm>
          <a:prstGeom prst="rect">
            <a:avLst/>
          </a:prstGeom>
          <a:noFill/>
        </p:spPr>
        <p:txBody>
          <a:bodyPr wrap="square" anchor="t" lIns="0" rIns="0" tIns="0" bIns="0">
            <a:spAutoFit/>
          </a:bodyPr>
          <a:lstStyle/>
          <a:p>
            <a:pPr algn="l">
              <a:spcBef>
                <a:spcPts val="0"/>
              </a:spcBef>
              <a:spcAft>
                <a:spcPts val="600"/>
              </a:spcAft>
            </a:pPr>
            <a:r>
              <a:rPr sz="1500" b="1">
                <a:solidFill>
                  <a:srgbClr val="B03A2E"/>
                </a:solidFill>
                <a:latin typeface="Calibri"/>
              </a:rPr>
              <a:t>Autoencoder (most flow ROMs): reconstruct the field</a:t>
            </a:r>
          </a:p>
        </p:txBody>
      </p:sp>
      <p:sp>
        <p:nvSpPr>
          <p:cNvPr id="7" name="Rounded Rectangle 6"/>
          <p:cNvSpPr/>
          <p:nvPr/>
        </p:nvSpPr>
        <p:spPr>
          <a:xfrm>
            <a:off x="822960" y="2029968"/>
            <a:ext cx="155448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field ω(t)</a:t>
            </a:r>
          </a:p>
        </p:txBody>
      </p:sp>
      <p:sp>
        <p:nvSpPr>
          <p:cNvPr id="8" name="Rounded Rectangle 7"/>
          <p:cNvSpPr/>
          <p:nvPr/>
        </p:nvSpPr>
        <p:spPr>
          <a:xfrm>
            <a:off x="2880360" y="2029968"/>
            <a:ext cx="155448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Encoder</a:t>
            </a:r>
          </a:p>
        </p:txBody>
      </p:sp>
      <p:sp>
        <p:nvSpPr>
          <p:cNvPr id="9" name="Rounded Rectangle 8"/>
          <p:cNvSpPr/>
          <p:nvPr/>
        </p:nvSpPr>
        <p:spPr>
          <a:xfrm>
            <a:off x="5029200" y="2029968"/>
            <a:ext cx="11887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latent z</a:t>
            </a:r>
          </a:p>
        </p:txBody>
      </p:sp>
      <p:sp>
        <p:nvSpPr>
          <p:cNvPr id="10" name="Rounded Rectangle 9"/>
          <p:cNvSpPr/>
          <p:nvPr/>
        </p:nvSpPr>
        <p:spPr>
          <a:xfrm>
            <a:off x="6812280" y="2029968"/>
            <a:ext cx="16459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Decoder</a:t>
            </a:r>
          </a:p>
        </p:txBody>
      </p:sp>
      <p:sp>
        <p:nvSpPr>
          <p:cNvPr id="11" name="Rounded Rectangle 10"/>
          <p:cNvSpPr/>
          <p:nvPr/>
        </p:nvSpPr>
        <p:spPr>
          <a:xfrm>
            <a:off x="9052560" y="2029968"/>
            <a:ext cx="23317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reconstructed field</a:t>
            </a:r>
          </a:p>
        </p:txBody>
      </p:sp>
      <p:sp>
        <p:nvSpPr>
          <p:cNvPr id="12" name="Right Arrow 11"/>
          <p:cNvSpPr/>
          <p:nvPr/>
        </p:nvSpPr>
        <p:spPr>
          <a:xfrm>
            <a:off x="23774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44348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621792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85496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798064"/>
            <a:ext cx="10789920" cy="457200"/>
          </a:xfrm>
          <a:prstGeom prst="rect">
            <a:avLst/>
          </a:prstGeom>
          <a:noFill/>
        </p:spPr>
        <p:txBody>
          <a:bodyPr wrap="square" anchor="t" lIns="0" rIns="0" tIns="0" bIns="0">
            <a:spAutoFit/>
          </a:bodyPr>
          <a:lstStyle/>
          <a:p>
            <a:pPr algn="l">
              <a:spcBef>
                <a:spcPts val="0"/>
              </a:spcBef>
              <a:spcAft>
                <a:spcPts val="600"/>
              </a:spcAft>
            </a:pPr>
            <a:r>
              <a:rPr sz="1300" b="0">
                <a:solidFill>
                  <a:srgbClr val="B03A2E"/>
                </a:solidFill>
                <a:latin typeface="Calibri"/>
              </a:rPr>
              <a:t>loss compares the reconstruction to the input in PIXEL space</a:t>
            </a:r>
          </a:p>
        </p:txBody>
      </p:sp>
      <p:sp>
        <p:nvSpPr>
          <p:cNvPr id="17" name="TextBox 16"/>
          <p:cNvSpPr txBox="1"/>
          <p:nvPr/>
        </p:nvSpPr>
        <p:spPr>
          <a:xfrm>
            <a:off x="822960" y="3694176"/>
            <a:ext cx="10789920" cy="457200"/>
          </a:xfrm>
          <a:prstGeom prst="rect">
            <a:avLst/>
          </a:prstGeom>
          <a:noFill/>
        </p:spPr>
        <p:txBody>
          <a:bodyPr wrap="square" anchor="t" lIns="0" rIns="0" tIns="0" bIns="0">
            <a:spAutoFit/>
          </a:bodyPr>
          <a:lstStyle/>
          <a:p>
            <a:pPr algn="l">
              <a:spcBef>
                <a:spcPts val="0"/>
              </a:spcBef>
              <a:spcAft>
                <a:spcPts val="600"/>
              </a:spcAft>
            </a:pPr>
            <a:r>
              <a:rPr sz="1500" b="1">
                <a:solidFill>
                  <a:srgbClr val="2E7D4F"/>
                </a:solidFill>
                <a:latin typeface="Calibri"/>
              </a:rPr>
              <a:t>JEPA: predict the next latent, no decoder</a:t>
            </a:r>
          </a:p>
        </p:txBody>
      </p:sp>
      <p:sp>
        <p:nvSpPr>
          <p:cNvPr id="18" name="Rounded Rectangle 17"/>
          <p:cNvSpPr/>
          <p:nvPr/>
        </p:nvSpPr>
        <p:spPr>
          <a:xfrm>
            <a:off x="822960" y="4133087"/>
            <a:ext cx="155448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field ω(t)</a:t>
            </a:r>
          </a:p>
        </p:txBody>
      </p:sp>
      <p:sp>
        <p:nvSpPr>
          <p:cNvPr id="19" name="Rounded Rectangle 18"/>
          <p:cNvSpPr/>
          <p:nvPr/>
        </p:nvSpPr>
        <p:spPr>
          <a:xfrm>
            <a:off x="2880360" y="4133087"/>
            <a:ext cx="155448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Encoder</a:t>
            </a:r>
          </a:p>
        </p:txBody>
      </p:sp>
      <p:sp>
        <p:nvSpPr>
          <p:cNvPr id="20" name="Rounded Rectangle 19"/>
          <p:cNvSpPr/>
          <p:nvPr/>
        </p:nvSpPr>
        <p:spPr>
          <a:xfrm>
            <a:off x="5029200" y="4133087"/>
            <a:ext cx="11887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latent z(t)</a:t>
            </a:r>
          </a:p>
        </p:txBody>
      </p:sp>
      <p:sp>
        <p:nvSpPr>
          <p:cNvPr id="21" name="Rounded Rectangle 20"/>
          <p:cNvSpPr/>
          <p:nvPr/>
        </p:nvSpPr>
        <p:spPr>
          <a:xfrm>
            <a:off x="6812280" y="4133087"/>
            <a:ext cx="16459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Predictor</a:t>
            </a:r>
          </a:p>
        </p:txBody>
      </p:sp>
      <p:sp>
        <p:nvSpPr>
          <p:cNvPr id="22" name="Rounded Rectangle 21"/>
          <p:cNvSpPr/>
          <p:nvPr/>
        </p:nvSpPr>
        <p:spPr>
          <a:xfrm>
            <a:off x="9052560" y="4133087"/>
            <a:ext cx="23317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predicted z(t+1)</a:t>
            </a:r>
          </a:p>
        </p:txBody>
      </p:sp>
      <p:sp>
        <p:nvSpPr>
          <p:cNvPr id="23" name="Right Arrow 22"/>
          <p:cNvSpPr/>
          <p:nvPr/>
        </p:nvSpPr>
        <p:spPr>
          <a:xfrm>
            <a:off x="23774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4348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621792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85496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901184"/>
            <a:ext cx="10789920" cy="457200"/>
          </a:xfrm>
          <a:prstGeom prst="rect">
            <a:avLst/>
          </a:prstGeom>
          <a:noFill/>
        </p:spPr>
        <p:txBody>
          <a:bodyPr wrap="square" anchor="t" lIns="0" rIns="0" tIns="0" bIns="0">
            <a:spAutoFit/>
          </a:bodyPr>
          <a:lstStyle/>
          <a:p>
            <a:pPr algn="l">
              <a:spcBef>
                <a:spcPts val="0"/>
              </a:spcBef>
              <a:spcAft>
                <a:spcPts val="600"/>
              </a:spcAft>
            </a:pPr>
            <a:r>
              <a:rPr sz="1300" b="0">
                <a:solidFill>
                  <a:srgbClr val="2E7D4F"/>
                </a:solidFill>
                <a:latin typeface="Calibri"/>
              </a:rPr>
              <a:t>loss compares predicted z(t+1) to z(t+1) = Encoder(next frame) in LATENT space; an anti-collapse term replaces the decoder</a:t>
            </a:r>
          </a:p>
        </p:txBody>
      </p:sp>
      <p:sp>
        <p:nvSpPr>
          <p:cNvPr id="28" name="TextBox 27"/>
          <p:cNvSpPr txBox="1"/>
          <p:nvPr/>
        </p:nvSpPr>
        <p:spPr>
          <a:xfrm>
            <a:off x="822960" y="5650992"/>
            <a:ext cx="10789920" cy="548640"/>
          </a:xfrm>
          <a:prstGeom prst="rect">
            <a:avLst/>
          </a:prstGeom>
          <a:noFill/>
        </p:spPr>
        <p:txBody>
          <a:bodyPr wrap="square" anchor="t" lIns="0" rIns="0" tIns="0" bIns="0">
            <a:spAutoFit/>
          </a:bodyPr>
          <a:lstStyle/>
          <a:p>
            <a:pPr algn="l">
              <a:spcBef>
                <a:spcPts val="0"/>
              </a:spcBef>
              <a:spcAft>
                <a:spcPts val="600"/>
              </a:spcAft>
            </a:pPr>
            <a:r>
              <a:rPr sz="1500" b="1">
                <a:solidFill>
                  <a:srgbClr val="1F3864"/>
                </a:solidFill>
                <a:latin typeface="Calibri"/>
              </a:rPr>
              <a:t>Reconstruction ties the latent to pixels; prediction makes it forecastable</a:t>
            </a:r>
            <a:r>
              <a:rPr sz="1500" b="0">
                <a:solidFill>
                  <a:srgbClr val="1F3864"/>
                </a:solidFill>
                <a:latin typeface="Calibri"/>
              </a:rPr>
              <a:t>, which is what a controller needs.</a:t>
            </a:r>
          </a:p>
        </p:txBody>
      </p:sp>
      <p:sp>
        <p:nvSpPr>
          <p:cNvPr id="29" name="TextBox 2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30" name="TextBox 2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PRIMER</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What is a JEPA?  (2 / 2): the recipe and why for control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1">
                <a:solidFill>
                  <a:srgbClr val="1F3864"/>
                </a:solidFill>
                <a:latin typeface="Calibri"/>
              </a:rPr>
              <a:t>Training, in one line:</a:t>
            </a:r>
            <a:r>
              <a:rPr sz="1700" b="0">
                <a:solidFill>
                  <a:srgbClr val="242933"/>
                </a:solidFill>
                <a:latin typeface="Calibri"/>
              </a:rPr>
              <a:t> minimise the </a:t>
            </a:r>
            <a:r>
              <a:rPr sz="1700" b="1">
                <a:solidFill>
                  <a:srgbClr val="1F3864"/>
                </a:solidFill>
                <a:latin typeface="Calibri"/>
              </a:rPr>
              <a:t>latent</a:t>
            </a:r>
            <a:r>
              <a:rPr sz="1700" b="0">
                <a:solidFill>
                  <a:srgbClr val="242933"/>
                </a:solidFill>
                <a:latin typeface="Calibri"/>
              </a:rPr>
              <a:t> prediction error plus an </a:t>
            </a:r>
            <a:r>
              <a:rPr sz="1700" b="1">
                <a:solidFill>
                  <a:srgbClr val="1F3864"/>
                </a:solidFill>
                <a:latin typeface="Calibri"/>
              </a:rPr>
              <a:t>anti-collapse term</a:t>
            </a:r>
            <a:r>
              <a:rPr sz="1700" b="0">
                <a:solidFill>
                  <a:srgbClr val="242933"/>
                </a:solidFill>
                <a:latin typeface="Calibri"/>
              </a:rPr>
              <a:t> so the encoder cannot cheat by mapping everything to a constant (no decoder, no pixel loss)</a:t>
            </a:r>
          </a:p>
          <a:p>
            <a:pPr algn="l">
              <a:spcBef>
                <a:spcPts val="0"/>
              </a:spcBef>
              <a:spcAft>
                <a:spcPts val="900"/>
              </a:spcAft>
            </a:pPr>
            <a:r>
              <a:rPr sz="1700" b="1">
                <a:solidFill>
                  <a:srgbClr val="C05210"/>
                </a:solidFill>
                <a:latin typeface="Calibri"/>
              </a:rPr>
              <a:t>•  </a:t>
            </a:r>
            <a:r>
              <a:rPr sz="1700" b="0">
                <a:solidFill>
                  <a:srgbClr val="242933"/>
                </a:solidFill>
                <a:latin typeface="Calibri"/>
              </a:rPr>
              <a:t>So the encoder </a:t>
            </a:r>
            <a:r>
              <a:rPr sz="1700" b="1">
                <a:solidFill>
                  <a:srgbClr val="1F3864"/>
                </a:solidFill>
                <a:latin typeface="Calibri"/>
              </a:rPr>
              <a:t>keeps only what predicts the future</a:t>
            </a:r>
            <a:r>
              <a:rPr sz="1700" b="0">
                <a:solidFill>
                  <a:srgbClr val="242933"/>
                </a:solidFill>
                <a:latin typeface="Calibri"/>
              </a:rPr>
              <a:t> (the control-relevant dynamics), and the predictor </a:t>
            </a:r>
            <a:r>
              <a:rPr sz="1700" b="1">
                <a:solidFill>
                  <a:srgbClr val="1F3864"/>
                </a:solidFill>
                <a:latin typeface="Calibri"/>
              </a:rPr>
              <a:t>gets no pixel-level shortcuts</a:t>
            </a:r>
          </a:p>
          <a:p>
            <a:pPr algn="l">
              <a:spcBef>
                <a:spcPts val="0"/>
              </a:spcBef>
              <a:spcAft>
                <a:spcPts val="900"/>
              </a:spcAft>
            </a:pPr>
            <a:r>
              <a:rPr sz="1700" b="1">
                <a:solidFill>
                  <a:srgbClr val="C05210"/>
                </a:solidFill>
                <a:latin typeface="Calibri"/>
              </a:rPr>
              <a:t>•  </a:t>
            </a:r>
            <a:r>
              <a:rPr sz="1700" b="1">
                <a:solidFill>
                  <a:srgbClr val="1F3864"/>
                </a:solidFill>
                <a:latin typeface="Calibri"/>
              </a:rPr>
              <a:t>Cheap to roll out:</a:t>
            </a:r>
            <a:r>
              <a:rPr sz="1700" b="0">
                <a:solidFill>
                  <a:srgbClr val="242933"/>
                </a:solidFill>
                <a:latin typeface="Calibri"/>
              </a:rPr>
              <a:t> planning happens in the d = 32-64 latent, two to three orders of magnitude cheaper than evolving the full field</a:t>
            </a:r>
          </a:p>
          <a:p>
            <a:pPr algn="l">
              <a:spcBef>
                <a:spcPts val="0"/>
              </a:spcBef>
              <a:spcAft>
                <a:spcPts val="900"/>
              </a:spcAft>
            </a:pPr>
            <a:r>
              <a:rPr sz="1700" b="1">
                <a:solidFill>
                  <a:srgbClr val="C05210"/>
                </a:solidFill>
                <a:latin typeface="Calibri"/>
              </a:rPr>
              <a:t>•  </a:t>
            </a:r>
            <a:r>
              <a:rPr sz="1700" b="0">
                <a:solidFill>
                  <a:srgbClr val="242933"/>
                </a:solidFill>
                <a:latin typeface="Calibri"/>
              </a:rPr>
              <a:t>Lineage: I-JEPA / V-JEPA (image, video); from-pixels LeWM, LeJEPA, PLDM, so far only gridworld and toy visual tasks</a:t>
            </a:r>
          </a:p>
          <a:p>
            <a:pPr algn="l">
              <a:spcBef>
                <a:spcPts val="0"/>
              </a:spcBef>
              <a:spcAft>
                <a:spcPts val="900"/>
              </a:spcAft>
            </a:pPr>
            <a:r>
              <a:rPr sz="1700" b="1">
                <a:solidFill>
                  <a:srgbClr val="C05210"/>
                </a:solidFill>
                <a:latin typeface="Calibri"/>
              </a:rPr>
              <a:t>•  </a:t>
            </a:r>
            <a:r>
              <a:rPr sz="1700" b="1">
                <a:solidFill>
                  <a:srgbClr val="1F3864"/>
                </a:solidFill>
                <a:latin typeface="Calibri"/>
              </a:rPr>
              <a:t>Why for control:</a:t>
            </a:r>
            <a:r>
              <a:rPr sz="1700" b="0">
                <a:solidFill>
                  <a:srgbClr val="242933"/>
                </a:solidFill>
                <a:latin typeface="Calibri"/>
              </a:rPr>
              <a:t> a learned world-model that is </a:t>
            </a:r>
            <a:r>
              <a:rPr sz="1700" b="1">
                <a:solidFill>
                  <a:srgbClr val="1F3864"/>
                </a:solidFill>
                <a:latin typeface="Calibri"/>
              </a:rPr>
              <a:t>observable from sensors</a:t>
            </a:r>
            <a:r>
              <a:rPr sz="1700" b="0">
                <a:solidFill>
                  <a:srgbClr val="242933"/>
                </a:solidFill>
                <a:latin typeface="Calibri"/>
              </a:rPr>
              <a:t>; to our knowledge the </a:t>
            </a:r>
            <a:r>
              <a:rPr sz="1700" b="1">
                <a:solidFill>
                  <a:srgbClr val="1F3864"/>
                </a:solidFill>
                <a:latin typeface="Calibri"/>
              </a:rPr>
              <a:t>first end-to-end JEPA on a parametric flow</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Our architecture for gust encounters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783080"/>
            <a:ext cx="182880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mid-plane</a:t>
            </a:r>
          </a:p>
          <a:p>
            <a:pPr algn="ctr"/>
            <a:r>
              <a:rPr sz="1300" b="1">
                <a:solidFill>
                  <a:srgbClr val="242933"/>
                </a:solidFill>
                <a:latin typeface="Calibri"/>
              </a:rPr>
              <a:t>vorticity ω(t)</a:t>
            </a:r>
          </a:p>
        </p:txBody>
      </p:sp>
      <p:sp>
        <p:nvSpPr>
          <p:cNvPr id="7" name="Rounded Rectangle 6"/>
          <p:cNvSpPr/>
          <p:nvPr/>
        </p:nvSpPr>
        <p:spPr>
          <a:xfrm>
            <a:off x="2606040" y="1783080"/>
            <a:ext cx="182880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Encoder</a:t>
            </a:r>
          </a:p>
          <a:p>
            <a:pPr algn="ctr"/>
            <a:r>
              <a:rPr sz="1300" b="1">
                <a:solidFill>
                  <a:srgbClr val="242933"/>
                </a:solidFill>
                <a:latin typeface="Calibri"/>
              </a:rPr>
              <a:t>(CNN + ViT)</a:t>
            </a:r>
          </a:p>
          <a:p>
            <a:pPr algn="ctr"/>
            <a:r>
              <a:rPr sz="1300" b="1">
                <a:solidFill>
                  <a:srgbClr val="242933"/>
                </a:solidFill>
                <a:latin typeface="Calibri"/>
              </a:rPr>
              <a:t>unconditional</a:t>
            </a:r>
          </a:p>
        </p:txBody>
      </p:sp>
      <p:sp>
        <p:nvSpPr>
          <p:cNvPr id="8" name="Rounded Rectangle 7"/>
          <p:cNvSpPr/>
          <p:nvPr/>
        </p:nvSpPr>
        <p:spPr>
          <a:xfrm>
            <a:off x="4709160" y="1783080"/>
            <a:ext cx="146304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latent z(t)</a:t>
            </a:r>
          </a:p>
          <a:p>
            <a:pPr algn="ctr"/>
            <a:r>
              <a:rPr sz="1300" b="1">
                <a:solidFill>
                  <a:srgbClr val="242933"/>
                </a:solidFill>
                <a:latin typeface="Calibri"/>
              </a:rPr>
              <a:t>d = 32 / 64</a:t>
            </a:r>
          </a:p>
        </p:txBody>
      </p:sp>
      <p:sp>
        <p:nvSpPr>
          <p:cNvPr id="9" name="Rounded Rectangle 8"/>
          <p:cNvSpPr/>
          <p:nvPr/>
        </p:nvSpPr>
        <p:spPr>
          <a:xfrm>
            <a:off x="6446520" y="1783080"/>
            <a:ext cx="1783080" cy="868680"/>
          </a:xfrm>
          <a:prstGeom prst="roundRect">
            <a:avLst/>
          </a:prstGeom>
          <a:solidFill>
            <a:srgbClr val="FDF0D9"/>
          </a:solidFill>
          <a:ln w="19050">
            <a:solidFill>
              <a:srgbClr val="C0521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Predictor</a:t>
            </a:r>
          </a:p>
          <a:p>
            <a:pPr algn="ctr"/>
            <a:r>
              <a:rPr sz="1300" b="1">
                <a:solidFill>
                  <a:srgbClr val="242933"/>
                </a:solidFill>
                <a:latin typeface="Calibri"/>
              </a:rPr>
              <a:t>(AR transformer)</a:t>
            </a:r>
          </a:p>
        </p:txBody>
      </p:sp>
      <p:sp>
        <p:nvSpPr>
          <p:cNvPr id="10" name="Rounded Rectangle 9"/>
          <p:cNvSpPr/>
          <p:nvPr/>
        </p:nvSpPr>
        <p:spPr>
          <a:xfrm>
            <a:off x="8549640" y="1783080"/>
            <a:ext cx="182880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predicted</a:t>
            </a:r>
          </a:p>
          <a:p>
            <a:pPr algn="ctr"/>
            <a:r>
              <a:rPr sz="1300" b="1">
                <a:solidFill>
                  <a:srgbClr val="242933"/>
                </a:solidFill>
                <a:latin typeface="Calibri"/>
              </a:rPr>
              <a:t>z(t+1)</a:t>
            </a:r>
          </a:p>
        </p:txBody>
      </p:sp>
      <p:sp>
        <p:nvSpPr>
          <p:cNvPr id="11" name="Right Arrow 10"/>
          <p:cNvSpPr/>
          <p:nvPr/>
        </p:nvSpPr>
        <p:spPr>
          <a:xfrm>
            <a:off x="237744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443484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8076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827532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46520" y="3401568"/>
            <a:ext cx="1783080" cy="603504"/>
          </a:xfrm>
          <a:prstGeom prst="roundRect">
            <a:avLst/>
          </a:prstGeom>
          <a:solidFill>
            <a:srgbClr val="FDF0D9"/>
          </a:solidFill>
          <a:ln w="19050">
            <a:solidFill>
              <a:srgbClr val="C0521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gust c = (G, D, Y)</a:t>
            </a:r>
          </a:p>
        </p:txBody>
      </p:sp>
      <p:sp>
        <p:nvSpPr>
          <p:cNvPr id="16" name="Up Arrow 15"/>
          <p:cNvSpPr/>
          <p:nvPr/>
        </p:nvSpPr>
        <p:spPr>
          <a:xfrm>
            <a:off x="7178040" y="2724912"/>
            <a:ext cx="320040" cy="640080"/>
          </a:xfrm>
          <a:prstGeom prst="upArrow">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3529584"/>
            <a:ext cx="3657600" cy="457200"/>
          </a:xfrm>
          <a:prstGeom prst="rect">
            <a:avLst/>
          </a:prstGeom>
          <a:noFill/>
        </p:spPr>
        <p:txBody>
          <a:bodyPr wrap="square" anchor="t" lIns="0" rIns="0" tIns="0" bIns="0">
            <a:spAutoFit/>
          </a:bodyPr>
          <a:lstStyle/>
          <a:p>
            <a:pPr algn="l">
              <a:spcBef>
                <a:spcPts val="0"/>
              </a:spcBef>
              <a:spcAft>
                <a:spcPts val="600"/>
              </a:spcAft>
            </a:pPr>
            <a:r>
              <a:rPr sz="1250" b="1">
                <a:solidFill>
                  <a:srgbClr val="C05210"/>
                </a:solidFill>
                <a:latin typeface="Calibri"/>
              </a:rPr>
              <a:t>enters the predictor ONLY</a:t>
            </a:r>
          </a:p>
        </p:txBody>
      </p:sp>
      <p:sp>
        <p:nvSpPr>
          <p:cNvPr id="18" name="TextBox 17"/>
          <p:cNvSpPr txBox="1"/>
          <p:nvPr/>
        </p:nvSpPr>
        <p:spPr>
          <a:xfrm>
            <a:off x="640080" y="4343400"/>
            <a:ext cx="10972800" cy="192024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The </a:t>
            </a:r>
            <a:r>
              <a:rPr sz="1500" b="1">
                <a:solidFill>
                  <a:srgbClr val="1F3864"/>
                </a:solidFill>
                <a:latin typeface="Calibri"/>
              </a:rPr>
              <a:t>encoder is unconditional</a:t>
            </a:r>
            <a:r>
              <a:rPr sz="1500" b="0">
                <a:solidFill>
                  <a:srgbClr val="242933"/>
                </a:solidFill>
                <a:latin typeface="Calibri"/>
              </a:rPr>
              <a:t>: a pure state map ω(t) → z; the gust never touches it</a:t>
            </a:r>
          </a:p>
          <a:p>
            <a:pPr algn="l">
              <a:spcBef>
                <a:spcPts val="0"/>
              </a:spcBef>
              <a:spcAft>
                <a:spcPts val="900"/>
              </a:spcAft>
            </a:pPr>
            <a:r>
              <a:rPr sz="1500" b="1">
                <a:solidFill>
                  <a:srgbClr val="C05210"/>
                </a:solidFill>
                <a:latin typeface="Calibri"/>
              </a:rPr>
              <a:t>•  </a:t>
            </a:r>
            <a:r>
              <a:rPr sz="1500" b="0">
                <a:solidFill>
                  <a:srgbClr val="242933"/>
                </a:solidFill>
                <a:latin typeface="Calibri"/>
              </a:rPr>
              <a:t>The gust </a:t>
            </a:r>
            <a:r>
              <a:rPr sz="1500" b="1">
                <a:solidFill>
                  <a:srgbClr val="1F3864"/>
                </a:solidFill>
                <a:latin typeface="Calibri"/>
              </a:rPr>
              <a:t>c = (G, D, Y) enters the predictor only</a:t>
            </a:r>
            <a:r>
              <a:rPr sz="1500" b="0">
                <a:solidFill>
                  <a:srgbClr val="242933"/>
                </a:solidFill>
                <a:latin typeface="Calibri"/>
              </a:rPr>
              <a:t> (AdaLN); the predictor </a:t>
            </a:r>
            <a:r>
              <a:rPr sz="1500" b="1">
                <a:solidFill>
                  <a:srgbClr val="1F3864"/>
                </a:solidFill>
                <a:latin typeface="Calibri"/>
              </a:rPr>
              <a:t>is</a:t>
            </a:r>
            <a:r>
              <a:rPr sz="1500" b="0">
                <a:solidFill>
                  <a:srgbClr val="242933"/>
                </a:solidFill>
                <a:latin typeface="Calibri"/>
              </a:rPr>
              <a:t> the latent dynamics model you plan or learn against</a:t>
            </a:r>
          </a:p>
          <a:p>
            <a:pPr algn="l">
              <a:spcBef>
                <a:spcPts val="0"/>
              </a:spcBef>
              <a:spcAft>
                <a:spcPts val="900"/>
              </a:spcAft>
            </a:pPr>
            <a:r>
              <a:rPr sz="1500" b="1">
                <a:solidFill>
                  <a:srgbClr val="C05210"/>
                </a:solidFill>
                <a:latin typeface="Calibri"/>
              </a:rPr>
              <a:t>•  </a:t>
            </a:r>
            <a:r>
              <a:rPr sz="1500" b="0">
                <a:solidFill>
                  <a:srgbClr val="242933"/>
                </a:solidFill>
                <a:latin typeface="Calibri"/>
              </a:rPr>
              <a:t>A </a:t>
            </a:r>
            <a:r>
              <a:rPr sz="1500" b="1">
                <a:solidFill>
                  <a:srgbClr val="1F3864"/>
                </a:solidFill>
                <a:latin typeface="Calibri"/>
              </a:rPr>
              <a:t>visualisation decoder</a:t>
            </a:r>
            <a:r>
              <a:rPr sz="1500" b="0">
                <a:solidFill>
                  <a:srgbClr val="242933"/>
                </a:solidFill>
                <a:latin typeface="Calibri"/>
              </a:rPr>
              <a:t> is trained on the </a:t>
            </a:r>
            <a:r>
              <a:rPr sz="1500" b="1">
                <a:solidFill>
                  <a:srgbClr val="1F3864"/>
                </a:solidFill>
                <a:latin typeface="Calibri"/>
              </a:rPr>
              <a:t>frozen</a:t>
            </a:r>
            <a:r>
              <a:rPr sz="1500" b="0">
                <a:solidFill>
                  <a:srgbClr val="242933"/>
                </a:solidFill>
                <a:latin typeface="Calibri"/>
              </a:rPr>
              <a:t> encoder, never in the loss (figures only)</a:t>
            </a:r>
          </a:p>
          <a:p>
            <a:pPr algn="l">
              <a:spcBef>
                <a:spcPts val="0"/>
              </a:spcBef>
              <a:spcAft>
                <a:spcPts val="900"/>
              </a:spcAft>
            </a:pPr>
            <a:r>
              <a:rPr sz="1500" b="1">
                <a:solidFill>
                  <a:srgbClr val="C05210"/>
                </a:solidFill>
                <a:latin typeface="Calibri"/>
              </a:rPr>
              <a:t>•  </a:t>
            </a:r>
            <a:r>
              <a:rPr sz="1500" b="0">
                <a:solidFill>
                  <a:srgbClr val="242933"/>
                </a:solidFill>
                <a:latin typeface="Calibri"/>
              </a:rPr>
              <a:t>Compared at matched latent dimension against a reconstructive AE (Fukami) and POD</a:t>
            </a:r>
          </a:p>
        </p:txBody>
      </p:sp>
      <p:sp>
        <p:nvSpPr>
          <p:cNvPr id="19" name="TextBox 1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20" name="TextBox 1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ALTERNATIVE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Illustrated alternative: the autoencoder route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77724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Reconstructive route (Fukami-Taira lineage): a </a:t>
            </a:r>
            <a:r>
              <a:rPr sz="1600" b="1">
                <a:solidFill>
                  <a:srgbClr val="1F3864"/>
                </a:solidFill>
                <a:latin typeface="Calibri"/>
              </a:rPr>
              <a:t>CNN encoder</a:t>
            </a:r>
            <a:r>
              <a:rPr sz="1600" b="0">
                <a:solidFill>
                  <a:srgbClr val="242933"/>
                </a:solidFill>
                <a:latin typeface="Calibri"/>
              </a:rPr>
              <a:t>, an </a:t>
            </a:r>
            <a:r>
              <a:rPr sz="1600" b="1">
                <a:solidFill>
                  <a:srgbClr val="1F3864"/>
                </a:solidFill>
                <a:latin typeface="Calibri"/>
              </a:rPr>
              <a:t>MLP latent ξ</a:t>
            </a:r>
            <a:r>
              <a:rPr sz="1600" b="0">
                <a:solidFill>
                  <a:srgbClr val="242933"/>
                </a:solidFill>
                <a:latin typeface="Calibri"/>
              </a:rPr>
              <a:t> (which also feeds a lift head to C_L), and a </a:t>
            </a:r>
            <a:r>
              <a:rPr sz="1600" b="1">
                <a:solidFill>
                  <a:srgbClr val="1F3864"/>
                </a:solidFill>
                <a:latin typeface="Calibri"/>
              </a:rPr>
              <a:t>CNN decoder</a:t>
            </a:r>
            <a:r>
              <a:rPr sz="1600" b="0">
                <a:solidFill>
                  <a:srgbClr val="242933"/>
                </a:solidFill>
                <a:latin typeface="Calibri"/>
              </a:rPr>
              <a:t>; the loss compares the reconstructed field to the input in </a:t>
            </a:r>
            <a:r>
              <a:rPr sz="1600" b="1">
                <a:solidFill>
                  <a:srgbClr val="1F3864"/>
                </a:solidFill>
                <a:latin typeface="Calibri"/>
              </a:rPr>
              <a:t>pixel space</a:t>
            </a:r>
          </a:p>
        </p:txBody>
      </p:sp>
      <p:pic>
        <p:nvPicPr>
          <p:cNvPr id="7" name="Picture 6" descr="fukami_ae.png"/>
          <p:cNvPicPr>
            <a:picLocks noChangeAspect="1"/>
          </p:cNvPicPr>
          <p:nvPr/>
        </p:nvPicPr>
        <p:blipFill>
          <a:blip r:embed="rId2"/>
          <a:stretch>
            <a:fillRect/>
          </a:stretch>
        </p:blipFill>
        <p:spPr>
          <a:xfrm>
            <a:off x="731520" y="2468880"/>
            <a:ext cx="10698480" cy="3044951"/>
          </a:xfrm>
          <a:prstGeom prst="rect">
            <a:avLst/>
          </a:prstGeom>
        </p:spPr>
      </p:pic>
      <p:sp>
        <p:nvSpPr>
          <p:cNvPr id="8" name="TextBox 7"/>
          <p:cNvSpPr txBox="1"/>
          <p:nvPr/>
        </p:nvSpPr>
        <p:spPr>
          <a:xfrm>
            <a:off x="731520" y="577900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An autoencoder reconstructs the field; the latent is shaped by pixel reconstruction.</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ALTERNATIVE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Illustrated alternative: the JEPA route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77724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Same encoder, but a </a:t>
            </a:r>
            <a:r>
              <a:rPr sz="1600" b="1">
                <a:solidFill>
                  <a:srgbClr val="1F3864"/>
                </a:solidFill>
                <a:latin typeface="Calibri"/>
              </a:rPr>
              <a:t>predictor</a:t>
            </a:r>
            <a:r>
              <a:rPr sz="1600" b="0">
                <a:solidFill>
                  <a:srgbClr val="242933"/>
                </a:solidFill>
                <a:latin typeface="Calibri"/>
              </a:rPr>
              <a:t> advances the latent and the loss lives in </a:t>
            </a:r>
            <a:r>
              <a:rPr sz="1600" b="1">
                <a:solidFill>
                  <a:srgbClr val="1F3864"/>
                </a:solidFill>
                <a:latin typeface="Calibri"/>
              </a:rPr>
              <a:t>latent space</a:t>
            </a:r>
            <a:r>
              <a:rPr sz="1600" b="0">
                <a:solidFill>
                  <a:srgbClr val="242933"/>
                </a:solidFill>
                <a:latin typeface="Calibri"/>
              </a:rPr>
              <a:t>, with </a:t>
            </a:r>
            <a:r>
              <a:rPr sz="1600" b="1">
                <a:solidFill>
                  <a:srgbClr val="1F3864"/>
                </a:solidFill>
                <a:latin typeface="Calibri"/>
              </a:rPr>
              <a:t>no decoder</a:t>
            </a:r>
            <a:r>
              <a:rPr sz="1600" b="0">
                <a:solidFill>
                  <a:srgbClr val="242933"/>
                </a:solidFill>
                <a:latin typeface="Calibri"/>
              </a:rPr>
              <a:t> (an anti-collapse term keeps z informative); the gust c = (G, D, Y) enters the predictor only</a:t>
            </a:r>
          </a:p>
        </p:txBody>
      </p:sp>
      <p:pic>
        <p:nvPicPr>
          <p:cNvPr id="7" name="Picture 6" descr="fukami_jepa.png"/>
          <p:cNvPicPr>
            <a:picLocks noChangeAspect="1"/>
          </p:cNvPicPr>
          <p:nvPr/>
        </p:nvPicPr>
        <p:blipFill>
          <a:blip r:embed="rId2"/>
          <a:stretch>
            <a:fillRect/>
          </a:stretch>
        </p:blipFill>
        <p:spPr>
          <a:xfrm>
            <a:off x="731520" y="2468880"/>
            <a:ext cx="10698480" cy="3209544"/>
          </a:xfrm>
          <a:prstGeom prst="rect">
            <a:avLst/>
          </a:prstGeom>
        </p:spPr>
      </p:pic>
      <p:sp>
        <p:nvSpPr>
          <p:cNvPr id="8" name="TextBox 7"/>
          <p:cNvSpPr txBox="1"/>
          <p:nvPr/>
        </p:nvSpPr>
        <p:spPr>
          <a:xfrm>
            <a:off x="731520" y="587044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JEPA predicts the next latent in latent space, with no field reconstruction.</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EVALUATION</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Forward-closure protocol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2285999"/>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1">
                <a:solidFill>
                  <a:srgbClr val="1F3864"/>
                </a:solidFill>
                <a:latin typeface="Calibri"/>
              </a:rPr>
              <a:t>Forward closure:</a:t>
            </a:r>
            <a:r>
              <a:rPr sz="1700" b="0">
                <a:solidFill>
                  <a:srgbClr val="242933"/>
                </a:solidFill>
                <a:latin typeface="Calibri"/>
              </a:rPr>
              <a:t> roll the predictor recursively to </a:t>
            </a:r>
            <a:r>
              <a:rPr sz="1700" b="1">
                <a:solidFill>
                  <a:srgbClr val="1F3864"/>
                </a:solidFill>
                <a:latin typeface="Calibri"/>
              </a:rPr>
              <a:t>H = 16</a:t>
            </a:r>
            <a:r>
              <a:rPr sz="1700" b="0">
                <a:solidFill>
                  <a:srgbClr val="242933"/>
                </a:solidFill>
                <a:latin typeface="Calibri"/>
              </a:rPr>
              <a:t> frames after impact, then probe each observable from the predicted latent</a:t>
            </a:r>
          </a:p>
          <a:p>
            <a:pPr algn="l">
              <a:spcBef>
                <a:spcPts val="0"/>
              </a:spcBef>
              <a:spcAft>
                <a:spcPts val="900"/>
              </a:spcAft>
            </a:pPr>
            <a:r>
              <a:rPr sz="1700" b="1">
                <a:solidFill>
                  <a:srgbClr val="C05210"/>
                </a:solidFill>
                <a:latin typeface="Calibri"/>
              </a:rPr>
              <a:t>•  </a:t>
            </a:r>
            <a:r>
              <a:rPr sz="1700" b="1">
                <a:solidFill>
                  <a:srgbClr val="1F3864"/>
                </a:solidFill>
                <a:latin typeface="Calibri"/>
              </a:rPr>
              <a:t>Matched protocol:</a:t>
            </a:r>
            <a:r>
              <a:rPr sz="1700" b="0">
                <a:solidFill>
                  <a:srgbClr val="242933"/>
                </a:solidFill>
                <a:latin typeface="Calibri"/>
              </a:rPr>
              <a:t> same predictor architecture and same probe family, </a:t>
            </a:r>
            <a:r>
              <a:rPr sz="1700" b="1">
                <a:solidFill>
                  <a:srgbClr val="1F3864"/>
                </a:solidFill>
                <a:latin typeface="Calibri"/>
              </a:rPr>
              <a:t>trained / fitted separately per latent</a:t>
            </a:r>
            <a:r>
              <a:rPr sz="1700" b="0">
                <a:solidFill>
                  <a:srgbClr val="242933"/>
                </a:solidFill>
                <a:latin typeface="Calibri"/>
              </a:rPr>
              <a:t>, so differences are the encoder's</a:t>
            </a:r>
          </a:p>
          <a:p>
            <a:pPr algn="l">
              <a:spcBef>
                <a:spcPts val="0"/>
              </a:spcBef>
              <a:spcAft>
                <a:spcPts val="900"/>
              </a:spcAft>
            </a:pPr>
            <a:r>
              <a:rPr sz="1700" b="1">
                <a:solidFill>
                  <a:srgbClr val="C05210"/>
                </a:solidFill>
                <a:latin typeface="Calibri"/>
              </a:rPr>
              <a:t>•  </a:t>
            </a:r>
            <a:r>
              <a:rPr sz="1700" b="1">
                <a:solidFill>
                  <a:srgbClr val="1F3864"/>
                </a:solidFill>
                <a:latin typeface="Calibri"/>
              </a:rPr>
              <a:t>Conditioning-only floor:</a:t>
            </a:r>
            <a:r>
              <a:rPr sz="1700" b="0">
                <a:solidFill>
                  <a:srgbClr val="242933"/>
                </a:solidFill>
                <a:latin typeface="Calibri"/>
              </a:rPr>
              <a:t> can the </a:t>
            </a:r>
            <a:r>
              <a:rPr sz="1700" b="1">
                <a:solidFill>
                  <a:srgbClr val="1F3864"/>
                </a:solidFill>
                <a:latin typeface="Calibri"/>
              </a:rPr>
              <a:t>three gust numbers (G, D, Y) alone</a:t>
            </a:r>
            <a:r>
              <a:rPr sz="1700" b="0">
                <a:solidFill>
                  <a:srgbClr val="242933"/>
                </a:solidFill>
                <a:latin typeface="Calibri"/>
              </a:rPr>
              <a:t> predict each observable (a kernel-ridge fit)? A latent that only matches this has merely re-encoded its known inputs; </a:t>
            </a:r>
            <a:r>
              <a:rPr sz="1700" b="1">
                <a:solidFill>
                  <a:srgbClr val="1F3864"/>
                </a:solidFill>
                <a:latin typeface="Calibri"/>
              </a:rPr>
              <a:t>beating the floor proves the latent carries flow state beyond the parameters</a:t>
            </a:r>
          </a:p>
          <a:p>
            <a:pPr algn="l">
              <a:spcBef>
                <a:spcPts val="0"/>
              </a:spcBef>
              <a:spcAft>
                <a:spcPts val="900"/>
              </a:spcAft>
            </a:pPr>
            <a:r>
              <a:rPr sz="1700" b="1">
                <a:solidFill>
                  <a:srgbClr val="C05210"/>
                </a:solidFill>
                <a:latin typeface="Calibri"/>
              </a:rPr>
              <a:t>•  </a:t>
            </a:r>
            <a:r>
              <a:rPr sz="1700" b="0">
                <a:solidFill>
                  <a:srgbClr val="242933"/>
                </a:solidFill>
                <a:latin typeface="Calibri"/>
              </a:rPr>
              <a:t>Reported with bootstrap CIs, 3 encoder seeds, 5-fold probe CV; held-out test_b / test_c</a:t>
            </a:r>
          </a:p>
        </p:txBody>
      </p:sp>
      <p:pic>
        <p:nvPicPr>
          <p:cNvPr id="7" name="Picture 6" descr="eval_protocol.png"/>
          <p:cNvPicPr>
            <a:picLocks noChangeAspect="1"/>
          </p:cNvPicPr>
          <p:nvPr/>
        </p:nvPicPr>
        <p:blipFill>
          <a:blip r:embed="rId2"/>
          <a:stretch>
            <a:fillRect/>
          </a:stretch>
        </p:blipFill>
        <p:spPr>
          <a:xfrm>
            <a:off x="2540572" y="3977639"/>
            <a:ext cx="7080374" cy="1920240"/>
          </a:xfrm>
          <a:prstGeom prst="rect">
            <a:avLst/>
          </a:prstGeom>
        </p:spPr>
      </p:pic>
      <p:sp>
        <p:nvSpPr>
          <p:cNvPr id="8" name="TextBox 7"/>
          <p:cNvSpPr txBox="1"/>
          <p:nvPr/>
        </p:nvSpPr>
        <p:spPr>
          <a:xfrm>
            <a:off x="731520" y="5916167"/>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The same predictor and probe map every encoder family to the observables, in two modes.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Main result: forward closure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53796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Closure R² (rolled-out latent to observable, mean over six): </a:t>
            </a:r>
            <a:r>
              <a:rPr sz="1600" b="1">
                <a:solidFill>
                  <a:srgbClr val="1F3864"/>
                </a:solidFill>
                <a:latin typeface="Calibri"/>
              </a:rPr>
              <a:t>JEPA 0.84 · Fukami 0.43 · POD 0.56</a:t>
            </a:r>
          </a:p>
          <a:p>
            <a:pPr algn="l">
              <a:spcBef>
                <a:spcPts val="0"/>
              </a:spcBef>
              <a:spcAft>
                <a:spcPts val="900"/>
              </a:spcAft>
            </a:pPr>
            <a:r>
              <a:rPr sz="1600" b="1">
                <a:solidFill>
                  <a:srgbClr val="C05210"/>
                </a:solidFill>
                <a:latin typeface="Calibri"/>
              </a:rPr>
              <a:t>•  </a:t>
            </a:r>
            <a:r>
              <a:rPr sz="1600" b="1">
                <a:solidFill>
                  <a:srgbClr val="1F3864"/>
                </a:solidFill>
                <a:latin typeface="Calibri"/>
              </a:rPr>
              <a:t>Wake enstrophy</a:t>
            </a:r>
            <a:r>
              <a:rPr sz="1600" b="0">
                <a:solidFill>
                  <a:srgbClr val="242933"/>
                </a:solidFill>
                <a:latin typeface="Calibri"/>
              </a:rPr>
              <a:t> is the discriminator: </a:t>
            </a:r>
            <a:r>
              <a:rPr sz="1600" b="1">
                <a:solidFill>
                  <a:srgbClr val="1F3864"/>
                </a:solidFill>
                <a:latin typeface="Calibri"/>
              </a:rPr>
              <a:t>0.93</a:t>
            </a:r>
            <a:r>
              <a:rPr sz="1600" b="0">
                <a:solidFill>
                  <a:srgbClr val="242933"/>
                </a:solidFill>
                <a:latin typeface="Calibri"/>
              </a:rPr>
              <a:t> vs 0.28 / 0.37; held-out MAE </a:t>
            </a:r>
            <a:r>
              <a:rPr sz="1600" b="1">
                <a:solidFill>
                  <a:srgbClr val="1F3864"/>
                </a:solidFill>
                <a:latin typeface="Calibri"/>
              </a:rPr>
              <a:t>2.4 to 3× lower</a:t>
            </a:r>
            <a:r>
              <a:rPr sz="1600" b="0">
                <a:solidFill>
                  <a:srgbClr val="242933"/>
                </a:solidFill>
                <a:latin typeface="Calibri"/>
              </a:rPr>
              <a:t>. POD competes only on the impulse I_y</a:t>
            </a:r>
          </a:p>
          <a:p>
            <a:pPr algn="l">
              <a:spcBef>
                <a:spcPts val="0"/>
              </a:spcBef>
              <a:spcAft>
                <a:spcPts val="900"/>
              </a:spcAft>
            </a:pPr>
            <a:r>
              <a:rPr sz="1600" b="1">
                <a:solidFill>
                  <a:srgbClr val="C05210"/>
                </a:solidFill>
                <a:latin typeface="Calibri"/>
              </a:rPr>
              <a:t>•  </a:t>
            </a:r>
            <a:r>
              <a:rPr sz="1600" b="1">
                <a:solidFill>
                  <a:srgbClr val="1F3864"/>
                </a:solidFill>
                <a:latin typeface="Calibri"/>
              </a:rPr>
              <a:t>Wake enstrophy</a:t>
            </a:r>
            <a:r>
              <a:rPr sz="1600" b="0">
                <a:solidFill>
                  <a:srgbClr val="242933"/>
                </a:solidFill>
                <a:latin typeface="Calibri"/>
              </a:rPr>
              <a:t> E_w = ∫ ω_z² over the wake (x/c ∈ [0.5, 4], |y/c| ≤ 1): the </a:t>
            </a:r>
            <a:r>
              <a:rPr sz="1600" b="1">
                <a:solidFill>
                  <a:srgbClr val="1F3864"/>
                </a:solidFill>
                <a:latin typeface="Calibri"/>
              </a:rPr>
              <a:t>intensity of the wake's rotational structures</a:t>
            </a:r>
            <a:r>
              <a:rPr sz="1600" b="0">
                <a:solidFill>
                  <a:srgbClr val="242933"/>
                </a:solidFill>
                <a:latin typeface="Calibri"/>
              </a:rPr>
              <a:t> (LEV + shed vortices) that set the future load, the part reconstruction-only states smooth away, so it is the hard, discriminating target</a:t>
            </a:r>
          </a:p>
          <a:p>
            <a:pPr algn="l">
              <a:spcBef>
                <a:spcPts val="0"/>
              </a:spcBef>
              <a:spcAft>
                <a:spcPts val="900"/>
              </a:spcAft>
            </a:pPr>
            <a:r>
              <a:rPr sz="1600" b="1">
                <a:solidFill>
                  <a:srgbClr val="C05210"/>
                </a:solidFill>
                <a:latin typeface="Calibri"/>
              </a:rPr>
              <a:t>•  </a:t>
            </a:r>
            <a:r>
              <a:rPr sz="1600" b="1">
                <a:solidFill>
                  <a:srgbClr val="1F3864"/>
                </a:solidFill>
                <a:latin typeface="Calibri"/>
              </a:rPr>
              <a:t>Impulse</a:t>
            </a:r>
            <a:r>
              <a:rPr sz="1600" b="0">
                <a:solidFill>
                  <a:srgbClr val="242933"/>
                </a:solidFill>
                <a:latin typeface="Calibri"/>
              </a:rPr>
              <a:t> I_y = ∫ x·ω_z over the slice: a </a:t>
            </a:r>
            <a:r>
              <a:rPr sz="1600" b="1">
                <a:solidFill>
                  <a:srgbClr val="1F3864"/>
                </a:solidFill>
                <a:latin typeface="Calibri"/>
              </a:rPr>
              <a:t>vortical-transport</a:t>
            </a:r>
            <a:r>
              <a:rPr sz="1600" b="0">
                <a:solidFill>
                  <a:srgbClr val="242933"/>
                </a:solidFill>
                <a:latin typeface="Calibri"/>
              </a:rPr>
              <a:t> integral tying the wake's vorticity distribution to the loading; smooth and low-rank, so even POD captures it, the *easy* contrast that isolates where the wake is hard</a:t>
            </a:r>
          </a:p>
          <a:p>
            <a:pPr algn="l">
              <a:spcBef>
                <a:spcPts val="0"/>
              </a:spcBef>
              <a:spcAft>
                <a:spcPts val="900"/>
              </a:spcAft>
            </a:pPr>
            <a:r>
              <a:rPr sz="1600" b="1">
                <a:solidFill>
                  <a:srgbClr val="C05210"/>
                </a:solidFill>
                <a:latin typeface="Calibri"/>
              </a:rPr>
              <a:t>•  </a:t>
            </a:r>
            <a:r>
              <a:rPr sz="1600" b="0">
                <a:solidFill>
                  <a:srgbClr val="242933"/>
                </a:solidFill>
                <a:latin typeface="Calibri"/>
              </a:rPr>
              <a:t>Each panel's MAE is in that observable's own units; R² is the cross-observable comparison</a:t>
            </a:r>
          </a:p>
        </p:txBody>
      </p:sp>
      <p:pic>
        <p:nvPicPr>
          <p:cNvPr id="7" name="Picture 6" descr="closure_H16.png"/>
          <p:cNvPicPr>
            <a:picLocks noChangeAspect="1"/>
          </p:cNvPicPr>
          <p:nvPr/>
        </p:nvPicPr>
        <p:blipFill>
          <a:blip r:embed="rId2"/>
          <a:stretch>
            <a:fillRect/>
          </a:stretch>
        </p:blipFill>
        <p:spPr>
          <a:xfrm>
            <a:off x="7315200" y="1664208"/>
            <a:ext cx="4480560" cy="3509091"/>
          </a:xfrm>
          <a:prstGeom prst="rect">
            <a:avLst/>
          </a:prstGeom>
        </p:spPr>
      </p:pic>
      <p:sp>
        <p:nvSpPr>
          <p:cNvPr id="8" name="TextBox 7"/>
          <p:cNvSpPr txBox="1"/>
          <p:nvPr/>
        </p:nvSpPr>
        <p:spPr>
          <a:xfrm>
            <a:off x="7315200" y="6108192"/>
            <a:ext cx="448056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Held-out MAE at H = 16 by observable (test B top, test C bottom); each observable in its own units.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Forward closure at shorter horizons: H = 8</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53212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The same comparison, rolled out to </a:t>
            </a:r>
            <a:r>
              <a:rPr sz="1600" b="1">
                <a:solidFill>
                  <a:srgbClr val="1F3864"/>
                </a:solidFill>
                <a:latin typeface="Calibri"/>
              </a:rPr>
              <a:t>H = 8</a:t>
            </a:r>
            <a:r>
              <a:rPr sz="1600" b="0">
                <a:solidFill>
                  <a:srgbClr val="242933"/>
                </a:solidFill>
                <a:latin typeface="Calibri"/>
              </a:rPr>
              <a:t> instead of 16</a:t>
            </a:r>
          </a:p>
          <a:p>
            <a:pPr algn="l">
              <a:spcBef>
                <a:spcPts val="0"/>
              </a:spcBef>
              <a:spcAft>
                <a:spcPts val="900"/>
              </a:spcAft>
            </a:pPr>
            <a:r>
              <a:rPr sz="1600" b="1">
                <a:solidFill>
                  <a:srgbClr val="C05210"/>
                </a:solidFill>
                <a:latin typeface="Calibri"/>
              </a:rPr>
              <a:t>•  </a:t>
            </a:r>
            <a:r>
              <a:rPr sz="1600" b="0">
                <a:solidFill>
                  <a:srgbClr val="242933"/>
                </a:solidFill>
                <a:latin typeface="Calibri"/>
              </a:rPr>
              <a:t>The family ordering is unchanged: the predictive latent is lowest on the wake, near the DNS-oracle floor</a:t>
            </a:r>
          </a:p>
          <a:p>
            <a:pPr algn="l">
              <a:spcBef>
                <a:spcPts val="0"/>
              </a:spcBef>
              <a:spcAft>
                <a:spcPts val="900"/>
              </a:spcAft>
            </a:pPr>
            <a:r>
              <a:rPr sz="1600" b="1">
                <a:solidFill>
                  <a:srgbClr val="C05210"/>
                </a:solidFill>
                <a:latin typeface="Calibri"/>
              </a:rPr>
              <a:t>•  </a:t>
            </a:r>
            <a:r>
              <a:rPr sz="1600" b="0">
                <a:solidFill>
                  <a:srgbClr val="242933"/>
                </a:solidFill>
                <a:latin typeface="Calibri"/>
              </a:rPr>
              <a:t>Absolute errors are smaller at the shorter horizon: wake-enstrophy MAE ≈ </a:t>
            </a:r>
            <a:r>
              <a:rPr sz="1600" b="1">
                <a:solidFill>
                  <a:srgbClr val="1F3864"/>
                </a:solidFill>
                <a:latin typeface="Calibri"/>
              </a:rPr>
              <a:t>30</a:t>
            </a:r>
            <a:r>
              <a:rPr sz="1600" b="0">
                <a:solidFill>
                  <a:srgbClr val="242933"/>
                </a:solidFill>
                <a:latin typeface="Calibri"/>
              </a:rPr>
              <a:t> for JEPA, vs ≈ 41 at H = 16</a:t>
            </a:r>
          </a:p>
          <a:p>
            <a:pPr algn="l">
              <a:spcBef>
                <a:spcPts val="0"/>
              </a:spcBef>
              <a:spcAft>
                <a:spcPts val="900"/>
              </a:spcAft>
            </a:pPr>
            <a:r>
              <a:rPr sz="1600" b="1">
                <a:solidFill>
                  <a:srgbClr val="C05210"/>
                </a:solidFill>
                <a:latin typeface="Calibri"/>
              </a:rPr>
              <a:t>•  </a:t>
            </a:r>
            <a:r>
              <a:rPr sz="1600" b="0">
                <a:solidFill>
                  <a:srgbClr val="242933"/>
                </a:solidFill>
                <a:latin typeface="Calibri"/>
              </a:rPr>
              <a:t>Reconstructive and POD stay well above the floor on the wake</a:t>
            </a:r>
          </a:p>
        </p:txBody>
      </p:sp>
      <p:pic>
        <p:nvPicPr>
          <p:cNvPr id="7" name="Picture 6" descr="closure_H8.png"/>
          <p:cNvPicPr>
            <a:picLocks noChangeAspect="1"/>
          </p:cNvPicPr>
          <p:nvPr/>
        </p:nvPicPr>
        <p:blipFill>
          <a:blip r:embed="rId2"/>
          <a:stretch>
            <a:fillRect/>
          </a:stretch>
        </p:blipFill>
        <p:spPr>
          <a:xfrm>
            <a:off x="6327399" y="1664208"/>
            <a:ext cx="5541760" cy="4389120"/>
          </a:xfrm>
          <a:prstGeom prst="rect">
            <a:avLst/>
          </a:prstGeom>
        </p:spPr>
      </p:pic>
      <p:sp>
        <p:nvSpPr>
          <p:cNvPr id="8" name="TextBox 7"/>
          <p:cNvSpPr txBox="1"/>
          <p:nvPr/>
        </p:nvSpPr>
        <p:spPr>
          <a:xfrm>
            <a:off x="6309360" y="6108192"/>
            <a:ext cx="557784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Held-out MAE at H = 8 by observable (test B top, test C bottom).</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Forward closure at shorter horizons: H = 4</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53212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Rolled out to </a:t>
            </a:r>
            <a:r>
              <a:rPr sz="1600" b="1">
                <a:solidFill>
                  <a:srgbClr val="1F3864"/>
                </a:solidFill>
                <a:latin typeface="Calibri"/>
              </a:rPr>
              <a:t>H = 4</a:t>
            </a:r>
            <a:r>
              <a:rPr sz="1600" b="0">
                <a:solidFill>
                  <a:srgbClr val="242933"/>
                </a:solidFill>
                <a:latin typeface="Calibri"/>
              </a:rPr>
              <a:t>, four frames after impact</a:t>
            </a:r>
          </a:p>
          <a:p>
            <a:pPr algn="l">
              <a:spcBef>
                <a:spcPts val="0"/>
              </a:spcBef>
              <a:spcAft>
                <a:spcPts val="900"/>
              </a:spcAft>
            </a:pPr>
            <a:r>
              <a:rPr sz="1600" b="1">
                <a:solidFill>
                  <a:srgbClr val="C05210"/>
                </a:solidFill>
                <a:latin typeface="Calibri"/>
              </a:rPr>
              <a:t>•  </a:t>
            </a:r>
            <a:r>
              <a:rPr sz="1600" b="0">
                <a:solidFill>
                  <a:srgbClr val="242933"/>
                </a:solidFill>
                <a:latin typeface="Calibri"/>
              </a:rPr>
              <a:t>The predictive latent is still lowest on the wake enstrophy and closest to the oracle floor</a:t>
            </a:r>
          </a:p>
          <a:p>
            <a:pPr algn="l">
              <a:spcBef>
                <a:spcPts val="0"/>
              </a:spcBef>
              <a:spcAft>
                <a:spcPts val="900"/>
              </a:spcAft>
            </a:pPr>
            <a:r>
              <a:rPr sz="1600" b="1">
                <a:solidFill>
                  <a:srgbClr val="C05210"/>
                </a:solidFill>
                <a:latin typeface="Calibri"/>
              </a:rPr>
              <a:t>•  </a:t>
            </a:r>
            <a:r>
              <a:rPr sz="1600" b="0">
                <a:solidFill>
                  <a:srgbClr val="242933"/>
                </a:solidFill>
                <a:latin typeface="Calibri"/>
              </a:rPr>
              <a:t>Errors shrink further: wake-enstrophy MAE ≈ </a:t>
            </a:r>
            <a:r>
              <a:rPr sz="1600" b="1">
                <a:solidFill>
                  <a:srgbClr val="1F3864"/>
                </a:solidFill>
                <a:latin typeface="Calibri"/>
              </a:rPr>
              <a:t>27</a:t>
            </a:r>
            <a:r>
              <a:rPr sz="1600" b="0">
                <a:solidFill>
                  <a:srgbClr val="242933"/>
                </a:solidFill>
                <a:latin typeface="Calibri"/>
              </a:rPr>
              <a:t> for JEPA; the wake stays the discriminating observable</a:t>
            </a:r>
          </a:p>
          <a:p>
            <a:pPr algn="l">
              <a:spcBef>
                <a:spcPts val="0"/>
              </a:spcBef>
              <a:spcAft>
                <a:spcPts val="900"/>
              </a:spcAft>
            </a:pPr>
            <a:r>
              <a:rPr sz="1600" b="1">
                <a:solidFill>
                  <a:srgbClr val="C05210"/>
                </a:solidFill>
                <a:latin typeface="Calibri"/>
              </a:rPr>
              <a:t>•  </a:t>
            </a:r>
            <a:r>
              <a:rPr sz="1600" b="0">
                <a:solidFill>
                  <a:srgbClr val="242933"/>
                </a:solidFill>
                <a:latin typeface="Calibri"/>
              </a:rPr>
              <a:t>So the advantage holds at </a:t>
            </a:r>
            <a:r>
              <a:rPr sz="1600" b="1">
                <a:solidFill>
                  <a:srgbClr val="1F3864"/>
                </a:solidFill>
                <a:latin typeface="Calibri"/>
              </a:rPr>
              <a:t>every horizon we test</a:t>
            </a:r>
            <a:r>
              <a:rPr sz="1600" b="0">
                <a:solidFill>
                  <a:srgbClr val="242933"/>
                </a:solidFill>
                <a:latin typeface="Calibri"/>
              </a:rPr>
              <a:t>, not only H = 16</a:t>
            </a:r>
          </a:p>
        </p:txBody>
      </p:sp>
      <p:pic>
        <p:nvPicPr>
          <p:cNvPr id="7" name="Picture 6" descr="closure_H4.png"/>
          <p:cNvPicPr>
            <a:picLocks noChangeAspect="1"/>
          </p:cNvPicPr>
          <p:nvPr/>
        </p:nvPicPr>
        <p:blipFill>
          <a:blip r:embed="rId2"/>
          <a:stretch>
            <a:fillRect/>
          </a:stretch>
        </p:blipFill>
        <p:spPr>
          <a:xfrm>
            <a:off x="6335916" y="1664208"/>
            <a:ext cx="5524726" cy="4389120"/>
          </a:xfrm>
          <a:prstGeom prst="rect">
            <a:avLst/>
          </a:prstGeom>
        </p:spPr>
      </p:pic>
      <p:sp>
        <p:nvSpPr>
          <p:cNvPr id="8" name="TextBox 7"/>
          <p:cNvSpPr txBox="1"/>
          <p:nvPr/>
        </p:nvSpPr>
        <p:spPr>
          <a:xfrm>
            <a:off x="6309360" y="6108192"/>
            <a:ext cx="557784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Held-out MAE at H = 4 by observable (test B top, test C bottom).</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Forward closure in action: the rollout tracks the encounter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74519"/>
            <a:ext cx="4297680" cy="420624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The predictor </a:t>
            </a:r>
            <a:r>
              <a:rPr sz="1500" b="1">
                <a:solidFill>
                  <a:srgbClr val="1F3864"/>
                </a:solidFill>
                <a:latin typeface="Calibri"/>
              </a:rPr>
              <a:t>rolls the latent forward from impact</a:t>
            </a:r>
            <a:r>
              <a:rPr sz="1500" b="0">
                <a:solidFill>
                  <a:srgbClr val="242933"/>
                </a:solidFill>
                <a:latin typeface="Calibri"/>
              </a:rPr>
              <a:t>; each scalar is read off the rolled latent by a fixed linear probe</a:t>
            </a:r>
          </a:p>
          <a:p>
            <a:pPr algn="l">
              <a:spcBef>
                <a:spcPts val="0"/>
              </a:spcBef>
              <a:spcAft>
                <a:spcPts val="900"/>
              </a:spcAft>
            </a:pPr>
            <a:r>
              <a:rPr sz="1500" b="1">
                <a:solidFill>
                  <a:srgbClr val="C05210"/>
                </a:solidFill>
                <a:latin typeface="Calibri"/>
              </a:rPr>
              <a:t>•  </a:t>
            </a:r>
            <a:r>
              <a:rPr sz="1500" b="1">
                <a:solidFill>
                  <a:srgbClr val="1F3864"/>
                </a:solidFill>
                <a:latin typeface="Calibri"/>
              </a:rPr>
              <a:t>Wake enstrophy</a:t>
            </a:r>
            <a:r>
              <a:rPr sz="1500" b="0">
                <a:solidFill>
                  <a:srgbClr val="242933"/>
                </a:solidFill>
                <a:latin typeface="Calibri"/>
              </a:rPr>
              <a:t> and </a:t>
            </a:r>
            <a:r>
              <a:rPr sz="1500" b="1">
                <a:solidFill>
                  <a:srgbClr val="1F3864"/>
                </a:solidFill>
                <a:latin typeface="Calibri"/>
              </a:rPr>
              <a:t>lift</a:t>
            </a:r>
            <a:r>
              <a:rPr sz="1500" b="0">
                <a:solidFill>
                  <a:srgbClr val="242933"/>
                </a:solidFill>
                <a:latin typeface="Calibri"/>
              </a:rPr>
              <a:t> track the DNS truth (black) through impact and the lift dip</a:t>
            </a:r>
          </a:p>
          <a:p>
            <a:pPr algn="l">
              <a:spcBef>
                <a:spcPts val="0"/>
              </a:spcBef>
              <a:spcAft>
                <a:spcPts val="900"/>
              </a:spcAft>
            </a:pPr>
            <a:r>
              <a:rPr sz="1500" b="1">
                <a:solidFill>
                  <a:srgbClr val="C05210"/>
                </a:solidFill>
                <a:latin typeface="Calibri"/>
              </a:rPr>
              <a:t>•  </a:t>
            </a:r>
            <a:r>
              <a:rPr sz="1500" b="0">
                <a:solidFill>
                  <a:srgbClr val="242933"/>
                </a:solidFill>
                <a:latin typeface="Calibri"/>
              </a:rPr>
              <a:t>Reconstruction (green) = encoded-latent </a:t>
            </a:r>
            <a:r>
              <a:rPr sz="1500" b="1">
                <a:solidFill>
                  <a:srgbClr val="1F3864"/>
                </a:solidFill>
                <a:latin typeface="Calibri"/>
              </a:rPr>
              <a:t>ceiling</a:t>
            </a:r>
            <a:r>
              <a:rPr sz="1500" b="0">
                <a:solidFill>
                  <a:srgbClr val="242933"/>
                </a:solidFill>
                <a:latin typeface="Calibri"/>
              </a:rPr>
              <a:t>; prediction (orange) = the </a:t>
            </a:r>
            <a:r>
              <a:rPr sz="1500" b="1">
                <a:solidFill>
                  <a:srgbClr val="1F3864"/>
                </a:solidFill>
                <a:latin typeface="Calibri"/>
              </a:rPr>
              <a:t>forecast</a:t>
            </a:r>
          </a:p>
          <a:p>
            <a:pPr algn="l">
              <a:spcBef>
                <a:spcPts val="0"/>
              </a:spcBef>
              <a:spcAft>
                <a:spcPts val="900"/>
              </a:spcAft>
            </a:pPr>
            <a:r>
              <a:rPr sz="1500" b="1">
                <a:solidFill>
                  <a:srgbClr val="C05210"/>
                </a:solidFill>
                <a:latin typeface="Calibri"/>
              </a:rPr>
              <a:t>•  </a:t>
            </a:r>
            <a:r>
              <a:rPr sz="1500" b="0">
                <a:solidFill>
                  <a:srgbClr val="242933"/>
                </a:solidFill>
                <a:latin typeface="Calibri"/>
              </a:rPr>
              <a:t>A representative </a:t>
            </a:r>
            <a:r>
              <a:rPr sz="1500" b="1">
                <a:solidFill>
                  <a:srgbClr val="1F3864"/>
                </a:solidFill>
                <a:latin typeface="Calibri"/>
              </a:rPr>
              <a:t>low-error</a:t>
            </a:r>
            <a:r>
              <a:rPr sz="1500" b="0">
                <a:solidFill>
                  <a:srgbClr val="242933"/>
                </a:solidFill>
                <a:latin typeface="Calibri"/>
              </a:rPr>
              <a:t> encounter (G = -1.5), not the hardest case</a:t>
            </a:r>
          </a:p>
        </p:txBody>
      </p:sp>
      <p:pic>
        <p:nvPicPr>
          <p:cNvPr id="7" name="forecast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212080" y="1600200"/>
            <a:ext cx="6309360" cy="4553712"/>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PHYSICAL SPACE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same forecast in physical space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700" b="0">
                <a:solidFill>
                  <a:srgbClr val="242933"/>
                </a:solidFill>
                <a:latin typeface="Calibri"/>
              </a:rPr>
              <a:t>Decode the rolled latent every frame: the forecast as full vorticity fields, not just scalars.</a:t>
            </a:r>
          </a:p>
        </p:txBody>
      </p:sp>
      <p:pic>
        <p:nvPicPr>
          <p:cNvPr id="7" name="field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77240" y="2057400"/>
            <a:ext cx="10607040" cy="2798064"/>
          </a:xfrm>
          <a:prstGeom prst="rect">
            <a:avLst/>
          </a:prstGeom>
        </p:spPr>
      </p:pic>
      <p:sp>
        <p:nvSpPr>
          <p:cNvPr id="8" name="TextBox 7"/>
          <p:cNvSpPr txBox="1"/>
          <p:nvPr/>
        </p:nvSpPr>
        <p:spPr>
          <a:xfrm>
            <a:off x="777240" y="5029200"/>
            <a:ext cx="1060704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DNS truth vs reconstruction (JEPA encode→decode of the latent) vs prediction (rolled latent), G = -1.5. At impact (H = 0) prediction = reconstruction; they diverge with horizon. SSIM(prediction) 0.77 at impact, 0.53 at H = 16. The latent keeps the LEV and shear layer; fine-scale wake is not retained at d = 64.</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It is the wake, not the forces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1">
                <a:solidFill>
                  <a:srgbClr val="1F3864"/>
                </a:solidFill>
                <a:latin typeface="Calibri"/>
              </a:rPr>
              <a:t>Forces</a:t>
            </a:r>
            <a:r>
              <a:rPr sz="1700" b="0">
                <a:solidFill>
                  <a:srgbClr val="242933"/>
                </a:solidFill>
                <a:latin typeface="Calibri"/>
              </a:rPr>
              <a:t> (C_L, C_D) are forecast </a:t>
            </a:r>
            <a:r>
              <a:rPr sz="1700" b="1">
                <a:solidFill>
                  <a:srgbClr val="1F3864"/>
                </a:solidFill>
                <a:latin typeface="Calibri"/>
              </a:rPr>
              <a:t>redundantly by every family</a:t>
            </a:r>
            <a:r>
              <a:rPr sz="1700" b="0">
                <a:solidFill>
                  <a:srgbClr val="242933"/>
                </a:solidFill>
                <a:latin typeface="Calibri"/>
              </a:rPr>
              <a:t>, many coordinates carry them</a:t>
            </a:r>
          </a:p>
          <a:p>
            <a:pPr algn="l">
              <a:spcBef>
                <a:spcPts val="0"/>
              </a:spcBef>
              <a:spcAft>
                <a:spcPts val="900"/>
              </a:spcAft>
            </a:pPr>
            <a:r>
              <a:rPr sz="1700" b="1">
                <a:solidFill>
                  <a:srgbClr val="C05210"/>
                </a:solidFill>
                <a:latin typeface="Calibri"/>
              </a:rPr>
              <a:t>•  </a:t>
            </a:r>
            <a:r>
              <a:rPr sz="1700" b="0">
                <a:solidFill>
                  <a:srgbClr val="242933"/>
                </a:solidFill>
                <a:latin typeface="Calibri"/>
              </a:rPr>
              <a:t>Only the predictive latent carries a </a:t>
            </a:r>
            <a:r>
              <a:rPr sz="1700" b="1">
                <a:solidFill>
                  <a:srgbClr val="1F3864"/>
                </a:solidFill>
                <a:latin typeface="Calibri"/>
              </a:rPr>
              <a:t>distributed wake-forecast code</a:t>
            </a:r>
            <a:r>
              <a:rPr sz="1700" b="0">
                <a:solidFill>
                  <a:srgbClr val="242933"/>
                </a:solidFill>
                <a:latin typeface="Calibri"/>
              </a:rPr>
              <a:t> (rank corr 0.83; best single coordinate 0.44)</a:t>
            </a:r>
          </a:p>
          <a:p>
            <a:pPr algn="l">
              <a:spcBef>
                <a:spcPts val="0"/>
              </a:spcBef>
              <a:spcAft>
                <a:spcPts val="900"/>
              </a:spcAft>
            </a:pPr>
            <a:r>
              <a:rPr sz="1700" b="1">
                <a:solidFill>
                  <a:srgbClr val="C05210"/>
                </a:solidFill>
                <a:latin typeface="Calibri"/>
              </a:rPr>
              <a:t>•  </a:t>
            </a:r>
            <a:r>
              <a:rPr sz="1700" b="0">
                <a:solidFill>
                  <a:srgbClr val="242933"/>
                </a:solidFill>
                <a:latin typeface="Calibri"/>
              </a:rPr>
              <a:t>Reconstructive / linear: best single coordinate ≈ the whole latent → </a:t>
            </a:r>
            <a:r>
              <a:rPr sz="1700" b="1">
                <a:solidFill>
                  <a:srgbClr val="1F3864"/>
                </a:solidFill>
                <a:latin typeface="Calibri"/>
              </a:rPr>
              <a:t>no collective wake structure</a:t>
            </a:r>
          </a:p>
          <a:p>
            <a:pPr algn="l">
              <a:spcBef>
                <a:spcPts val="0"/>
              </a:spcBef>
              <a:spcAft>
                <a:spcPts val="900"/>
              </a:spcAft>
            </a:pPr>
            <a:r>
              <a:rPr sz="1700" b="1">
                <a:solidFill>
                  <a:srgbClr val="C05210"/>
                </a:solidFill>
                <a:latin typeface="Calibri"/>
              </a:rPr>
              <a:t>•  </a:t>
            </a:r>
            <a:r>
              <a:rPr sz="1700" b="0">
                <a:solidFill>
                  <a:srgbClr val="242933"/>
                </a:solidFill>
                <a:latin typeface="Calibri"/>
              </a:rPr>
              <a:t>And it clears the </a:t>
            </a:r>
            <a:r>
              <a:rPr sz="1700" b="1">
                <a:solidFill>
                  <a:srgbClr val="1F3864"/>
                </a:solidFill>
                <a:latin typeface="Calibri"/>
              </a:rPr>
              <a:t>conditioning-only floor</a:t>
            </a:r>
            <a:r>
              <a:rPr sz="1700" b="0">
                <a:solidFill>
                  <a:srgbClr val="242933"/>
                </a:solidFill>
                <a:latin typeface="Calibri"/>
              </a:rPr>
              <a:t> → the latent, not the parameters, does the work</a:t>
            </a:r>
          </a:p>
        </p:txBody>
      </p:sp>
      <p:pic>
        <p:nvPicPr>
          <p:cNvPr id="7" name="Picture 6" descr="wake_code.png"/>
          <p:cNvPicPr>
            <a:picLocks noChangeAspect="1"/>
          </p:cNvPicPr>
          <p:nvPr/>
        </p:nvPicPr>
        <p:blipFill>
          <a:blip r:embed="rId2"/>
          <a:stretch>
            <a:fillRect/>
          </a:stretch>
        </p:blipFill>
        <p:spPr>
          <a:xfrm>
            <a:off x="7040880" y="1664208"/>
            <a:ext cx="4754880" cy="3245506"/>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Wake forecast skill: full latent (dark) vs best single coordinate (light).</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wake in physical space: the Gaussian scale split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Gaussian scale split</a:t>
            </a:r>
            <a:r>
              <a:rPr sz="1400" b="0">
                <a:solidFill>
                  <a:srgbClr val="242933"/>
                </a:solidFill>
                <a:latin typeface="Calibri"/>
              </a:rPr>
              <a:t> (Motoori &amp; Goto 2019): low-pass the vorticity at σ/c = 0.05 into a </a:t>
            </a:r>
            <a:r>
              <a:rPr sz="1400" b="1">
                <a:solidFill>
                  <a:srgbClr val="1F3864"/>
                </a:solidFill>
                <a:latin typeface="Calibri"/>
              </a:rPr>
              <a:t>large-scale</a:t>
            </a:r>
            <a:r>
              <a:rPr sz="1400" b="0">
                <a:solidFill>
                  <a:srgbClr val="242933"/>
                </a:solidFill>
                <a:latin typeface="Calibri"/>
              </a:rPr>
              <a:t> part (LEV + shear layer, carries the lift) and a fine part</a:t>
            </a:r>
          </a:p>
          <a:p>
            <a:pPr algn="l">
              <a:spcBef>
                <a:spcPts val="0"/>
              </a:spcBef>
              <a:spcAft>
                <a:spcPts val="900"/>
              </a:spcAft>
            </a:pPr>
            <a:r>
              <a:rPr sz="1400" b="1">
                <a:solidFill>
                  <a:srgbClr val="C05210"/>
                </a:solidFill>
                <a:latin typeface="Calibri"/>
              </a:rPr>
              <a:t>•  </a:t>
            </a:r>
            <a:r>
              <a:rPr sz="1400" b="0">
                <a:solidFill>
                  <a:srgbClr val="242933"/>
                </a:solidFill>
                <a:latin typeface="Calibri"/>
              </a:rPr>
              <a:t>Top: large-scale vorticity at impact+16 for the strongest test gust (G = -3, D = 1.5, Y = -0.1), simulation vs the </a:t>
            </a:r>
            <a:r>
              <a:rPr sz="1400" b="1">
                <a:solidFill>
                  <a:srgbClr val="1F3864"/>
                </a:solidFill>
                <a:latin typeface="Calibri"/>
              </a:rPr>
              <a:t>predictive</a:t>
            </a:r>
            <a:r>
              <a:rPr sz="1400" b="0">
                <a:solidFill>
                  <a:srgbClr val="242933"/>
                </a:solidFill>
                <a:latin typeface="Calibri"/>
              </a:rPr>
              <a:t> and </a:t>
            </a:r>
            <a:r>
              <a:rPr sz="1400" b="1">
                <a:solidFill>
                  <a:srgbClr val="1F3864"/>
                </a:solidFill>
                <a:latin typeface="Calibri"/>
              </a:rPr>
              <a:t>reconstructive</a:t>
            </a:r>
            <a:r>
              <a:rPr sz="1400" b="0">
                <a:solidFill>
                  <a:srgbClr val="242933"/>
                </a:solidFill>
                <a:latin typeface="Calibri"/>
              </a:rPr>
              <a:t> encode-then-decode reconstructions: predictive keeps the LEV/wake, reconstructive smooths it</a:t>
            </a:r>
          </a:p>
          <a:p>
            <a:pPr algn="l">
              <a:spcBef>
                <a:spcPts val="0"/>
              </a:spcBef>
              <a:spcAft>
                <a:spcPts val="900"/>
              </a:spcAft>
            </a:pPr>
            <a:r>
              <a:rPr sz="1400" b="1">
                <a:solidFill>
                  <a:srgbClr val="C05210"/>
                </a:solidFill>
                <a:latin typeface="Calibri"/>
              </a:rPr>
              <a:t>•  </a:t>
            </a:r>
            <a:r>
              <a:rPr sz="1400" b="0">
                <a:solidFill>
                  <a:srgbClr val="242933"/>
                </a:solidFill>
                <a:latin typeface="Calibri"/>
              </a:rPr>
              <a:t>Bottom: the </a:t>
            </a:r>
            <a:r>
              <a:rPr sz="1400" b="1">
                <a:solidFill>
                  <a:srgbClr val="1F3864"/>
                </a:solidFill>
                <a:latin typeface="Calibri"/>
              </a:rPr>
              <a:t>large-scale wake enstrophy</a:t>
            </a:r>
            <a:r>
              <a:rPr sz="1400" b="0">
                <a:solidFill>
                  <a:srgbClr val="242933"/>
                </a:solidFill>
                <a:latin typeface="Calibri"/>
              </a:rPr>
              <a:t> through the encounter; bands = mean ± 1 s.d. across test_b encounters</a:t>
            </a:r>
          </a:p>
          <a:p>
            <a:pPr algn="l">
              <a:spcBef>
                <a:spcPts val="0"/>
              </a:spcBef>
              <a:spcAft>
                <a:spcPts val="900"/>
              </a:spcAft>
            </a:pPr>
            <a:r>
              <a:rPr sz="1400" b="1">
                <a:solidFill>
                  <a:srgbClr val="C05210"/>
                </a:solidFill>
                <a:latin typeface="Calibri"/>
              </a:rPr>
              <a:t>•  </a:t>
            </a:r>
            <a:r>
              <a:rPr sz="1400" b="0">
                <a:solidFill>
                  <a:srgbClr val="242933"/>
                </a:solidFill>
                <a:latin typeface="Calibri"/>
              </a:rPr>
              <a:t>So 'it is the wake' is visible in </a:t>
            </a:r>
            <a:r>
              <a:rPr sz="1400" b="1">
                <a:solidFill>
                  <a:srgbClr val="1F3864"/>
                </a:solidFill>
                <a:latin typeface="Calibri"/>
              </a:rPr>
              <a:t>physical space</a:t>
            </a:r>
            <a:r>
              <a:rPr sz="1400" b="0">
                <a:solidFill>
                  <a:srgbClr val="242933"/>
                </a:solidFill>
                <a:latin typeface="Calibri"/>
              </a:rPr>
              <a:t>, not only in the scalar closure</a:t>
            </a:r>
          </a:p>
        </p:txBody>
      </p:sp>
      <p:pic>
        <p:nvPicPr>
          <p:cNvPr id="7" name="Picture 6" descr="scale_decomp.png"/>
          <p:cNvPicPr>
            <a:picLocks noChangeAspect="1"/>
          </p:cNvPicPr>
          <p:nvPr/>
        </p:nvPicPr>
        <p:blipFill>
          <a:blip r:embed="rId2"/>
          <a:stretch>
            <a:fillRect/>
          </a:stretch>
        </p:blipFill>
        <p:spPr>
          <a:xfrm>
            <a:off x="7040880" y="1664208"/>
            <a:ext cx="4754880" cy="3089871"/>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Large-scale (σ/c = 0.05) wake vorticity at impact+16 (top) and large-scale wake enstrophy vs frame (bottom), by family.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Latent coordinates group by physical function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257800" cy="457200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Profile each of the 64 predictive-latent coordinates by its |Spearman| correlation with nine descriptors (gust G, forces, wake enstrophy, circulations Γ±, wake thickness, centroid)</a:t>
            </a:r>
          </a:p>
          <a:p>
            <a:pPr algn="l">
              <a:spcBef>
                <a:spcPts val="0"/>
              </a:spcBef>
              <a:spcAft>
                <a:spcPts val="900"/>
              </a:spcAft>
            </a:pPr>
            <a:r>
              <a:rPr sz="1500" b="1">
                <a:solidFill>
                  <a:srgbClr val="C05210"/>
                </a:solidFill>
                <a:latin typeface="Calibri"/>
              </a:rPr>
              <a:t>•  </a:t>
            </a:r>
            <a:r>
              <a:rPr sz="1500" b="0">
                <a:solidFill>
                  <a:srgbClr val="242933"/>
                </a:solidFill>
                <a:latin typeface="Calibri"/>
              </a:rPr>
              <a:t>Clustering the profiles recovers </a:t>
            </a:r>
            <a:r>
              <a:rPr sz="1500" b="1">
                <a:solidFill>
                  <a:srgbClr val="1F3864"/>
                </a:solidFill>
                <a:latin typeface="Calibri"/>
              </a:rPr>
              <a:t>functional groups</a:t>
            </a:r>
            <a:r>
              <a:rPr sz="1500" b="0">
                <a:solidFill>
                  <a:srgbClr val="242933"/>
                </a:solidFill>
                <a:latin typeface="Calibri"/>
              </a:rPr>
              <a:t>: </a:t>
            </a:r>
            <a:r>
              <a:rPr sz="1500" b="1">
                <a:solidFill>
                  <a:srgbClr val="1F3864"/>
                </a:solidFill>
                <a:latin typeface="Calibri"/>
              </a:rPr>
              <a:t>~51 wake-vorticity</a:t>
            </a:r>
            <a:r>
              <a:rPr sz="1500" b="0">
                <a:solidFill>
                  <a:srgbClr val="242933"/>
                </a:solidFill>
                <a:latin typeface="Calibri"/>
              </a:rPr>
              <a:t> coordinates (G1, G2) and </a:t>
            </a:r>
            <a:r>
              <a:rPr sz="1500" b="1">
                <a:solidFill>
                  <a:srgbClr val="1F3864"/>
                </a:solidFill>
                <a:latin typeface="Calibri"/>
              </a:rPr>
              <a:t>11 gust-forcing</a:t>
            </a:r>
            <a:r>
              <a:rPr sz="1500" b="0">
                <a:solidFill>
                  <a:srgbClr val="242933"/>
                </a:solidFill>
                <a:latin typeface="Calibri"/>
              </a:rPr>
              <a:t> coordinates (G3); two near-silent</a:t>
            </a:r>
          </a:p>
          <a:p>
            <a:pPr algn="l">
              <a:spcBef>
                <a:spcPts val="0"/>
              </a:spcBef>
              <a:spcAft>
                <a:spcPts val="900"/>
              </a:spcAft>
            </a:pPr>
            <a:r>
              <a:rPr sz="1500" b="1">
                <a:solidFill>
                  <a:srgbClr val="C05210"/>
                </a:solidFill>
                <a:latin typeface="Calibri"/>
              </a:rPr>
              <a:t>•  </a:t>
            </a:r>
            <a:r>
              <a:rPr sz="1500" b="0">
                <a:solidFill>
                  <a:srgbClr val="242933"/>
                </a:solidFill>
                <a:latin typeface="Calibri"/>
              </a:rPr>
              <a:t>Alone, the wake groups forecast the future wake at </a:t>
            </a:r>
            <a:r>
              <a:rPr sz="1500" b="1">
                <a:solidFill>
                  <a:srgbClr val="1F3864"/>
                </a:solidFill>
                <a:latin typeface="Calibri"/>
              </a:rPr>
              <a:t>≈ 0.7</a:t>
            </a:r>
            <a:r>
              <a:rPr sz="1500" b="0">
                <a:solidFill>
                  <a:srgbClr val="242933"/>
                </a:solidFill>
                <a:latin typeface="Calibri"/>
              </a:rPr>
              <a:t>, the forcing group at </a:t>
            </a:r>
            <a:r>
              <a:rPr sz="1500" b="1">
                <a:solidFill>
                  <a:srgbClr val="1F3864"/>
                </a:solidFill>
                <a:latin typeface="Calibri"/>
              </a:rPr>
              <a:t>0.45</a:t>
            </a:r>
            <a:r>
              <a:rPr sz="1500" b="0">
                <a:solidFill>
                  <a:srgbClr val="242933"/>
                </a:solidFill>
                <a:latin typeface="Calibri"/>
              </a:rPr>
              <a:t> (all 64 together: 0.83), the collective wake code seen earlier</a:t>
            </a:r>
          </a:p>
          <a:p>
            <a:pPr algn="l">
              <a:spcBef>
                <a:spcPts val="0"/>
              </a:spcBef>
              <a:spcAft>
                <a:spcPts val="900"/>
              </a:spcAft>
            </a:pPr>
            <a:r>
              <a:rPr sz="1500" b="1">
                <a:solidFill>
                  <a:srgbClr val="C05210"/>
                </a:solidFill>
                <a:latin typeface="Calibri"/>
              </a:rPr>
              <a:t>•  </a:t>
            </a:r>
            <a:r>
              <a:rPr sz="1500" b="0">
                <a:solidFill>
                  <a:srgbClr val="242933"/>
                </a:solidFill>
                <a:latin typeface="Calibri"/>
              </a:rPr>
              <a:t>Read </a:t>
            </a:r>
            <a:r>
              <a:rPr sz="1500" b="1">
                <a:solidFill>
                  <a:srgbClr val="1F3864"/>
                </a:solidFill>
                <a:latin typeface="Calibri"/>
              </a:rPr>
              <a:t>descriptively</a:t>
            </a:r>
            <a:r>
              <a:rPr sz="1500" b="0">
                <a:solidFill>
                  <a:srgbClr val="242933"/>
                </a:solidFill>
                <a:latin typeface="Calibri"/>
              </a:rPr>
              <a:t>, not as a causal claim</a:t>
            </a:r>
          </a:p>
        </p:txBody>
      </p:sp>
      <p:pic>
        <p:nvPicPr>
          <p:cNvPr id="7" name="Picture 6" descr="coord_groups.png"/>
          <p:cNvPicPr>
            <a:picLocks noChangeAspect="1"/>
          </p:cNvPicPr>
          <p:nvPr/>
        </p:nvPicPr>
        <p:blipFill>
          <a:blip r:embed="rId2"/>
          <a:stretch>
            <a:fillRect/>
          </a:stretch>
        </p:blipFill>
        <p:spPr>
          <a:xfrm>
            <a:off x="6035040" y="1664208"/>
            <a:ext cx="5852160" cy="4184085"/>
          </a:xfrm>
          <a:prstGeom prst="rect">
            <a:avLst/>
          </a:prstGeom>
        </p:spPr>
      </p:pic>
      <p:sp>
        <p:nvSpPr>
          <p:cNvPr id="8" name="TextBox 7"/>
          <p:cNvSpPr txBox="1"/>
          <p:nvPr/>
        </p:nvSpPr>
        <p:spPr>
          <a:xfrm>
            <a:off x="6035040" y="6108192"/>
            <a:ext cx="585216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Per-coordinate |ρ| with each descriptor; rows grouped into functional clusters (G1-G4), labelled with coord count and held-out wake-forecast skill.</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CONTROLS</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Controls: objective and supervision, not architecture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1">
                <a:solidFill>
                  <a:srgbClr val="1F3864"/>
                </a:solidFill>
                <a:latin typeface="Calibri"/>
              </a:rPr>
              <a:t>2 × 2:</a:t>
            </a:r>
            <a:r>
              <a:rPr sz="1700" b="0">
                <a:solidFill>
                  <a:srgbClr val="242933"/>
                </a:solidFill>
                <a:latin typeface="Calibri"/>
              </a:rPr>
              <a:t> objective {predictive, reconstructive} × architecture {CNN, CNN+ViT}, auxiliary heads matched</a:t>
            </a:r>
          </a:p>
          <a:p>
            <a:pPr algn="l">
              <a:spcBef>
                <a:spcPts val="0"/>
              </a:spcBef>
              <a:spcAft>
                <a:spcPts val="900"/>
              </a:spcAft>
            </a:pPr>
            <a:r>
              <a:rPr sz="1700" b="1">
                <a:solidFill>
                  <a:srgbClr val="C05210"/>
                </a:solidFill>
                <a:latin typeface="Calibri"/>
              </a:rPr>
              <a:t>•  </a:t>
            </a:r>
            <a:r>
              <a:rPr sz="1700" b="0">
                <a:solidFill>
                  <a:srgbClr val="242933"/>
                </a:solidFill>
                <a:latin typeface="Calibri"/>
              </a:rPr>
              <a:t>Predictive beats reconstructive at </a:t>
            </a:r>
            <a:r>
              <a:rPr sz="1700" b="1">
                <a:solidFill>
                  <a:srgbClr val="1F3864"/>
                </a:solidFill>
                <a:latin typeface="Calibri"/>
              </a:rPr>
              <a:t>both</a:t>
            </a:r>
            <a:r>
              <a:rPr sz="1700" b="0">
                <a:solidFill>
                  <a:srgbClr val="242933"/>
                </a:solidFill>
                <a:latin typeface="Calibri"/>
              </a:rPr>
              <a:t> architectures (wake R² 0.46 / 0.45 vs 0.16 / 0.29) → </a:t>
            </a:r>
            <a:r>
              <a:rPr sz="1700" b="1">
                <a:solidFill>
                  <a:srgbClr val="1F3864"/>
                </a:solidFill>
                <a:latin typeface="Calibri"/>
              </a:rPr>
              <a:t>not the ViT</a:t>
            </a:r>
          </a:p>
          <a:p>
            <a:pPr algn="l">
              <a:spcBef>
                <a:spcPts val="0"/>
              </a:spcBef>
              <a:spcAft>
                <a:spcPts val="900"/>
              </a:spcAft>
            </a:pPr>
            <a:r>
              <a:rPr sz="1700" b="1">
                <a:solidFill>
                  <a:srgbClr val="C05210"/>
                </a:solidFill>
                <a:latin typeface="Calibri"/>
              </a:rPr>
              <a:t>•  </a:t>
            </a:r>
            <a:r>
              <a:rPr sz="1700" b="0">
                <a:solidFill>
                  <a:srgbClr val="242933"/>
                </a:solidFill>
                <a:latin typeface="Calibri"/>
              </a:rPr>
              <a:t>Remove the wake head from the predictive model → wake closure </a:t>
            </a:r>
            <a:r>
              <a:rPr sz="1700" b="1">
                <a:solidFill>
                  <a:srgbClr val="1F3864"/>
                </a:solidFill>
                <a:latin typeface="Calibri"/>
              </a:rPr>
              <a:t>collapses below floor (R² = −1.03)</a:t>
            </a:r>
          </a:p>
          <a:p>
            <a:pPr algn="l">
              <a:spcBef>
                <a:spcPts val="0"/>
              </a:spcBef>
              <a:spcAft>
                <a:spcPts val="900"/>
              </a:spcAft>
            </a:pPr>
            <a:r>
              <a:rPr sz="1700" b="1">
                <a:solidFill>
                  <a:srgbClr val="C05210"/>
                </a:solidFill>
                <a:latin typeface="Calibri"/>
              </a:rPr>
              <a:t>•  </a:t>
            </a:r>
            <a:r>
              <a:rPr sz="1700" b="0">
                <a:solidFill>
                  <a:srgbClr val="242933"/>
                </a:solidFill>
                <a:latin typeface="Calibri"/>
              </a:rPr>
              <a:t>→ the gain needs the </a:t>
            </a:r>
            <a:r>
              <a:rPr sz="1700" b="1">
                <a:solidFill>
                  <a:srgbClr val="1F3864"/>
                </a:solidFill>
                <a:latin typeface="Calibri"/>
              </a:rPr>
              <a:t>predictive objective and wake supervision together</a:t>
            </a:r>
          </a:p>
        </p:txBody>
      </p:sp>
      <p:pic>
        <p:nvPicPr>
          <p:cNvPr id="7" name="Picture 6" descr="controls_fairness.png"/>
          <p:cNvPicPr>
            <a:picLocks noChangeAspect="1"/>
          </p:cNvPicPr>
          <p:nvPr/>
        </p:nvPicPr>
        <p:blipFill>
          <a:blip r:embed="rId2"/>
          <a:stretch>
            <a:fillRect/>
          </a:stretch>
        </p:blipFill>
        <p:spPr>
          <a:xfrm>
            <a:off x="7040880" y="1664208"/>
            <a:ext cx="4754880" cy="3097215"/>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Objective × architecture controls, three seeds per cell.</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Diagnostic 1: latent drift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Why this question:</a:t>
            </a:r>
            <a:r>
              <a:rPr sz="1400" b="0">
                <a:solidFill>
                  <a:srgbClr val="242933"/>
                </a:solidFill>
                <a:latin typeface="Calibri"/>
              </a:rPr>
              <a:t> a planner / RL agent queries the model at states reached by its </a:t>
            </a:r>
            <a:r>
              <a:rPr sz="1400" b="1">
                <a:solidFill>
                  <a:srgbClr val="1F3864"/>
                </a:solidFill>
                <a:latin typeface="Calibri"/>
              </a:rPr>
              <a:t>own rollout</a:t>
            </a:r>
            <a:r>
              <a:rPr sz="1400" b="0">
                <a:solidFill>
                  <a:srgbClr val="242933"/>
                </a:solidFill>
                <a:latin typeface="Calibri"/>
              </a:rPr>
              <a:t>, one-step error is not enough</a:t>
            </a:r>
          </a:p>
          <a:p>
            <a:pPr algn="l">
              <a:spcBef>
                <a:spcPts val="0"/>
              </a:spcBef>
              <a:spcAft>
                <a:spcPts val="900"/>
              </a:spcAft>
            </a:pPr>
            <a:r>
              <a:rPr sz="1400" b="1">
                <a:solidFill>
                  <a:srgbClr val="C05210"/>
                </a:solidFill>
                <a:latin typeface="Calibri"/>
              </a:rPr>
              <a:t>•  </a:t>
            </a:r>
            <a:r>
              <a:rPr sz="1400" b="1">
                <a:solidFill>
                  <a:srgbClr val="1F3864"/>
                </a:solidFill>
                <a:latin typeface="Calibri"/>
              </a:rPr>
              <a:t>Mahalanobis distance:</a:t>
            </a:r>
            <a:r>
              <a:rPr sz="1400" b="0">
                <a:solidFill>
                  <a:srgbClr val="242933"/>
                </a:solidFill>
                <a:latin typeface="Calibri"/>
              </a:rPr>
              <a:t> covariance-aware distance from a reference cloud, d = sqrt((z−μ)' S^-1 (z−μ)); ≈ 1 is one standard-deviation unit</a:t>
            </a:r>
          </a:p>
          <a:p>
            <a:pPr algn="l">
              <a:spcBef>
                <a:spcPts val="0"/>
              </a:spcBef>
              <a:spcAft>
                <a:spcPts val="900"/>
              </a:spcAft>
            </a:pPr>
            <a:r>
              <a:rPr sz="1400" b="1">
                <a:solidFill>
                  <a:srgbClr val="C05210"/>
                </a:solidFill>
                <a:latin typeface="Calibri"/>
              </a:rPr>
              <a:t>•  </a:t>
            </a:r>
            <a:r>
              <a:rPr sz="1400" b="0">
                <a:solidFill>
                  <a:srgbClr val="242933"/>
                </a:solidFill>
                <a:latin typeface="Calibri"/>
              </a:rPr>
              <a:t>We compare the </a:t>
            </a:r>
            <a:r>
              <a:rPr sz="1400" b="1">
                <a:solidFill>
                  <a:srgbClr val="1F3864"/>
                </a:solidFill>
                <a:latin typeface="Calibri"/>
              </a:rPr>
              <a:t>rolled-out</a:t>
            </a:r>
            <a:r>
              <a:rPr sz="1400" b="0">
                <a:solidFill>
                  <a:srgbClr val="242933"/>
                </a:solidFill>
                <a:latin typeface="Calibri"/>
              </a:rPr>
              <a:t> latent to the distribution of </a:t>
            </a:r>
            <a:r>
              <a:rPr sz="1400" b="1">
                <a:solidFill>
                  <a:srgbClr val="1F3864"/>
                </a:solidFill>
                <a:latin typeface="Calibri"/>
              </a:rPr>
              <a:t>DNS-encoded</a:t>
            </a:r>
            <a:r>
              <a:rPr sz="1400" b="0">
                <a:solidFill>
                  <a:srgbClr val="242933"/>
                </a:solidFill>
                <a:latin typeface="Calibri"/>
              </a:rPr>
              <a:t> latents (ratio = rollout / encoded)</a:t>
            </a:r>
          </a:p>
          <a:p>
            <a:pPr algn="l">
              <a:spcBef>
                <a:spcPts val="0"/>
              </a:spcBef>
              <a:spcAft>
                <a:spcPts val="900"/>
              </a:spcAft>
            </a:pPr>
            <a:r>
              <a:rPr sz="1400" b="1">
                <a:solidFill>
                  <a:srgbClr val="C05210"/>
                </a:solidFill>
                <a:latin typeface="Calibri"/>
              </a:rPr>
              <a:t>•  </a:t>
            </a:r>
            <a:r>
              <a:rPr sz="1400" b="1">
                <a:solidFill>
                  <a:srgbClr val="1F3864"/>
                </a:solidFill>
                <a:latin typeface="Calibri"/>
              </a:rPr>
              <a:t>Result:</a:t>
            </a:r>
            <a:r>
              <a:rPr sz="1400" b="0">
                <a:solidFill>
                  <a:srgbClr val="242933"/>
                </a:solidFill>
                <a:latin typeface="Calibri"/>
              </a:rPr>
              <a:t> the reconstructive rollout drifts </a:t>
            </a:r>
            <a:r>
              <a:rPr sz="1400" b="1">
                <a:solidFill>
                  <a:srgbClr val="1F3864"/>
                </a:solidFill>
                <a:latin typeface="Calibri"/>
              </a:rPr>
              <a:t>~10× off-manifold (9.9)</a:t>
            </a:r>
            <a:r>
              <a:rPr sz="1400" b="0">
                <a:solidFill>
                  <a:srgbClr val="242933"/>
                </a:solidFill>
                <a:latin typeface="Calibri"/>
              </a:rPr>
              <a:t>; JEPA 0.85 and POD 0.81 stay inside</a:t>
            </a:r>
          </a:p>
          <a:p>
            <a:pPr algn="l">
              <a:spcBef>
                <a:spcPts val="0"/>
              </a:spcBef>
              <a:spcAft>
                <a:spcPts val="900"/>
              </a:spcAft>
            </a:pPr>
            <a:r>
              <a:rPr sz="1400" b="1">
                <a:solidFill>
                  <a:srgbClr val="C05210"/>
                </a:solidFill>
                <a:latin typeface="Calibri"/>
              </a:rPr>
              <a:t>•  </a:t>
            </a:r>
            <a:r>
              <a:rPr sz="1400" b="0">
                <a:solidFill>
                  <a:srgbClr val="242933"/>
                </a:solidFill>
                <a:latin typeface="Calibri"/>
              </a:rPr>
              <a:t>The R² in the plot is </a:t>
            </a:r>
            <a:r>
              <a:rPr sz="1400" b="1">
                <a:solidFill>
                  <a:srgbClr val="1F3864"/>
                </a:solidFill>
                <a:latin typeface="Calibri"/>
              </a:rPr>
              <a:t>forward closure via a probe</a:t>
            </a:r>
            <a:r>
              <a:rPr sz="1400" b="0">
                <a:solidFill>
                  <a:srgbClr val="242933"/>
                </a:solidFill>
                <a:latin typeface="Calibri"/>
              </a:rPr>
              <a:t>: the predictor advances only the </a:t>
            </a:r>
            <a:r>
              <a:rPr sz="1400" b="1">
                <a:solidFill>
                  <a:srgbClr val="1F3864"/>
                </a:solidFill>
                <a:latin typeface="Calibri"/>
              </a:rPr>
              <a:t>latent</a:t>
            </a:r>
            <a:r>
              <a:rPr sz="1400" b="0">
                <a:solidFill>
                  <a:srgbClr val="242933"/>
                </a:solidFill>
                <a:latin typeface="Calibri"/>
              </a:rPr>
              <a:t>, and a fixed linear probe reads each observable off the rolled-out latent (no direct predictor of C_L or the wake)</a:t>
            </a:r>
          </a:p>
        </p:txBody>
      </p:sp>
      <p:pic>
        <p:nvPicPr>
          <p:cNvPr id="7" name="Picture 6" descr="horizon_sweep.png"/>
          <p:cNvPicPr>
            <a:picLocks noChangeAspect="1"/>
          </p:cNvPicPr>
          <p:nvPr/>
        </p:nvPicPr>
        <p:blipFill>
          <a:blip r:embed="rId2"/>
          <a:stretch>
            <a:fillRect/>
          </a:stretch>
        </p:blipFill>
        <p:spPr>
          <a:xfrm>
            <a:off x="7040880" y="1664208"/>
            <a:ext cx="4754880" cy="3246120"/>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Forward-closure R² vs rollout horizon (test_b): the predictor advances the latent; a linear probe reads each observable off it.</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Diagnostic 2: topology of the encounter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Why:</a:t>
            </a:r>
            <a:r>
              <a:rPr sz="1400" b="0">
                <a:solidFill>
                  <a:srgbClr val="242933"/>
                </a:solidFill>
                <a:latin typeface="Calibri"/>
              </a:rPr>
              <a:t> shedding and gust encounters are </a:t>
            </a:r>
            <a:r>
              <a:rPr sz="1400" b="1">
                <a:solidFill>
                  <a:srgbClr val="1F3864"/>
                </a:solidFill>
                <a:latin typeface="Calibri"/>
              </a:rPr>
              <a:t>cyclic</a:t>
            </a:r>
            <a:r>
              <a:rPr sz="1400" b="0">
                <a:solidFill>
                  <a:srgbClr val="242933"/>
                </a:solidFill>
                <a:latin typeface="Calibri"/>
              </a:rPr>
              <a:t>; a faithful state should trace </a:t>
            </a:r>
            <a:r>
              <a:rPr sz="1400" b="1">
                <a:solidFill>
                  <a:srgbClr val="1F3864"/>
                </a:solidFill>
                <a:latin typeface="Calibri"/>
              </a:rPr>
              <a:t>one loop</a:t>
            </a:r>
            <a:r>
              <a:rPr sz="1400" b="0">
                <a:solidFill>
                  <a:srgbClr val="242933"/>
                </a:solidFill>
                <a:latin typeface="Calibri"/>
              </a:rPr>
              <a:t> per encounter, not a tangle</a:t>
            </a:r>
          </a:p>
          <a:p>
            <a:pPr algn="l">
              <a:spcBef>
                <a:spcPts val="0"/>
              </a:spcBef>
              <a:spcAft>
                <a:spcPts val="900"/>
              </a:spcAft>
            </a:pPr>
            <a:r>
              <a:rPr sz="1400" b="1">
                <a:solidFill>
                  <a:srgbClr val="C05210"/>
                </a:solidFill>
                <a:latin typeface="Calibri"/>
              </a:rPr>
              <a:t>•  </a:t>
            </a:r>
            <a:r>
              <a:rPr sz="1400" b="1">
                <a:solidFill>
                  <a:srgbClr val="1F3864"/>
                </a:solidFill>
                <a:latin typeface="Calibri"/>
              </a:rPr>
              <a:t>Persistent homology</a:t>
            </a:r>
            <a:r>
              <a:rPr sz="1400" b="0">
                <a:solidFill>
                  <a:srgbClr val="242933"/>
                </a:solidFill>
                <a:latin typeface="Calibri"/>
              </a:rPr>
              <a:t> (coordinate-free): it grows a distance scale on the latent trajectory and counts the </a:t>
            </a:r>
            <a:r>
              <a:rPr sz="1400" b="1">
                <a:solidFill>
                  <a:srgbClr val="1F3864"/>
                </a:solidFill>
                <a:latin typeface="Calibri"/>
              </a:rPr>
              <a:t>loops (1-cycles) that persist</a:t>
            </a:r>
            <a:r>
              <a:rPr sz="1400" b="0">
                <a:solidFill>
                  <a:srgbClr val="242933"/>
                </a:solidFill>
                <a:latin typeface="Calibri"/>
              </a:rPr>
              <a:t> over a long scale range, i.e. the genuine cycles, not noise</a:t>
            </a:r>
          </a:p>
          <a:p>
            <a:pPr algn="l">
              <a:spcBef>
                <a:spcPts val="0"/>
              </a:spcBef>
              <a:spcAft>
                <a:spcPts val="900"/>
              </a:spcAft>
            </a:pPr>
            <a:r>
              <a:rPr sz="1400" b="1">
                <a:solidFill>
                  <a:srgbClr val="C05210"/>
                </a:solidFill>
                <a:latin typeface="Calibri"/>
              </a:rPr>
              <a:t>•  </a:t>
            </a:r>
            <a:r>
              <a:rPr sz="1400" b="1">
                <a:solidFill>
                  <a:srgbClr val="1F3864"/>
                </a:solidFill>
                <a:latin typeface="Calibri"/>
              </a:rPr>
              <a:t>Result (encoded latent, 42 test_b encounters):</a:t>
            </a:r>
            <a:r>
              <a:rPr sz="1400" b="0">
                <a:solidFill>
                  <a:srgbClr val="242933"/>
                </a:solidFill>
                <a:latin typeface="Calibri"/>
              </a:rPr>
              <a:t> JEPA has </a:t>
            </a:r>
            <a:r>
              <a:rPr sz="1400" b="1">
                <a:solidFill>
                  <a:srgbClr val="1F3864"/>
                </a:solidFill>
                <a:latin typeface="Calibri"/>
              </a:rPr>
              <a:t>median 1</a:t>
            </a:r>
            <a:r>
              <a:rPr sz="1400" b="0">
                <a:solidFill>
                  <a:srgbClr val="242933"/>
                </a:solidFill>
                <a:latin typeface="Calibri"/>
              </a:rPr>
              <a:t> persistent loop vs reconstructive </a:t>
            </a:r>
            <a:r>
              <a:rPr sz="1400" b="1">
                <a:solidFill>
                  <a:srgbClr val="1F3864"/>
                </a:solidFill>
                <a:latin typeface="Calibri"/>
              </a:rPr>
              <a:t>median 3.5</a:t>
            </a:r>
            <a:r>
              <a:rPr sz="1400" b="0">
                <a:solidFill>
                  <a:srgbClr val="242933"/>
                </a:solidFill>
                <a:latin typeface="Calibri"/>
              </a:rPr>
              <a:t> (Mann-Whitney p ≈ 4×10⁻⁸); at case level </a:t>
            </a:r>
            <a:r>
              <a:rPr sz="1400" b="1">
                <a:solidFill>
                  <a:srgbClr val="1F3864"/>
                </a:solidFill>
                <a:latin typeface="Calibri"/>
              </a:rPr>
              <a:t>all 10 cases</a:t>
            </a:r>
            <a:r>
              <a:rPr sz="1400" b="0">
                <a:solidFill>
                  <a:srgbClr val="242933"/>
                </a:solidFill>
                <a:latin typeface="Calibri"/>
              </a:rPr>
              <a:t> have fewer loops for JEPA</a:t>
            </a:r>
          </a:p>
          <a:p>
            <a:pPr algn="l">
              <a:spcBef>
                <a:spcPts val="0"/>
              </a:spcBef>
              <a:spcAft>
                <a:spcPts val="900"/>
              </a:spcAft>
            </a:pPr>
            <a:r>
              <a:rPr sz="1400" b="1">
                <a:solidFill>
                  <a:srgbClr val="C05210"/>
                </a:solidFill>
                <a:latin typeface="Calibri"/>
              </a:rPr>
              <a:t>•  </a:t>
            </a:r>
            <a:r>
              <a:rPr sz="1400" b="0">
                <a:solidFill>
                  <a:srgbClr val="242933"/>
                </a:solidFill>
                <a:latin typeface="Calibri"/>
              </a:rPr>
              <a:t>So the predictive state is a </a:t>
            </a:r>
            <a:r>
              <a:rPr sz="1400" b="1">
                <a:solidFill>
                  <a:srgbClr val="1F3864"/>
                </a:solidFill>
                <a:latin typeface="Calibri"/>
              </a:rPr>
              <a:t>single clean cycle</a:t>
            </a:r>
            <a:r>
              <a:rPr sz="1400" b="0">
                <a:solidFill>
                  <a:srgbClr val="242933"/>
                </a:solidFill>
                <a:latin typeface="Calibri"/>
              </a:rPr>
              <a:t>, the reconstructive one </a:t>
            </a:r>
            <a:r>
              <a:rPr sz="1400" b="1">
                <a:solidFill>
                  <a:srgbClr val="1F3864"/>
                </a:solidFill>
                <a:latin typeface="Calibri"/>
              </a:rPr>
              <a:t>fragments</a:t>
            </a:r>
            <a:r>
              <a:rPr sz="1400" b="0">
                <a:solidFill>
                  <a:srgbClr val="242933"/>
                </a:solidFill>
                <a:latin typeface="Calibri"/>
              </a:rPr>
              <a:t>. This is the *topological count*, </a:t>
            </a:r>
            <a:r>
              <a:rPr sz="1400" b="1">
                <a:solidFill>
                  <a:srgbClr val="1F3864"/>
                </a:solidFill>
                <a:latin typeface="Calibri"/>
              </a:rPr>
              <a:t>not</a:t>
            </a:r>
            <a:r>
              <a:rPr sz="1400" b="0">
                <a:solidFill>
                  <a:srgbClr val="242933"/>
                </a:solidFill>
                <a:latin typeface="Calibri"/>
              </a:rPr>
              <a:t> a claim that the PCA curve visually closes (panels are encode→decode, no predictor; the orbit departs the baseline cycle and only partially returns in 120 frames)</a:t>
            </a:r>
          </a:p>
        </p:txBody>
      </p:sp>
      <p:pic>
        <p:nvPicPr>
          <p:cNvPr id="7" name="Picture 6" descr="cycle.png"/>
          <p:cNvPicPr>
            <a:picLocks noChangeAspect="1"/>
          </p:cNvPicPr>
          <p:nvPr/>
        </p:nvPicPr>
        <p:blipFill>
          <a:blip r:embed="rId2"/>
          <a:stretch>
            <a:fillRect/>
          </a:stretch>
        </p:blipFill>
        <p:spPr>
          <a:xfrm>
            <a:off x="7117571" y="1664208"/>
            <a:ext cx="4601496" cy="4389120"/>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(a, b) PCA of the encoded-latent trajectory; (c) staged decodes (reconstructions) with OT distances. Single-cycle = median 1 persistent H1 generator (vs 3.5); the orbit need not visually close in the window.</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Diagnostic 3: transport geometry</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300" b="1">
                <a:solidFill>
                  <a:srgbClr val="C05210"/>
                </a:solidFill>
                <a:latin typeface="Calibri"/>
              </a:rPr>
              <a:t>•  </a:t>
            </a:r>
            <a:r>
              <a:rPr sz="1300" b="1">
                <a:solidFill>
                  <a:srgbClr val="1F3864"/>
                </a:solidFill>
                <a:latin typeface="Calibri"/>
              </a:rPr>
              <a:t>Why:</a:t>
            </a:r>
            <a:r>
              <a:rPr sz="1300" b="0">
                <a:solidFill>
                  <a:srgbClr val="242933"/>
                </a:solidFill>
                <a:latin typeface="Calibri"/>
              </a:rPr>
              <a:t> Euclidean / pixel distance ignores </a:t>
            </a:r>
            <a:r>
              <a:rPr sz="1300" b="1">
                <a:solidFill>
                  <a:srgbClr val="1F3864"/>
                </a:solidFill>
                <a:latin typeface="Calibri"/>
              </a:rPr>
              <a:t>where structures move</a:t>
            </a:r>
            <a:r>
              <a:rPr sz="1300" b="0">
                <a:solidFill>
                  <a:srgbClr val="242933"/>
                </a:solidFill>
                <a:latin typeface="Calibri"/>
              </a:rPr>
              <a:t>; control cares about advection of the LEV and shear layer</a:t>
            </a:r>
          </a:p>
          <a:p>
            <a:pPr algn="l">
              <a:spcBef>
                <a:spcPts val="0"/>
              </a:spcBef>
              <a:spcAft>
                <a:spcPts val="900"/>
              </a:spcAft>
            </a:pPr>
            <a:r>
              <a:rPr sz="1300" b="1">
                <a:solidFill>
                  <a:srgbClr val="C05210"/>
                </a:solidFill>
                <a:latin typeface="Calibri"/>
              </a:rPr>
              <a:t>•  </a:t>
            </a:r>
            <a:r>
              <a:rPr sz="1300" b="1">
                <a:solidFill>
                  <a:srgbClr val="1F3864"/>
                </a:solidFill>
                <a:latin typeface="Calibri"/>
              </a:rPr>
              <a:t>OT field distance</a:t>
            </a:r>
            <a:r>
              <a:rPr sz="1300" b="0">
                <a:solidFill>
                  <a:srgbClr val="242933"/>
                </a:solidFill>
                <a:latin typeface="Calibri"/>
              </a:rPr>
              <a:t> (after Tran, Yeh &amp; Taira, JFM 2026): split vorticity into ± parts, transport each with </a:t>
            </a:r>
            <a:r>
              <a:rPr sz="1300" b="1">
                <a:solidFill>
                  <a:srgbClr val="1F3864"/>
                </a:solidFill>
                <a:latin typeface="Calibri"/>
              </a:rPr>
              <a:t>unbalanced Sinkhorn</a:t>
            </a:r>
            <a:r>
              <a:rPr sz="1300" b="0">
                <a:solidFill>
                  <a:srgbClr val="242933"/>
                </a:solidFill>
                <a:latin typeface="Calibri"/>
              </a:rPr>
              <a:t> OT and sum, the least work to rearrange one field into another</a:t>
            </a:r>
          </a:p>
          <a:p>
            <a:pPr algn="l">
              <a:spcBef>
                <a:spcPts val="0"/>
              </a:spcBef>
              <a:spcAft>
                <a:spcPts val="900"/>
              </a:spcAft>
            </a:pPr>
            <a:r>
              <a:rPr sz="1300" b="1">
                <a:solidFill>
                  <a:srgbClr val="C05210"/>
                </a:solidFill>
                <a:latin typeface="Calibri"/>
              </a:rPr>
              <a:t>•  </a:t>
            </a:r>
            <a:r>
              <a:rPr sz="1300" b="0">
                <a:solidFill>
                  <a:srgbClr val="242933"/>
                </a:solidFill>
                <a:latin typeface="Calibri"/>
              </a:rPr>
              <a:t>We did </a:t>
            </a:r>
            <a:r>
              <a:rPr sz="1300" b="1">
                <a:solidFill>
                  <a:srgbClr val="1F3864"/>
                </a:solidFill>
                <a:latin typeface="Calibri"/>
              </a:rPr>
              <a:t>not</a:t>
            </a:r>
            <a:r>
              <a:rPr sz="1300" b="0">
                <a:solidFill>
                  <a:srgbClr val="242933"/>
                </a:solidFill>
                <a:latin typeface="Calibri"/>
              </a:rPr>
              <a:t> train the latent to match OT (that paper does); this is a </a:t>
            </a:r>
            <a:r>
              <a:rPr sz="1300" b="1">
                <a:solidFill>
                  <a:srgbClr val="1F3864"/>
                </a:solidFill>
                <a:latin typeface="Calibri"/>
              </a:rPr>
              <a:t>post-hoc test</a:t>
            </a:r>
            <a:r>
              <a:rPr sz="1300" b="0">
                <a:solidFill>
                  <a:srgbClr val="242933"/>
                </a:solidFill>
                <a:latin typeface="Calibri"/>
              </a:rPr>
              <a:t>: per encounter, Spearman-correlate the </a:t>
            </a:r>
            <a:r>
              <a:rPr sz="1300" b="1">
                <a:solidFill>
                  <a:srgbClr val="1F3864"/>
                </a:solidFill>
                <a:latin typeface="Calibri"/>
              </a:rPr>
              <a:t>latent</a:t>
            </a:r>
            <a:r>
              <a:rPr sz="1300" b="0">
                <a:solidFill>
                  <a:srgbClr val="242933"/>
                </a:solidFill>
                <a:latin typeface="Calibri"/>
              </a:rPr>
              <a:t> distance matrix with the </a:t>
            </a:r>
            <a:r>
              <a:rPr sz="1300" b="1">
                <a:solidFill>
                  <a:srgbClr val="1F3864"/>
                </a:solidFill>
                <a:latin typeface="Calibri"/>
              </a:rPr>
              <a:t>OT</a:t>
            </a:r>
            <a:r>
              <a:rPr sz="1300" b="0">
                <a:solidFill>
                  <a:srgbClr val="242933"/>
                </a:solidFill>
                <a:latin typeface="Calibri"/>
              </a:rPr>
              <a:t> matrix (n = 42)</a:t>
            </a:r>
          </a:p>
          <a:p>
            <a:pPr algn="l">
              <a:spcBef>
                <a:spcPts val="0"/>
              </a:spcBef>
              <a:spcAft>
                <a:spcPts val="900"/>
              </a:spcAft>
            </a:pPr>
            <a:r>
              <a:rPr sz="1300" b="1">
                <a:solidFill>
                  <a:srgbClr val="C05210"/>
                </a:solidFill>
                <a:latin typeface="Calibri"/>
              </a:rPr>
              <a:t>•  </a:t>
            </a:r>
            <a:r>
              <a:rPr sz="1300" b="1">
                <a:solidFill>
                  <a:srgbClr val="1F3864"/>
                </a:solidFill>
                <a:latin typeface="Calibri"/>
              </a:rPr>
              <a:t>Within-encounter:</a:t>
            </a:r>
            <a:r>
              <a:rPr sz="1300" b="0">
                <a:solidFill>
                  <a:srgbClr val="242933"/>
                </a:solidFill>
                <a:latin typeface="Calibri"/>
              </a:rPr>
              <a:t> JEPA </a:t>
            </a:r>
            <a:r>
              <a:rPr sz="1300" b="1">
                <a:solidFill>
                  <a:srgbClr val="1F3864"/>
                </a:solidFill>
                <a:latin typeface="Calibri"/>
              </a:rPr>
              <a:t>0.63 ± 0.15</a:t>
            </a:r>
            <a:r>
              <a:rPr sz="1300" b="0">
                <a:solidFill>
                  <a:srgbClr val="242933"/>
                </a:solidFill>
                <a:latin typeface="Calibri"/>
              </a:rPr>
              <a:t> vs reconstructive </a:t>
            </a:r>
            <a:r>
              <a:rPr sz="1300" b="1">
                <a:solidFill>
                  <a:srgbClr val="1F3864"/>
                </a:solidFill>
                <a:latin typeface="Calibri"/>
              </a:rPr>
              <a:t>0.45</a:t>
            </a:r>
            <a:r>
              <a:rPr sz="1300" b="0">
                <a:solidFill>
                  <a:srgbClr val="242933"/>
                </a:solidFill>
                <a:latin typeface="Calibri"/>
              </a:rPr>
              <a:t>, order-preservation along the trajectory, </a:t>
            </a:r>
            <a:r>
              <a:rPr sz="1300" b="1">
                <a:solidFill>
                  <a:srgbClr val="1F3864"/>
                </a:solidFill>
                <a:latin typeface="Calibri"/>
              </a:rPr>
              <a:t>not</a:t>
            </a:r>
            <a:r>
              <a:rPr sz="1300" b="0">
                <a:solidFill>
                  <a:srgbClr val="242933"/>
                </a:solidFill>
                <a:latin typeface="Calibri"/>
              </a:rPr>
              <a:t> an isometry</a:t>
            </a:r>
          </a:p>
          <a:p>
            <a:pPr algn="l">
              <a:spcBef>
                <a:spcPts val="0"/>
              </a:spcBef>
              <a:spcAft>
                <a:spcPts val="900"/>
              </a:spcAft>
            </a:pPr>
            <a:r>
              <a:rPr sz="1300" b="1">
                <a:solidFill>
                  <a:srgbClr val="C05210"/>
                </a:solidFill>
                <a:latin typeface="Calibri"/>
              </a:rPr>
              <a:t>•  </a:t>
            </a:r>
            <a:r>
              <a:rPr sz="1300" b="1">
                <a:solidFill>
                  <a:srgbClr val="1F3864"/>
                </a:solidFill>
                <a:latin typeface="Calibri"/>
              </a:rPr>
              <a:t>Honest caveat:</a:t>
            </a:r>
            <a:r>
              <a:rPr sz="1300" b="0">
                <a:solidFill>
                  <a:srgbClr val="242933"/>
                </a:solidFill>
                <a:latin typeface="Calibri"/>
              </a:rPr>
              <a:t> *pooled across* encounters the ranking </a:t>
            </a:r>
            <a:r>
              <a:rPr sz="1300" b="1">
                <a:solidFill>
                  <a:srgbClr val="1F3864"/>
                </a:solidFill>
                <a:latin typeface="Calibri"/>
              </a:rPr>
              <a:t>reverses</a:t>
            </a:r>
            <a:r>
              <a:rPr sz="1300" b="0">
                <a:solidFill>
                  <a:srgbClr val="242933"/>
                </a:solidFill>
                <a:latin typeface="Calibri"/>
              </a:rPr>
              <a:t> (0.38 vs 0.63), so the alignment is </a:t>
            </a:r>
            <a:r>
              <a:rPr sz="1300" b="1">
                <a:solidFill>
                  <a:srgbClr val="1F3864"/>
                </a:solidFill>
                <a:latin typeface="Calibri"/>
              </a:rPr>
              <a:t>trajectory-local</a:t>
            </a:r>
            <a:r>
              <a:rPr sz="1300" b="0">
                <a:solidFill>
                  <a:srgbClr val="242933"/>
                </a:solidFill>
                <a:latin typeface="Calibri"/>
              </a:rPr>
              <a:t>, not a global latent metric</a:t>
            </a:r>
          </a:p>
        </p:txBody>
      </p:sp>
      <p:pic>
        <p:nvPicPr>
          <p:cNvPr id="7" name="Picture 6" descr="ot.png"/>
          <p:cNvPicPr>
            <a:picLocks noChangeAspect="1"/>
          </p:cNvPicPr>
          <p:nvPr/>
        </p:nvPicPr>
        <p:blipFill>
          <a:blip r:embed="rId2"/>
          <a:stretch>
            <a:fillRect/>
          </a:stretch>
        </p:blipFill>
        <p:spPr>
          <a:xfrm>
            <a:off x="7040880" y="1664208"/>
            <a:ext cx="4754880" cy="2230985"/>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Per-encounter latent-vs-OT distance alignment (Shepard). OT field distance after Tran, Yeh &amp; Taira (JFM 2026). Within-encounter Spearman 0.63 vs 0.45; pooled it does not hold (0.38 vs 0.63).</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PHYSICAL SPACE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Decoded reconstructions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417319"/>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Decoded fields: predictive vs reconstructive vs POD vs DNS</a:t>
            </a:r>
          </a:p>
          <a:p>
            <a:pPr algn="l">
              <a:spcBef>
                <a:spcPts val="0"/>
              </a:spcBef>
              <a:spcAft>
                <a:spcPts val="900"/>
              </a:spcAft>
            </a:pPr>
            <a:r>
              <a:rPr sz="1700" b="1">
                <a:solidFill>
                  <a:srgbClr val="C05210"/>
                </a:solidFill>
                <a:latin typeface="Calibri"/>
              </a:rPr>
              <a:t>•  </a:t>
            </a:r>
            <a:r>
              <a:rPr sz="1700" b="0">
                <a:solidFill>
                  <a:srgbClr val="242933"/>
                </a:solidFill>
                <a:latin typeface="Calibri"/>
              </a:rPr>
              <a:t>The predictive decode is </a:t>
            </a:r>
            <a:r>
              <a:rPr sz="1700" b="1">
                <a:solidFill>
                  <a:srgbClr val="1F3864"/>
                </a:solidFill>
                <a:latin typeface="Calibri"/>
              </a:rPr>
              <a:t>blurrier pixel-wise</a:t>
            </a:r>
            <a:r>
              <a:rPr sz="1700" b="0">
                <a:solidFill>
                  <a:srgbClr val="242933"/>
                </a:solidFill>
                <a:latin typeface="Calibri"/>
              </a:rPr>
              <a:t> but preserves the </a:t>
            </a:r>
            <a:r>
              <a:rPr sz="1700" b="1">
                <a:solidFill>
                  <a:srgbClr val="1F3864"/>
                </a:solidFill>
                <a:latin typeface="Calibri"/>
              </a:rPr>
              <a:t>transported large-scale wake</a:t>
            </a:r>
            <a:r>
              <a:rPr sz="1700" b="0">
                <a:solidFill>
                  <a:srgbClr val="242933"/>
                </a:solidFill>
                <a:latin typeface="Calibri"/>
              </a:rPr>
              <a:t>; the reconstructive decode is sharp yet drifts under rollout</a:t>
            </a:r>
          </a:p>
        </p:txBody>
      </p:sp>
      <p:pic>
        <p:nvPicPr>
          <p:cNvPr id="7" name="Picture 6" descr="reconstructions.png"/>
          <p:cNvPicPr>
            <a:picLocks noChangeAspect="1"/>
          </p:cNvPicPr>
          <p:nvPr/>
        </p:nvPicPr>
        <p:blipFill>
          <a:blip r:embed="rId2"/>
          <a:stretch>
            <a:fillRect/>
          </a:stretch>
        </p:blipFill>
        <p:spPr>
          <a:xfrm>
            <a:off x="3077833" y="3108960"/>
            <a:ext cx="6005853" cy="2926080"/>
          </a:xfrm>
          <a:prstGeom prst="rect">
            <a:avLst/>
          </a:prstGeom>
        </p:spPr>
      </p:pic>
      <p:sp>
        <p:nvSpPr>
          <p:cNvPr id="8" name="TextBox 7"/>
          <p:cNvSpPr txBox="1"/>
          <p:nvPr/>
        </p:nvSpPr>
        <p:spPr>
          <a:xfrm>
            <a:off x="731520" y="6053327"/>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Held-out reconstructions; the predictive objective trades pixel sharpness for transported structure.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Sparse sensor placement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50876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Sparse wall-pressure sensors selected by </a:t>
            </a:r>
            <a:r>
              <a:rPr sz="1700" b="1">
                <a:solidFill>
                  <a:srgbClr val="1F3864"/>
                </a:solidFill>
                <a:latin typeface="Calibri"/>
              </a:rPr>
              <a:t>TCSI / qDEIM</a:t>
            </a:r>
            <a:r>
              <a:rPr sz="1700" b="0">
                <a:solidFill>
                  <a:srgbClr val="242933"/>
                </a:solidFill>
                <a:latin typeface="Calibri"/>
              </a:rPr>
              <a:t> vs uniform</a:t>
            </a:r>
          </a:p>
          <a:p>
            <a:pPr algn="l">
              <a:spcBef>
                <a:spcPts val="0"/>
              </a:spcBef>
              <a:spcAft>
                <a:spcPts val="900"/>
              </a:spcAft>
            </a:pPr>
            <a:r>
              <a:rPr sz="1700" b="1">
                <a:solidFill>
                  <a:srgbClr val="C05210"/>
                </a:solidFill>
                <a:latin typeface="Calibri"/>
              </a:rPr>
              <a:t>•  </a:t>
            </a:r>
            <a:r>
              <a:rPr sz="1700" b="0">
                <a:solidFill>
                  <a:srgbClr val="242933"/>
                </a:solidFill>
                <a:latin typeface="Calibri"/>
              </a:rPr>
              <a:t>Pressure → latent map: KernelRidge(RBF) on the K-sensor × pre-impact-window vector</a:t>
            </a:r>
          </a:p>
          <a:p>
            <a:pPr algn="l">
              <a:spcBef>
                <a:spcPts val="0"/>
              </a:spcBef>
              <a:spcAft>
                <a:spcPts val="900"/>
              </a:spcAft>
            </a:pPr>
            <a:r>
              <a:rPr sz="1700" b="1">
                <a:solidFill>
                  <a:srgbClr val="C05210"/>
                </a:solidFill>
                <a:latin typeface="Calibri"/>
              </a:rPr>
              <a:t>•  </a:t>
            </a:r>
            <a:r>
              <a:rPr sz="1700" b="0">
                <a:solidFill>
                  <a:srgbClr val="242933"/>
                </a:solidFill>
                <a:latin typeface="Calibri"/>
              </a:rPr>
              <a:t>K = 2 / 4 / 8 / 16; the LSTM/KRR comparison is 5-fold-CV selected to guard small-sample overfitting</a:t>
            </a:r>
          </a:p>
        </p:txBody>
      </p:sp>
      <p:pic>
        <p:nvPicPr>
          <p:cNvPr id="7" name="Picture 6" descr="sensor_placement.png"/>
          <p:cNvPicPr>
            <a:picLocks noChangeAspect="1"/>
          </p:cNvPicPr>
          <p:nvPr/>
        </p:nvPicPr>
        <p:blipFill>
          <a:blip r:embed="rId2"/>
          <a:stretch>
            <a:fillRect/>
          </a:stretch>
        </p:blipFill>
        <p:spPr>
          <a:xfrm>
            <a:off x="2587821" y="3200400"/>
            <a:ext cx="6985876" cy="2834640"/>
          </a:xfrm>
          <a:prstGeom prst="rect">
            <a:avLst/>
          </a:prstGeom>
        </p:spPr>
      </p:pic>
      <p:sp>
        <p:nvSpPr>
          <p:cNvPr id="8" name="TextBox 7"/>
          <p:cNvSpPr txBox="1"/>
          <p:nvPr/>
        </p:nvSpPr>
        <p:spPr>
          <a:xfrm>
            <a:off x="731520" y="6053327"/>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Optimal sparse sensor placement on the airfoil surface.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Flow recovered from sparse wall pressure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1">
                <a:solidFill>
                  <a:srgbClr val="1F3864"/>
                </a:solidFill>
                <a:latin typeface="Calibri"/>
              </a:rPr>
              <a:t>Model:</a:t>
            </a:r>
            <a:r>
              <a:rPr sz="1600" b="0">
                <a:solidFill>
                  <a:srgbClr val="242933"/>
                </a:solidFill>
                <a:latin typeface="Calibri"/>
              </a:rPr>
              <a:t> a </a:t>
            </a:r>
            <a:r>
              <a:rPr sz="1600" b="1">
                <a:solidFill>
                  <a:srgbClr val="1F3864"/>
                </a:solidFill>
                <a:latin typeface="Calibri"/>
              </a:rPr>
              <a:t>KernelRidge (RBF kernel)</a:t>
            </a:r>
            <a:r>
              <a:rPr sz="1600" b="0">
                <a:solidFill>
                  <a:srgbClr val="242933"/>
                </a:solidFill>
                <a:latin typeface="Calibri"/>
              </a:rPr>
              <a:t> regressor maps the K wall-pressure taps over a pre-impact window to the </a:t>
            </a:r>
            <a:r>
              <a:rPr sz="1600" b="1">
                <a:solidFill>
                  <a:srgbClr val="1F3864"/>
                </a:solidFill>
                <a:latin typeface="Calibri"/>
              </a:rPr>
              <a:t>impact-frame latent</a:t>
            </a:r>
            <a:r>
              <a:rPr sz="1600" b="0">
                <a:solidFill>
                  <a:srgbClr val="242933"/>
                </a:solidFill>
                <a:latin typeface="Calibri"/>
              </a:rPr>
              <a:t>; the frozen decoder then renders the field</a:t>
            </a:r>
          </a:p>
          <a:p>
            <a:pPr algn="l">
              <a:spcBef>
                <a:spcPts val="0"/>
              </a:spcBef>
              <a:spcAft>
                <a:spcPts val="900"/>
              </a:spcAft>
            </a:pPr>
            <a:r>
              <a:rPr sz="1600" b="1">
                <a:solidFill>
                  <a:srgbClr val="C05210"/>
                </a:solidFill>
                <a:latin typeface="Calibri"/>
              </a:rPr>
              <a:t>•  </a:t>
            </a:r>
            <a:r>
              <a:rPr sz="1600" b="1">
                <a:solidFill>
                  <a:srgbClr val="1F3864"/>
                </a:solidFill>
                <a:latin typeface="Calibri"/>
              </a:rPr>
              <a:t>K = 8 taps</a:t>
            </a:r>
            <a:r>
              <a:rPr sz="1600" b="0">
                <a:solidFill>
                  <a:srgbClr val="242933"/>
                </a:solidFill>
                <a:latin typeface="Calibri"/>
              </a:rPr>
              <a:t> recover the leading-edge vortex and shear layer; </a:t>
            </a:r>
            <a:r>
              <a:rPr sz="1600" b="1">
                <a:solidFill>
                  <a:srgbClr val="1F3864"/>
                </a:solidFill>
                <a:latin typeface="Calibri"/>
              </a:rPr>
              <a:t>K = 2</a:t>
            </a:r>
            <a:r>
              <a:rPr sz="1600" b="0">
                <a:solidFill>
                  <a:srgbClr val="242933"/>
                </a:solidFill>
                <a:latin typeface="Calibri"/>
              </a:rPr>
              <a:t> coarsens but keeps the gross wake structure</a:t>
            </a:r>
          </a:p>
          <a:p>
            <a:pPr algn="l">
              <a:spcBef>
                <a:spcPts val="0"/>
              </a:spcBef>
              <a:spcAft>
                <a:spcPts val="900"/>
              </a:spcAft>
            </a:pPr>
            <a:r>
              <a:rPr sz="1600" b="1">
                <a:solidFill>
                  <a:srgbClr val="C05210"/>
                </a:solidFill>
                <a:latin typeface="Calibri"/>
              </a:rPr>
              <a:t>•  </a:t>
            </a:r>
            <a:r>
              <a:rPr sz="1600" b="0">
                <a:solidFill>
                  <a:srgbClr val="242933"/>
                </a:solidFill>
                <a:latin typeface="Calibri"/>
              </a:rPr>
              <a:t>Benchmarked against the </a:t>
            </a:r>
            <a:r>
              <a:rPr sz="1600" b="1">
                <a:solidFill>
                  <a:srgbClr val="1F3864"/>
                </a:solidFill>
                <a:latin typeface="Calibri"/>
              </a:rPr>
              <a:t>oracle decode</a:t>
            </a:r>
            <a:r>
              <a:rPr sz="1600" b="0">
                <a:solidFill>
                  <a:srgbClr val="242933"/>
                </a:solidFill>
                <a:latin typeface="Calibri"/>
              </a:rPr>
              <a:t> (decode of the simulation-encoded latent) and the simulation</a:t>
            </a:r>
          </a:p>
          <a:p>
            <a:pPr algn="l">
              <a:spcBef>
                <a:spcPts val="0"/>
              </a:spcBef>
              <a:spcAft>
                <a:spcPts val="900"/>
              </a:spcAft>
            </a:pPr>
            <a:r>
              <a:rPr sz="1600" b="1">
                <a:solidFill>
                  <a:srgbClr val="C05210"/>
                </a:solidFill>
                <a:latin typeface="Calibri"/>
              </a:rPr>
              <a:t>•  </a:t>
            </a:r>
            <a:r>
              <a:rPr sz="1600" b="0">
                <a:solidFill>
                  <a:srgbClr val="242933"/>
                </a:solidFill>
                <a:latin typeface="Calibri"/>
              </a:rPr>
              <a:t>So the predictive state is </a:t>
            </a:r>
            <a:r>
              <a:rPr sz="1600" b="1">
                <a:solidFill>
                  <a:srgbClr val="1F3864"/>
                </a:solidFill>
                <a:latin typeface="Calibri"/>
              </a:rPr>
              <a:t>reconstructible from a few wall sensors</a:t>
            </a:r>
            <a:r>
              <a:rPr sz="1600" b="0">
                <a:solidFill>
                  <a:srgbClr val="242933"/>
                </a:solidFill>
                <a:latin typeface="Calibri"/>
              </a:rPr>
              <a:t>, a deployment-relevant observability result</a:t>
            </a:r>
          </a:p>
        </p:txBody>
      </p:sp>
      <p:pic>
        <p:nvPicPr>
          <p:cNvPr id="7" name="Picture 6" descr="flow_recovery.png"/>
          <p:cNvPicPr>
            <a:picLocks noChangeAspect="1"/>
          </p:cNvPicPr>
          <p:nvPr/>
        </p:nvPicPr>
        <p:blipFill>
          <a:blip r:embed="rId2"/>
          <a:stretch>
            <a:fillRect/>
          </a:stretch>
        </p:blipFill>
        <p:spPr>
          <a:xfrm>
            <a:off x="7040880" y="1664208"/>
            <a:ext cx="4754880" cy="2728762"/>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Flow recovered from sparse wall pressure: simulation, oracle decode, and decode of the latent estimated from K = 8 and K = 2 taps (held-out encounters).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Sparse-sensor state estimation in action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600" b="0">
                <a:solidFill>
                  <a:srgbClr val="242933"/>
                </a:solidFill>
                <a:latin typeface="Calibri"/>
              </a:rPr>
              <a:t>No predictor here: a per-frame </a:t>
            </a:r>
            <a:r>
              <a:rPr sz="1600" b="1">
                <a:solidFill>
                  <a:srgbClr val="1F3864"/>
                </a:solidFill>
                <a:latin typeface="Calibri"/>
              </a:rPr>
              <a:t>MLP</a:t>
            </a:r>
            <a:r>
              <a:rPr sz="1600" b="0">
                <a:solidFill>
                  <a:srgbClr val="242933"/>
                </a:solidFill>
                <a:latin typeface="Calibri"/>
              </a:rPr>
              <a:t> maps a causal 6-frame window of 16 wall-pressure taps to the latent, then the frozen decoder renders the field.</a:t>
            </a:r>
          </a:p>
        </p:txBody>
      </p:sp>
      <p:pic>
        <p:nvPicPr>
          <p:cNvPr id="7" name="sensing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600200" y="1965960"/>
            <a:ext cx="8961120" cy="3282696"/>
          </a:xfrm>
          <a:prstGeom prst="rect">
            <a:avLst/>
          </a:prstGeom>
        </p:spPr>
      </p:pic>
      <p:sp>
        <p:nvSpPr>
          <p:cNvPr id="8" name="TextBox 7"/>
          <p:cNvSpPr txBox="1"/>
          <p:nvPr/>
        </p:nvSpPr>
        <p:spPr>
          <a:xfrm>
            <a:off x="822960" y="5349240"/>
            <a:ext cx="1051560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DNS truth (green dots mark the 16 TCSI taps) vs the field recovered from wall pressure alone, on a held-out encounter. Held-out-encounter latent R-squared = 0.72, SSIM ~ 0.5. Wall pressure fixes the near-body LEV and shear layer; the far wake is not surface-observable.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Control relevance: observable and forecastable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08076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The predictive state is </a:t>
            </a:r>
            <a:r>
              <a:rPr sz="1600" b="1">
                <a:solidFill>
                  <a:srgbClr val="1F3864"/>
                </a:solidFill>
                <a:latin typeface="Calibri"/>
              </a:rPr>
              <a:t>observable from sparse wall pressure</a:t>
            </a:r>
            <a:r>
              <a:rPr sz="1600" b="0">
                <a:solidFill>
                  <a:srgbClr val="242933"/>
                </a:solidFill>
                <a:latin typeface="Calibri"/>
              </a:rPr>
              <a:t>: (G, D) recoverable from the latent (R² ≈ 0.46 / 0.80 on test_b)</a:t>
            </a:r>
          </a:p>
          <a:p>
            <a:pPr algn="l">
              <a:spcBef>
                <a:spcPts val="0"/>
              </a:spcBef>
              <a:spcAft>
                <a:spcPts val="900"/>
              </a:spcAft>
            </a:pPr>
            <a:r>
              <a:rPr sz="1600" b="1">
                <a:solidFill>
                  <a:srgbClr val="C05210"/>
                </a:solidFill>
                <a:latin typeface="Calibri"/>
              </a:rPr>
              <a:t>•  </a:t>
            </a:r>
            <a:r>
              <a:rPr sz="1600" b="1">
                <a:solidFill>
                  <a:srgbClr val="1F3864"/>
                </a:solidFill>
                <a:latin typeface="Calibri"/>
              </a:rPr>
              <a:t>Lead-time impact-C_L:</a:t>
            </a:r>
            <a:r>
              <a:rPr sz="1600" b="0">
                <a:solidFill>
                  <a:srgbClr val="242933"/>
                </a:solidFill>
                <a:latin typeface="Calibri"/>
              </a:rPr>
              <a:t> predictor-in-loop </a:t>
            </a:r>
            <a:r>
              <a:rPr sz="1600" b="1">
                <a:solidFill>
                  <a:srgbClr val="1F3864"/>
                </a:solidFill>
                <a:latin typeface="Calibri"/>
              </a:rPr>
              <a:t>R² = 0.35 at 10 frames pre-impact</a:t>
            </a:r>
            <a:r>
              <a:rPr sz="1600" b="0">
                <a:solidFill>
                  <a:srgbClr val="242933"/>
                </a:solidFill>
                <a:latin typeface="Calibri"/>
              </a:rPr>
              <a:t>, vs 0.13 from direct pressure sensing (oracle 0.68)</a:t>
            </a:r>
          </a:p>
          <a:p>
            <a:pPr algn="l">
              <a:spcBef>
                <a:spcPts val="0"/>
              </a:spcBef>
              <a:spcAft>
                <a:spcPts val="900"/>
              </a:spcAft>
            </a:pPr>
            <a:r>
              <a:rPr sz="1600" b="1">
                <a:solidFill>
                  <a:srgbClr val="C05210"/>
                </a:solidFill>
                <a:latin typeface="Calibri"/>
              </a:rPr>
              <a:t>•  </a:t>
            </a:r>
            <a:r>
              <a:rPr sz="1600" b="0">
                <a:solidFill>
                  <a:srgbClr val="242933"/>
                </a:solidFill>
                <a:latin typeface="Calibri"/>
              </a:rPr>
              <a:t>The reconstructive latent's oracle is </a:t>
            </a:r>
            <a:r>
              <a:rPr sz="1600" b="1">
                <a:solidFill>
                  <a:srgbClr val="1F3864"/>
                </a:solidFill>
                <a:latin typeface="Calibri"/>
              </a:rPr>
              <a:t>negative</a:t>
            </a:r>
            <a:r>
              <a:rPr sz="1600" b="0">
                <a:solidFill>
                  <a:srgbClr val="242933"/>
                </a:solidFill>
                <a:latin typeface="Calibri"/>
              </a:rPr>
              <a:t>, a representation failure, not a probe failure</a:t>
            </a:r>
          </a:p>
          <a:p>
            <a:pPr algn="l">
              <a:spcBef>
                <a:spcPts val="0"/>
              </a:spcBef>
              <a:spcAft>
                <a:spcPts val="900"/>
              </a:spcAft>
            </a:pPr>
            <a:r>
              <a:rPr sz="1600" b="1">
                <a:solidFill>
                  <a:srgbClr val="C05210"/>
                </a:solidFill>
                <a:latin typeface="Calibri"/>
              </a:rPr>
              <a:t>•  </a:t>
            </a:r>
            <a:r>
              <a:rPr sz="1600" b="0">
                <a:solidFill>
                  <a:srgbClr val="242933"/>
                </a:solidFill>
                <a:latin typeface="Calibri"/>
              </a:rPr>
              <a:t>A deployment-relevant </a:t>
            </a:r>
            <a:r>
              <a:rPr sz="1600" b="1">
                <a:solidFill>
                  <a:srgbClr val="1F3864"/>
                </a:solidFill>
                <a:latin typeface="Calibri"/>
              </a:rPr>
              <a:t>state estimate plus short-horizon forecast</a:t>
            </a:r>
            <a:r>
              <a:rPr sz="1600" b="0">
                <a:solidFill>
                  <a:srgbClr val="242933"/>
                </a:solidFill>
                <a:latin typeface="Calibri"/>
              </a:rPr>
              <a:t>: the ingredients a controller consumes</a:t>
            </a:r>
          </a:p>
        </p:txBody>
      </p:sp>
      <p:pic>
        <p:nvPicPr>
          <p:cNvPr id="7" name="Picture 6" descr="cl_inference_simple.png"/>
          <p:cNvPicPr>
            <a:picLocks noChangeAspect="1"/>
          </p:cNvPicPr>
          <p:nvPr/>
        </p:nvPicPr>
        <p:blipFill>
          <a:blip r:embed="rId2"/>
          <a:stretch>
            <a:fillRect/>
          </a:stretch>
        </p:blipFill>
        <p:spPr>
          <a:xfrm>
            <a:off x="6858000" y="1664208"/>
            <a:ext cx="5029200" cy="2921725"/>
          </a:xfrm>
          <a:prstGeom prst="rect">
            <a:avLst/>
          </a:prstGeom>
        </p:spPr>
      </p:pic>
      <p:sp>
        <p:nvSpPr>
          <p:cNvPr id="8" name="TextBox 7"/>
          <p:cNvSpPr txBox="1"/>
          <p:nvPr/>
        </p:nvSpPr>
        <p:spPr>
          <a:xfrm>
            <a:off x="6858000" y="6108192"/>
            <a:ext cx="502920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Impact-C_L inferred at each lead time before impact (test_b R²): oracle = probe on the DNS-encoded latent; direct = pressure sensors to C_L; predictor-in-loop = roll the latent to impact, then probe.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CONCLUSIONS</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Conclusions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A </a:t>
            </a:r>
            <a:r>
              <a:rPr sz="1800" b="1">
                <a:solidFill>
                  <a:srgbClr val="1F3864"/>
                </a:solidFill>
                <a:latin typeface="Calibri"/>
              </a:rPr>
              <a:t>predictive objective + wake supervision</a:t>
            </a:r>
            <a:r>
              <a:rPr sz="1800" b="0">
                <a:solidFill>
                  <a:srgbClr val="242933"/>
                </a:solidFill>
                <a:latin typeface="Calibri"/>
              </a:rPr>
              <a:t> yields a latent dynamics model that is </a:t>
            </a:r>
            <a:r>
              <a:rPr sz="1800" b="1">
                <a:solidFill>
                  <a:srgbClr val="1F3864"/>
                </a:solidFill>
                <a:latin typeface="Calibri"/>
              </a:rPr>
              <a:t>forward-closed</a:t>
            </a:r>
            <a:r>
              <a:rPr sz="1800" b="0">
                <a:solidFill>
                  <a:srgbClr val="242933"/>
                </a:solidFill>
                <a:latin typeface="Calibri"/>
              </a:rPr>
              <a:t> (wake R² 0.75 representational / 0.84 mean), stays </a:t>
            </a:r>
            <a:r>
              <a:rPr sz="1800" b="1">
                <a:solidFill>
                  <a:srgbClr val="1F3864"/>
                </a:solidFill>
                <a:latin typeface="Calibri"/>
              </a:rPr>
              <a:t>on-manifold</a:t>
            </a:r>
            <a:r>
              <a:rPr sz="1800" b="0">
                <a:solidFill>
                  <a:srgbClr val="242933"/>
                </a:solidFill>
                <a:latin typeface="Calibri"/>
              </a:rPr>
              <a:t> under rollout, is a </a:t>
            </a:r>
            <a:r>
              <a:rPr sz="1800" b="1">
                <a:solidFill>
                  <a:srgbClr val="1F3864"/>
                </a:solidFill>
                <a:latin typeface="Calibri"/>
              </a:rPr>
              <a:t>single cycle</a:t>
            </a:r>
            <a:r>
              <a:rPr sz="1800" b="0">
                <a:solidFill>
                  <a:srgbClr val="242933"/>
                </a:solidFill>
                <a:latin typeface="Calibri"/>
              </a:rPr>
              <a:t>, and is </a:t>
            </a:r>
            <a:r>
              <a:rPr sz="1800" b="1">
                <a:solidFill>
                  <a:srgbClr val="1F3864"/>
                </a:solidFill>
                <a:latin typeface="Calibri"/>
              </a:rPr>
              <a:t>transport-aligned along each encounter</a:t>
            </a:r>
          </a:p>
          <a:p>
            <a:pPr algn="l">
              <a:spcBef>
                <a:spcPts val="0"/>
              </a:spcBef>
              <a:spcAft>
                <a:spcPts val="500"/>
              </a:spcAft>
            </a:pPr>
            <a:r>
              <a:rPr sz="1500" b="0">
                <a:solidFill>
                  <a:srgbClr val="6B7280"/>
                </a:solidFill>
                <a:latin typeface="Calibri"/>
              </a:rPr>
              <a:t>      –  </a:t>
            </a:r>
            <a:r>
              <a:rPr sz="1500" b="1">
                <a:solidFill>
                  <a:srgbClr val="1F3864"/>
                </a:solidFill>
                <a:latin typeface="Calibri"/>
              </a:rPr>
              <a:t>compact</a:t>
            </a:r>
            <a:r>
              <a:rPr sz="1500" b="0">
                <a:solidFill>
                  <a:srgbClr val="6B7280"/>
                </a:solidFill>
                <a:latin typeface="Calibri"/>
              </a:rPr>
              <a:t> (d = 32 ≈ d = 64, participation ratio ≈ 1.7) and </a:t>
            </a:r>
            <a:r>
              <a:rPr sz="1500" b="1">
                <a:solidFill>
                  <a:srgbClr val="1F3864"/>
                </a:solidFill>
                <a:latin typeface="Calibri"/>
              </a:rPr>
              <a:t>observable</a:t>
            </a:r>
            <a:r>
              <a:rPr sz="1500" b="0">
                <a:solidFill>
                  <a:srgbClr val="6B7280"/>
                </a:solidFill>
                <a:latin typeface="Calibri"/>
              </a:rPr>
              <a:t> from sparse wall pressure</a:t>
            </a:r>
          </a:p>
          <a:p>
            <a:pPr algn="l">
              <a:spcBef>
                <a:spcPts val="0"/>
              </a:spcBef>
              <a:spcAft>
                <a:spcPts val="900"/>
              </a:spcAft>
            </a:pPr>
            <a:r>
              <a:rPr sz="1800" b="1">
                <a:solidFill>
                  <a:srgbClr val="C05210"/>
                </a:solidFill>
                <a:latin typeface="Calibri"/>
              </a:rPr>
              <a:t>•  </a:t>
            </a:r>
            <a:r>
              <a:rPr sz="1800" b="0">
                <a:solidFill>
                  <a:srgbClr val="242933"/>
                </a:solidFill>
                <a:latin typeface="Calibri"/>
              </a:rPr>
              <a:t>The discriminator throughout is the </a:t>
            </a:r>
            <a:r>
              <a:rPr sz="1800" b="1">
                <a:solidFill>
                  <a:srgbClr val="1F3864"/>
                </a:solidFill>
                <a:latin typeface="Calibri"/>
              </a:rPr>
              <a:t>wake</a:t>
            </a:r>
            <a:r>
              <a:rPr sz="1800" b="0">
                <a:solidFill>
                  <a:srgbClr val="242933"/>
                </a:solidFill>
                <a:latin typeface="Calibri"/>
              </a:rPr>
              <a:t>, which force-only and reconstruction-only states lose</a:t>
            </a:r>
          </a:p>
          <a:p>
            <a:pPr algn="l">
              <a:spcBef>
                <a:spcPts val="0"/>
              </a:spcBef>
              <a:spcAft>
                <a:spcPts val="900"/>
              </a:spcAft>
            </a:pPr>
            <a:r>
              <a:rPr sz="1800" b="1">
                <a:solidFill>
                  <a:srgbClr val="C05210"/>
                </a:solidFill>
                <a:latin typeface="Calibri"/>
              </a:rPr>
              <a:t>•  </a:t>
            </a:r>
            <a:r>
              <a:rPr sz="1800" b="0">
                <a:solidFill>
                  <a:srgbClr val="242933"/>
                </a:solidFill>
                <a:latin typeface="Calibri"/>
              </a:rPr>
              <a:t>It is a </a:t>
            </a:r>
            <a:r>
              <a:rPr sz="1800" b="1">
                <a:solidFill>
                  <a:srgbClr val="1F3864"/>
                </a:solidFill>
                <a:latin typeface="Calibri"/>
              </a:rPr>
              <a:t>conditional forward-closure model</a:t>
            </a:r>
            <a:r>
              <a:rPr sz="1800" b="0">
                <a:solidFill>
                  <a:srgbClr val="242933"/>
                </a:solidFill>
                <a:latin typeface="Calibri"/>
              </a:rPr>
              <a:t>, a substrate for model-based control and RL world-models, </a:t>
            </a:r>
            <a:r>
              <a:rPr sz="1800" b="1">
                <a:solidFill>
                  <a:srgbClr val="1F3864"/>
                </a:solidFill>
                <a:latin typeface="Calibri"/>
              </a:rPr>
              <a:t>not yet a validated controller</a:t>
            </a:r>
          </a:p>
          <a:p>
            <a:pPr algn="l">
              <a:spcBef>
                <a:spcPts val="0"/>
              </a:spcBef>
              <a:spcAft>
                <a:spcPts val="900"/>
              </a:spcAft>
            </a:pPr>
            <a:r>
              <a:rPr sz="1800" b="1">
                <a:solidFill>
                  <a:srgbClr val="C05210"/>
                </a:solidFill>
                <a:latin typeface="Calibri"/>
              </a:rPr>
              <a:t>•  </a:t>
            </a:r>
            <a:r>
              <a:rPr sz="1800" b="1">
                <a:solidFill>
                  <a:srgbClr val="1F3864"/>
                </a:solidFill>
                <a:latin typeface="Calibri"/>
              </a:rPr>
              <a:t>Next:</a:t>
            </a:r>
            <a:r>
              <a:rPr sz="1800" b="0">
                <a:solidFill>
                  <a:srgbClr val="242933"/>
                </a:solidFill>
                <a:latin typeface="Calibri"/>
              </a:rPr>
              <a:t> swap the gust conditioning for an </a:t>
            </a:r>
            <a:r>
              <a:rPr sz="1800" b="1">
                <a:solidFill>
                  <a:srgbClr val="1F3864"/>
                </a:solidFill>
                <a:latin typeface="Calibri"/>
              </a:rPr>
              <a:t>actuation channel</a:t>
            </a:r>
            <a:r>
              <a:rPr sz="1800" b="0">
                <a:solidFill>
                  <a:srgbClr val="242933"/>
                </a:solidFill>
                <a:latin typeface="Calibri"/>
              </a:rPr>
              <a:t> (same machinery), </a:t>
            </a:r>
            <a:r>
              <a:rPr sz="1800" b="1">
                <a:solidFill>
                  <a:srgbClr val="1F3864"/>
                </a:solidFill>
                <a:latin typeface="Calibri"/>
              </a:rPr>
              <a:t>close the loop</a:t>
            </a:r>
            <a:r>
              <a:rPr sz="1800" b="0">
                <a:solidFill>
                  <a:srgbClr val="242933"/>
                </a:solidFill>
                <a:latin typeface="Calibri"/>
              </a:rPr>
              <a:t>, push to </a:t>
            </a:r>
            <a:r>
              <a:rPr sz="1800" b="1">
                <a:solidFill>
                  <a:srgbClr val="1F3864"/>
                </a:solidFill>
                <a:latin typeface="Calibri"/>
              </a:rPr>
              <a:t>3D observability</a:t>
            </a:r>
            <a:r>
              <a:rPr sz="1800" b="0">
                <a:solidFill>
                  <a:srgbClr val="242933"/>
                </a:solidFill>
                <a:latin typeface="Calibri"/>
              </a:rPr>
              <a:t> at |G| = 4, and carry the recipe to </a:t>
            </a:r>
            <a:r>
              <a:rPr sz="1800" b="1">
                <a:solidFill>
                  <a:srgbClr val="1F3864"/>
                </a:solidFill>
                <a:latin typeface="Calibri"/>
              </a:rPr>
              <a:t>other parametric flows</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THANKS</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Acknowledgements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800" b="1">
                <a:solidFill>
                  <a:srgbClr val="242933"/>
                </a:solidFill>
                <a:latin typeface="Calibri"/>
              </a:rPr>
              <a:t>This work is a collaboration with:</a:t>
            </a:r>
          </a:p>
        </p:txBody>
      </p:sp>
      <p:pic>
        <p:nvPicPr>
          <p:cNvPr id="7" name="Picture 6" descr="photo_solera_sq.png"/>
          <p:cNvPicPr>
            <a:picLocks noChangeAspect="1"/>
          </p:cNvPicPr>
          <p:nvPr/>
        </p:nvPicPr>
        <p:blipFill>
          <a:blip r:embed="rId2"/>
          <a:stretch>
            <a:fillRect/>
          </a:stretch>
        </p:blipFill>
        <p:spPr>
          <a:xfrm>
            <a:off x="1554479" y="2011680"/>
            <a:ext cx="1554480" cy="1554480"/>
          </a:xfrm>
          <a:prstGeom prst="rect">
            <a:avLst/>
          </a:prstGeom>
        </p:spPr>
      </p:pic>
      <p:sp>
        <p:nvSpPr>
          <p:cNvPr id="8" name="TextBox 7"/>
          <p:cNvSpPr txBox="1"/>
          <p:nvPr/>
        </p:nvSpPr>
        <p:spPr>
          <a:xfrm>
            <a:off x="640079"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Alberto Solera-Rico</a:t>
            </a:r>
          </a:p>
          <a:p>
            <a:pPr algn="ctr">
              <a:spcBef>
                <a:spcPts val="0"/>
              </a:spcBef>
              <a:spcAft>
                <a:spcPts val="600"/>
              </a:spcAft>
            </a:pPr>
            <a:r>
              <a:rPr sz="1200" b="0">
                <a:solidFill>
                  <a:srgbClr val="6B7280"/>
                </a:solidFill>
                <a:latin typeface="Calibri"/>
              </a:rPr>
              <a:t>INTA · UC3M</a:t>
            </a:r>
          </a:p>
        </p:txBody>
      </p:sp>
      <p:pic>
        <p:nvPicPr>
          <p:cNvPr id="9" name="Picture 8" descr="photo_miro_sq.png"/>
          <p:cNvPicPr>
            <a:picLocks noChangeAspect="1"/>
          </p:cNvPicPr>
          <p:nvPr/>
        </p:nvPicPr>
        <p:blipFill>
          <a:blip r:embed="rId3"/>
          <a:stretch>
            <a:fillRect/>
          </a:stretch>
        </p:blipFill>
        <p:spPr>
          <a:xfrm>
            <a:off x="5303520" y="2011680"/>
            <a:ext cx="1554480" cy="1554480"/>
          </a:xfrm>
          <a:prstGeom prst="rect">
            <a:avLst/>
          </a:prstGeom>
        </p:spPr>
      </p:pic>
      <p:sp>
        <p:nvSpPr>
          <p:cNvPr id="10" name="TextBox 9"/>
          <p:cNvSpPr txBox="1"/>
          <p:nvPr/>
        </p:nvSpPr>
        <p:spPr>
          <a:xfrm>
            <a:off x="4389120"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Arnau Miró</a:t>
            </a:r>
          </a:p>
          <a:p>
            <a:pPr algn="ctr">
              <a:spcBef>
                <a:spcPts val="0"/>
              </a:spcBef>
              <a:spcAft>
                <a:spcPts val="600"/>
              </a:spcAft>
            </a:pPr>
            <a:r>
              <a:rPr sz="1200" b="0">
                <a:solidFill>
                  <a:srgbClr val="6B7280"/>
                </a:solidFill>
                <a:latin typeface="Calibri"/>
              </a:rPr>
              <a:t>UPC · BSC</a:t>
            </a:r>
          </a:p>
        </p:txBody>
      </p:sp>
      <p:pic>
        <p:nvPicPr>
          <p:cNvPr id="11" name="Picture 10" descr="photo_lehmkuhl_sq.png"/>
          <p:cNvPicPr>
            <a:picLocks noChangeAspect="1"/>
          </p:cNvPicPr>
          <p:nvPr/>
        </p:nvPicPr>
        <p:blipFill>
          <a:blip r:embed="rId4"/>
          <a:stretch>
            <a:fillRect/>
          </a:stretch>
        </p:blipFill>
        <p:spPr>
          <a:xfrm>
            <a:off x="9052560" y="2011680"/>
            <a:ext cx="1554480" cy="1554480"/>
          </a:xfrm>
          <a:prstGeom prst="rect">
            <a:avLst/>
          </a:prstGeom>
        </p:spPr>
      </p:pic>
      <p:sp>
        <p:nvSpPr>
          <p:cNvPr id="12" name="TextBox 11"/>
          <p:cNvSpPr txBox="1"/>
          <p:nvPr/>
        </p:nvSpPr>
        <p:spPr>
          <a:xfrm>
            <a:off x="8138160"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Oriol Lehmkuhl</a:t>
            </a:r>
          </a:p>
          <a:p>
            <a:pPr algn="ctr">
              <a:spcBef>
                <a:spcPts val="0"/>
              </a:spcBef>
              <a:spcAft>
                <a:spcPts val="600"/>
              </a:spcAft>
            </a:pPr>
            <a:r>
              <a:rPr sz="1200" b="0">
                <a:solidFill>
                  <a:srgbClr val="6B7280"/>
                </a:solidFill>
                <a:latin typeface="Calibri"/>
              </a:rPr>
              <a:t>BSC</a:t>
            </a:r>
          </a:p>
        </p:txBody>
      </p:sp>
      <p:sp>
        <p:nvSpPr>
          <p:cNvPr id="13" name="Rectangle 12"/>
          <p:cNvSpPr/>
          <p:nvPr/>
        </p:nvSpPr>
        <p:spPr>
          <a:xfrm>
            <a:off x="640080" y="4617720"/>
            <a:ext cx="10881360" cy="1600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617720"/>
            <a:ext cx="91440" cy="160020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773168"/>
            <a:ext cx="7498079" cy="1371600"/>
          </a:xfrm>
          <a:prstGeom prst="rect">
            <a:avLst/>
          </a:prstGeom>
          <a:noFill/>
        </p:spPr>
        <p:txBody>
          <a:bodyPr wrap="square" anchor="t" lIns="0" rIns="0" tIns="0" bIns="0">
            <a:spAutoFit/>
          </a:bodyPr>
          <a:lstStyle/>
          <a:p>
            <a:pPr algn="l">
              <a:spcBef>
                <a:spcPts val="0"/>
              </a:spcBef>
              <a:spcAft>
                <a:spcPts val="600"/>
              </a:spcAft>
            </a:pPr>
            <a:r>
              <a:rPr sz="1300" b="0">
                <a:solidFill>
                  <a:srgbClr val="242933"/>
                </a:solidFill>
                <a:latin typeface="Calibri"/>
              </a:rPr>
              <a:t>Work produced with the support of a 2024 Leonardo Grant for Researchers and Cultural Creators, BBVA Foundation, project PREVENT (grant LEO24-2-15988). The Foundation takes no responsibility for the opinions, statements and contents of this project, which are entirely the responsibility of its authors.</a:t>
            </a:r>
          </a:p>
        </p:txBody>
      </p:sp>
      <p:pic>
        <p:nvPicPr>
          <p:cNvPr id="16" name="Picture 15" descr="IMG_2283.jpeg"/>
          <p:cNvPicPr>
            <a:picLocks noChangeAspect="1"/>
          </p:cNvPicPr>
          <p:nvPr/>
        </p:nvPicPr>
        <p:blipFill>
          <a:blip r:embed="rId5"/>
          <a:stretch>
            <a:fillRect/>
          </a:stretch>
        </p:blipFill>
        <p:spPr>
          <a:xfrm>
            <a:off x="9462630" y="4846320"/>
            <a:ext cx="1008659" cy="566928"/>
          </a:xfrm>
          <a:prstGeom prst="rect">
            <a:avLst/>
          </a:prstGeom>
        </p:spPr>
      </p:pic>
      <p:pic>
        <p:nvPicPr>
          <p:cNvPr id="17" name="Picture 16" descr="IMG_2282.png"/>
          <p:cNvPicPr>
            <a:picLocks noChangeAspect="1"/>
          </p:cNvPicPr>
          <p:nvPr/>
        </p:nvPicPr>
        <p:blipFill>
          <a:blip r:embed="rId6"/>
          <a:stretch>
            <a:fillRect/>
          </a:stretch>
        </p:blipFill>
        <p:spPr>
          <a:xfrm>
            <a:off x="9467124" y="5532120"/>
            <a:ext cx="999671" cy="566928"/>
          </a:xfrm>
          <a:prstGeom prst="rect">
            <a:avLst/>
          </a:prstGeom>
        </p:spPr>
      </p:pic>
      <p:sp>
        <p:nvSpPr>
          <p:cNvPr id="18" name="TextBox 1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9" name="TextBox 1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606040"/>
            <a:ext cx="10332720" cy="1463040"/>
          </a:xfrm>
          <a:prstGeom prst="rect">
            <a:avLst/>
          </a:prstGeom>
          <a:noFill/>
        </p:spPr>
        <p:txBody>
          <a:bodyPr wrap="square" anchor="ctr" lIns="0" rIns="0" tIns="0" bIns="0">
            <a:spAutoFit/>
          </a:bodyPr>
          <a:lstStyle/>
          <a:p>
            <a:pPr algn="l">
              <a:spcBef>
                <a:spcPts val="0"/>
              </a:spcBef>
              <a:spcAft>
                <a:spcPts val="600"/>
              </a:spcAft>
            </a:pPr>
            <a:r>
              <a:rPr sz="3600" b="1">
                <a:solidFill>
                  <a:srgbClr val="FFFFFF"/>
                </a:solidFill>
                <a:latin typeface="Calibri"/>
              </a:rPr>
              <a:t>Backup slides</a:t>
            </a:r>
          </a:p>
          <a:p>
            <a:pPr algn="l">
              <a:spcBef>
                <a:spcPts val="600"/>
              </a:spcBef>
              <a:spcAft>
                <a:spcPts val="600"/>
              </a:spcAft>
            </a:pPr>
            <a:r>
              <a:rPr sz="1600" b="0">
                <a:solidFill>
                  <a:srgbClr val="C9D3E6"/>
                </a:solidFill>
                <a:latin typeface="Calibri"/>
              </a:rPr>
              <a:t>Supporting detail and ablations</a:t>
            </a:r>
          </a:p>
        </p:txBody>
      </p:sp>
      <p:sp>
        <p:nvSpPr>
          <p:cNvPr id="4" name="Rectangle 3"/>
          <p:cNvSpPr/>
          <p:nvPr/>
        </p:nvSpPr>
        <p:spPr>
          <a:xfrm>
            <a:off x="960120" y="3886200"/>
            <a:ext cx="2743200" cy="54864"/>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Dataset and protocol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Partition </a:t>
            </a:r>
            <a:r>
              <a:rPr sz="1700" b="1">
                <a:solidFill>
                  <a:srgbClr val="1F3864"/>
                </a:solidFill>
                <a:latin typeface="Calibri"/>
              </a:rPr>
              <a:t>v2</a:t>
            </a:r>
            <a:r>
              <a:rPr sz="1700" b="0">
                <a:solidFill>
                  <a:srgbClr val="242933"/>
                </a:solidFill>
                <a:latin typeface="Calibri"/>
              </a:rPr>
              <a:t> (locked, sha256-anchored): 84 cases</a:t>
            </a:r>
          </a:p>
          <a:p>
            <a:pPr algn="l">
              <a:spcBef>
                <a:spcPts val="0"/>
              </a:spcBef>
              <a:spcAft>
                <a:spcPts val="900"/>
              </a:spcAft>
            </a:pPr>
            <a:r>
              <a:rPr sz="1700" b="1">
                <a:solidFill>
                  <a:srgbClr val="C05210"/>
                </a:solidFill>
                <a:latin typeface="Calibri"/>
              </a:rPr>
              <a:t>•  </a:t>
            </a:r>
            <a:r>
              <a:rPr sz="1700" b="1">
                <a:solidFill>
                  <a:srgbClr val="1F3864"/>
                </a:solidFill>
                <a:latin typeface="Calibri"/>
              </a:rPr>
              <a:t>226</a:t>
            </a:r>
            <a:r>
              <a:rPr sz="1700" b="0">
                <a:solidFill>
                  <a:srgbClr val="242933"/>
                </a:solidFill>
                <a:latin typeface="Calibri"/>
              </a:rPr>
              <a:t> train encounters · </a:t>
            </a:r>
            <a:r>
              <a:rPr sz="1700" b="1">
                <a:solidFill>
                  <a:srgbClr val="1F3864"/>
                </a:solidFill>
                <a:latin typeface="Calibri"/>
              </a:rPr>
              <a:t>42</a:t>
            </a:r>
            <a:r>
              <a:rPr sz="1700" b="0">
                <a:solidFill>
                  <a:srgbClr val="242933"/>
                </a:solidFill>
                <a:latin typeface="Calibri"/>
              </a:rPr>
              <a:t> test_b · </a:t>
            </a:r>
            <a:r>
              <a:rPr sz="1700" b="1">
                <a:solidFill>
                  <a:srgbClr val="1F3864"/>
                </a:solidFill>
                <a:latin typeface="Calibri"/>
              </a:rPr>
              <a:t>24</a:t>
            </a:r>
            <a:r>
              <a:rPr sz="1700" b="0">
                <a:solidFill>
                  <a:srgbClr val="242933"/>
                </a:solidFill>
                <a:latin typeface="Calibri"/>
              </a:rPr>
              <a:t> test_c (|G| = 4)</a:t>
            </a:r>
          </a:p>
          <a:p>
            <a:pPr algn="l">
              <a:spcBef>
                <a:spcPts val="0"/>
              </a:spcBef>
              <a:spcAft>
                <a:spcPts val="900"/>
              </a:spcAft>
            </a:pPr>
            <a:r>
              <a:rPr sz="1700" b="1">
                <a:solidFill>
                  <a:srgbClr val="C05210"/>
                </a:solidFill>
                <a:latin typeface="Calibri"/>
              </a:rPr>
              <a:t>•  </a:t>
            </a:r>
            <a:r>
              <a:rPr sz="1700" b="0">
                <a:solidFill>
                  <a:srgbClr val="242933"/>
                </a:solidFill>
                <a:latin typeface="Calibri"/>
              </a:rPr>
              <a:t>ω_z pipeline v1: spatial mask + p99.99 clip + 3σ scale (train_std 3.55), no mean shift (preserves vorticity antisymmetry)</a:t>
            </a:r>
          </a:p>
          <a:p>
            <a:pPr algn="l">
              <a:spcBef>
                <a:spcPts val="0"/>
              </a:spcBef>
              <a:spcAft>
                <a:spcPts val="900"/>
              </a:spcAft>
            </a:pPr>
            <a:r>
              <a:rPr sz="1700" b="1">
                <a:solidFill>
                  <a:srgbClr val="C05210"/>
                </a:solidFill>
                <a:latin typeface="Calibri"/>
              </a:rPr>
              <a:t>•  </a:t>
            </a:r>
            <a:r>
              <a:rPr sz="1700" b="0">
                <a:solidFill>
                  <a:srgbClr val="242933"/>
                </a:solidFill>
                <a:latin typeface="Calibri"/>
              </a:rPr>
              <a:t>Reporting: bootstrap n = 2000 CIs · 3 encoder seeds · 5-fold probe CV</a:t>
            </a:r>
          </a:p>
        </p:txBody>
      </p:sp>
      <p:pic>
        <p:nvPicPr>
          <p:cNvPr id="7" name="Picture 6" descr="paramspace.png"/>
          <p:cNvPicPr>
            <a:picLocks noChangeAspect="1"/>
          </p:cNvPicPr>
          <p:nvPr/>
        </p:nvPicPr>
        <p:blipFill>
          <a:blip r:embed="rId2"/>
          <a:stretch>
            <a:fillRect/>
          </a:stretch>
        </p:blipFill>
        <p:spPr>
          <a:xfrm>
            <a:off x="7040880" y="1664208"/>
            <a:ext cx="4754880" cy="1985716"/>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Training envelope in (G, D, 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Matched-capacity: d = 32 vs d = 64</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Halving the latent leaves the representation and </a:t>
            </a:r>
            <a:r>
              <a:rPr sz="1800" b="1">
                <a:solidFill>
                  <a:srgbClr val="1F3864"/>
                </a:solidFill>
                <a:latin typeface="Calibri"/>
              </a:rPr>
              <a:t>every mechanism diagnostic</a:t>
            </a:r>
            <a:r>
              <a:rPr sz="1800" b="0">
                <a:solidFill>
                  <a:srgbClr val="242933"/>
                </a:solidFill>
                <a:latin typeface="Calibri"/>
              </a:rPr>
              <a:t> intact</a:t>
            </a:r>
          </a:p>
          <a:p>
            <a:pPr algn="l">
              <a:spcBef>
                <a:spcPts val="0"/>
              </a:spcBef>
              <a:spcAft>
                <a:spcPts val="500"/>
              </a:spcAft>
            </a:pPr>
            <a:r>
              <a:rPr sz="1500" b="0">
                <a:solidFill>
                  <a:srgbClr val="6B7280"/>
                </a:solidFill>
                <a:latin typeface="Calibri"/>
              </a:rPr>
              <a:t>      –  representational wake R² 0.74 (d=32) vs 0.75 (d=64); drift ratio 0.86 vs 0.85; OT 0.61 vs 0.63</a:t>
            </a:r>
          </a:p>
          <a:p>
            <a:pPr algn="l">
              <a:spcBef>
                <a:spcPts val="0"/>
              </a:spcBef>
              <a:spcAft>
                <a:spcPts val="900"/>
              </a:spcAft>
            </a:pPr>
            <a:r>
              <a:rPr sz="1800" b="1">
                <a:solidFill>
                  <a:srgbClr val="C05210"/>
                </a:solidFill>
                <a:latin typeface="Calibri"/>
              </a:rPr>
              <a:t>•  </a:t>
            </a:r>
            <a:r>
              <a:rPr sz="1800" b="0">
                <a:solidFill>
                  <a:srgbClr val="242933"/>
                </a:solidFill>
                <a:latin typeface="Calibri"/>
              </a:rPr>
              <a:t>Cost is </a:t>
            </a:r>
            <a:r>
              <a:rPr sz="1800" b="1">
                <a:solidFill>
                  <a:srgbClr val="1F3864"/>
                </a:solidFill>
                <a:latin typeface="Calibri"/>
              </a:rPr>
              <a:t>in-distribution forecast sharpness</a:t>
            </a:r>
            <a:r>
              <a:rPr sz="1800" b="0">
                <a:solidFill>
                  <a:srgbClr val="242933"/>
                </a:solidFill>
                <a:latin typeface="Calibri"/>
              </a:rPr>
              <a:t>: H = 16 wake closure 0.45 → 0.21</a:t>
            </a:r>
          </a:p>
          <a:p>
            <a:pPr algn="l">
              <a:spcBef>
                <a:spcPts val="0"/>
              </a:spcBef>
              <a:spcAft>
                <a:spcPts val="900"/>
              </a:spcAft>
            </a:pPr>
            <a:r>
              <a:rPr sz="1800" b="1">
                <a:solidFill>
                  <a:srgbClr val="C05210"/>
                </a:solidFill>
                <a:latin typeface="Calibri"/>
              </a:rPr>
              <a:t>•  </a:t>
            </a:r>
            <a:r>
              <a:rPr sz="1800" b="0">
                <a:solidFill>
                  <a:srgbClr val="242933"/>
                </a:solidFill>
                <a:latin typeface="Calibri"/>
              </a:rPr>
              <a:t>Participation ratio ≈ 1.7, leading PC ≈ ¾ of variance → the effective dimension is a handful</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Seed variance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Three encoder seeds per cell; wake-closure means reported ± standard deviation</a:t>
            </a:r>
          </a:p>
          <a:p>
            <a:pPr algn="l">
              <a:spcBef>
                <a:spcPts val="0"/>
              </a:spcBef>
              <a:spcAft>
                <a:spcPts val="900"/>
              </a:spcAft>
            </a:pPr>
            <a:r>
              <a:rPr sz="1800" b="1">
                <a:solidFill>
                  <a:srgbClr val="C05210"/>
                </a:solidFill>
                <a:latin typeface="Calibri"/>
              </a:rPr>
              <a:t>•  </a:t>
            </a:r>
            <a:r>
              <a:rPr sz="1800" b="0">
                <a:solidFill>
                  <a:srgbClr val="242933"/>
                </a:solidFill>
                <a:latin typeface="Calibri"/>
              </a:rPr>
              <a:t>The reconstructive CNN+ViT cell has </a:t>
            </a:r>
            <a:r>
              <a:rPr sz="1800" b="1">
                <a:solidFill>
                  <a:srgbClr val="1F3864"/>
                </a:solidFill>
                <a:latin typeface="Calibri"/>
              </a:rPr>
              <a:t>large seed variance (±0.27)</a:t>
            </a:r>
            <a:r>
              <a:rPr sz="1800" b="0">
                <a:solidFill>
                  <a:srgbClr val="242933"/>
                </a:solidFill>
                <a:latin typeface="Calibri"/>
              </a:rPr>
              <a:t>, consistent with the drift mechanism: without a forward-predictable geometry, closure is unstable across initialisations</a:t>
            </a:r>
          </a:p>
          <a:p>
            <a:pPr algn="l">
              <a:spcBef>
                <a:spcPts val="0"/>
              </a:spcBef>
              <a:spcAft>
                <a:spcPts val="900"/>
              </a:spcAft>
            </a:pPr>
            <a:r>
              <a:rPr sz="1800" b="1">
                <a:solidFill>
                  <a:srgbClr val="C05210"/>
                </a:solidFill>
                <a:latin typeface="Calibri"/>
              </a:rPr>
              <a:t>•  </a:t>
            </a:r>
            <a:r>
              <a:rPr sz="1800" b="0">
                <a:solidFill>
                  <a:srgbClr val="242933"/>
                </a:solidFill>
                <a:latin typeface="Calibri"/>
              </a:rPr>
              <a:t>Predictive cells are tight (±0.03–0.06)</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Parameter observability from the latent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69164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z → (G, D, Y) probe R² from the rolled-out latent, K = 8 pre-impact sensors</a:t>
            </a:r>
          </a:p>
          <a:p>
            <a:pPr algn="l">
              <a:spcBef>
                <a:spcPts val="0"/>
              </a:spcBef>
              <a:spcAft>
                <a:spcPts val="900"/>
              </a:spcAft>
            </a:pPr>
            <a:r>
              <a:rPr sz="1700" b="1">
                <a:solidFill>
                  <a:srgbClr val="C05210"/>
                </a:solidFill>
                <a:latin typeface="Calibri"/>
              </a:rPr>
              <a:t>•  </a:t>
            </a:r>
            <a:r>
              <a:rPr sz="1700" b="0">
                <a:solidFill>
                  <a:srgbClr val="242933"/>
                </a:solidFill>
                <a:latin typeface="Calibri"/>
              </a:rPr>
              <a:t>test_b: </a:t>
            </a:r>
            <a:r>
              <a:rPr sz="1700" b="1">
                <a:solidFill>
                  <a:srgbClr val="1F3864"/>
                </a:solidFill>
                <a:latin typeface="Calibri"/>
              </a:rPr>
              <a:t>G 0.46 · D 0.80 · Y 0.10</a:t>
            </a:r>
            <a:r>
              <a:rPr sz="1700" b="0">
                <a:solidFill>
                  <a:srgbClr val="242933"/>
                </a:solidFill>
                <a:latin typeface="Calibri"/>
              </a:rPr>
              <a:t>, gust impulse and depth recoverable; cross-stream offset Y is marginal</a:t>
            </a:r>
          </a:p>
          <a:p>
            <a:pPr algn="l">
              <a:spcBef>
                <a:spcPts val="0"/>
              </a:spcBef>
              <a:spcAft>
                <a:spcPts val="900"/>
              </a:spcAft>
            </a:pPr>
            <a:r>
              <a:rPr sz="1700" b="1">
                <a:solidFill>
                  <a:srgbClr val="C05210"/>
                </a:solidFill>
                <a:latin typeface="Calibri"/>
              </a:rPr>
              <a:t>•  </a:t>
            </a:r>
            <a:r>
              <a:rPr sz="1700" b="0">
                <a:solidFill>
                  <a:srgbClr val="242933"/>
                </a:solidFill>
                <a:latin typeface="Calibri"/>
              </a:rPr>
              <a:t>test_c (|G| = 4): negative, the 3D observability boundary of a single mid-plane slice</a:t>
            </a:r>
          </a:p>
        </p:txBody>
      </p:sp>
      <p:pic>
        <p:nvPicPr>
          <p:cNvPr id="7" name="Picture 6" descr="pressure_observability.png"/>
          <p:cNvPicPr>
            <a:picLocks noChangeAspect="1"/>
          </p:cNvPicPr>
          <p:nvPr/>
        </p:nvPicPr>
        <p:blipFill>
          <a:blip r:embed="rId2"/>
          <a:stretch>
            <a:fillRect/>
          </a:stretch>
        </p:blipFill>
        <p:spPr>
          <a:xfrm>
            <a:off x="732480" y="3383280"/>
            <a:ext cx="10696559" cy="2377440"/>
          </a:xfrm>
          <a:prstGeom prst="rect">
            <a:avLst/>
          </a:prstGeom>
        </p:spPr>
      </p:pic>
      <p:sp>
        <p:nvSpPr>
          <p:cNvPr id="8" name="TextBox 7"/>
          <p:cNvSpPr txBox="1"/>
          <p:nvPr/>
        </p:nvSpPr>
        <p:spPr>
          <a:xfrm>
            <a:off x="731520" y="577900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Gust parameters implicit in the latent on held-out cases.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SSIM convention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Reconstruction SSIM uses the </a:t>
            </a:r>
            <a:r>
              <a:rPr sz="1800" b="1">
                <a:solidFill>
                  <a:srgbClr val="1F3864"/>
                </a:solidFill>
                <a:latin typeface="Calibri"/>
              </a:rPr>
              <a:t>Wang convention</a:t>
            </a:r>
            <a:r>
              <a:rPr sz="1800" b="0">
                <a:solidFill>
                  <a:srgbClr val="242933"/>
                </a:solidFill>
                <a:latin typeface="Calibri"/>
              </a:rPr>
              <a:t> (K1 = 0.01, K2 = 0.03) on pipeline-normalised ω</a:t>
            </a:r>
          </a:p>
          <a:p>
            <a:pPr algn="l">
              <a:spcBef>
                <a:spcPts val="0"/>
              </a:spcBef>
              <a:spcAft>
                <a:spcPts val="900"/>
              </a:spcAft>
            </a:pPr>
            <a:r>
              <a:rPr sz="1800" b="1">
                <a:solidFill>
                  <a:srgbClr val="C05210"/>
                </a:solidFill>
                <a:latin typeface="Calibri"/>
              </a:rPr>
              <a:t>•  </a:t>
            </a:r>
            <a:r>
              <a:rPr sz="1800" b="0">
                <a:solidFill>
                  <a:srgbClr val="242933"/>
                </a:solidFill>
                <a:latin typeface="Calibri"/>
              </a:rPr>
              <a:t>Data range </a:t>
            </a:r>
            <a:r>
              <a:rPr sz="1800" b="1">
                <a:solidFill>
                  <a:srgbClr val="1F3864"/>
                </a:solidFill>
                <a:latin typeface="Calibri"/>
              </a:rPr>
              <a:t>L = 2 · global p99.9(|target|) ≈ 8.31</a:t>
            </a:r>
            <a:r>
              <a:rPr sz="1800" b="0">
                <a:solidFill>
                  <a:srgbClr val="242933"/>
                </a:solidFill>
                <a:latin typeface="Calibri"/>
              </a:rPr>
              <a:t> (split v2)</a:t>
            </a:r>
          </a:p>
          <a:p>
            <a:pPr algn="l">
              <a:spcBef>
                <a:spcPts val="0"/>
              </a:spcBef>
              <a:spcAft>
                <a:spcPts val="900"/>
              </a:spcAft>
            </a:pPr>
            <a:r>
              <a:rPr sz="1800" b="1">
                <a:solidFill>
                  <a:srgbClr val="C05210"/>
                </a:solidFill>
                <a:latin typeface="Calibri"/>
              </a:rPr>
              <a:t>•  </a:t>
            </a:r>
            <a:r>
              <a:rPr sz="1800" b="0">
                <a:solidFill>
                  <a:srgbClr val="242933"/>
                </a:solidFill>
                <a:latin typeface="Calibri"/>
              </a:rPr>
              <a:t>Decoder test_a SSIM ≈ </a:t>
            </a:r>
            <a:r>
              <a:rPr sz="1800" b="1">
                <a:solidFill>
                  <a:srgbClr val="1F3864"/>
                </a:solidFill>
                <a:latin typeface="Calibri"/>
              </a:rPr>
              <a:t>0.71</a:t>
            </a:r>
            <a:r>
              <a:rPr sz="1800" b="0">
                <a:solidFill>
                  <a:srgbClr val="242933"/>
                </a:solidFill>
                <a:latin typeface="Calibri"/>
              </a:rPr>
              <a:t> at this convention</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Conditioning-only floor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KRR-RBF on (G, D, Y) → observable at impact; train / test_b / test_c R²</a:t>
            </a:r>
          </a:p>
          <a:p>
            <a:pPr algn="l">
              <a:spcBef>
                <a:spcPts val="0"/>
              </a:spcBef>
              <a:spcAft>
                <a:spcPts val="500"/>
              </a:spcAft>
            </a:pPr>
            <a:r>
              <a:rPr sz="1500" b="0">
                <a:solidFill>
                  <a:srgbClr val="6B7280"/>
                </a:solidFill>
                <a:latin typeface="Calibri"/>
              </a:rPr>
              <a:t>      –  on train, (G, D, Y) interpolates C_L and C_D well (226 points in 3-D)</a:t>
            </a:r>
          </a:p>
          <a:p>
            <a:pPr algn="l">
              <a:spcBef>
                <a:spcPts val="0"/>
              </a:spcBef>
              <a:spcAft>
                <a:spcPts val="900"/>
              </a:spcAft>
            </a:pPr>
            <a:r>
              <a:rPr sz="1800" b="1">
                <a:solidFill>
                  <a:srgbClr val="C05210"/>
                </a:solidFill>
                <a:latin typeface="Calibri"/>
              </a:rPr>
              <a:t>•  </a:t>
            </a:r>
            <a:r>
              <a:rPr sz="1800" b="0">
                <a:solidFill>
                  <a:srgbClr val="242933"/>
                </a:solidFill>
                <a:latin typeface="Calibri"/>
              </a:rPr>
              <a:t>On </a:t>
            </a:r>
            <a:r>
              <a:rPr sz="1800" b="1">
                <a:solidFill>
                  <a:srgbClr val="1F3864"/>
                </a:solidFill>
                <a:latin typeface="Calibri"/>
              </a:rPr>
              <a:t>test_b</a:t>
            </a:r>
            <a:r>
              <a:rPr sz="1800" b="0">
                <a:solidFill>
                  <a:srgbClr val="242933"/>
                </a:solidFill>
                <a:latin typeface="Calibri"/>
              </a:rPr>
              <a:t> the floor </a:t>
            </a:r>
            <a:r>
              <a:rPr sz="1800" b="1">
                <a:solidFill>
                  <a:srgbClr val="1F3864"/>
                </a:solidFill>
                <a:latin typeface="Calibri"/>
              </a:rPr>
              <a:t>collapses</a:t>
            </a:r>
            <a:r>
              <a:rPr sz="1800" b="0">
                <a:solidFill>
                  <a:srgbClr val="242933"/>
                </a:solidFill>
                <a:latin typeface="Calibri"/>
              </a:rPr>
              <a:t> across observables; on </a:t>
            </a:r>
            <a:r>
              <a:rPr sz="1800" b="1">
                <a:solidFill>
                  <a:srgbClr val="1F3864"/>
                </a:solidFill>
                <a:latin typeface="Calibri"/>
              </a:rPr>
              <a:t>test_c</a:t>
            </a:r>
            <a:r>
              <a:rPr sz="1800" b="0">
                <a:solidFill>
                  <a:srgbClr val="242933"/>
                </a:solidFill>
                <a:latin typeface="Calibri"/>
              </a:rPr>
              <a:t> it is negative for 5 of 6</a:t>
            </a:r>
          </a:p>
          <a:p>
            <a:pPr algn="l">
              <a:spcBef>
                <a:spcPts val="0"/>
              </a:spcBef>
              <a:spcAft>
                <a:spcPts val="900"/>
              </a:spcAft>
            </a:pPr>
            <a:r>
              <a:rPr sz="1800" b="1">
                <a:solidFill>
                  <a:srgbClr val="C05210"/>
                </a:solidFill>
                <a:latin typeface="Calibri"/>
              </a:rPr>
              <a:t>•  </a:t>
            </a:r>
            <a:r>
              <a:rPr sz="1800" b="0">
                <a:solidFill>
                  <a:srgbClr val="242933"/>
                </a:solidFill>
                <a:latin typeface="Calibri"/>
              </a:rPr>
              <a:t>→ JEPA's generalisation is </a:t>
            </a:r>
            <a:r>
              <a:rPr sz="1800" b="1">
                <a:solidFill>
                  <a:srgbClr val="1F3864"/>
                </a:solidFill>
                <a:latin typeface="Calibri"/>
              </a:rPr>
              <a:t>not</a:t>
            </a:r>
            <a:r>
              <a:rPr sz="1800" b="0">
                <a:solidFill>
                  <a:srgbClr val="242933"/>
                </a:solidFill>
                <a:latin typeface="Calibri"/>
              </a:rPr>
              <a:t> explained by the conditioning alone</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Model detail: encoder and predictor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897880" cy="4572000"/>
          </a:xfrm>
          <a:prstGeom prst="rect">
            <a:avLst/>
          </a:prstGeom>
          <a:noFill/>
        </p:spPr>
        <p:txBody>
          <a:bodyPr wrap="square" anchor="t" lIns="0" rIns="0" tIns="0" bIns="0">
            <a:spAutoFit/>
          </a:bodyPr>
          <a:lstStyle/>
          <a:p>
            <a:pPr algn="l">
              <a:spcBef>
                <a:spcPts val="0"/>
              </a:spcBef>
              <a:spcAft>
                <a:spcPts val="900"/>
              </a:spcAft>
            </a:pPr>
            <a:r>
              <a:rPr sz="1250" b="1">
                <a:solidFill>
                  <a:srgbClr val="C05210"/>
                </a:solidFill>
                <a:latin typeface="Calibri"/>
              </a:rPr>
              <a:t>•  </a:t>
            </a:r>
            <a:r>
              <a:rPr sz="1250" b="1">
                <a:solidFill>
                  <a:srgbClr val="1F3864"/>
                </a:solidFill>
                <a:latin typeface="Calibri"/>
              </a:rPr>
              <a:t>Encoder</a:t>
            </a:r>
            <a:r>
              <a:rPr sz="1250" b="0">
                <a:solidFill>
                  <a:srgbClr val="242933"/>
                </a:solidFill>
                <a:latin typeface="Calibri"/>
              </a:rPr>
              <a:t> = a CNN stem (3 down-sampling stages) + a 6-layer Vision Transformer; the field becomes 288 patch tokens, and a learned [CLS] token is mapped by a small MLP (with BatchNorm) to the latent z (d = 32 / 64)</a:t>
            </a:r>
          </a:p>
          <a:p>
            <a:pPr algn="l">
              <a:spcBef>
                <a:spcPts val="0"/>
              </a:spcBef>
              <a:spcAft>
                <a:spcPts val="900"/>
              </a:spcAft>
            </a:pPr>
            <a:r>
              <a:rPr sz="1250" b="1">
                <a:solidFill>
                  <a:srgbClr val="C05210"/>
                </a:solidFill>
                <a:latin typeface="Calibri"/>
              </a:rPr>
              <a:t>•  </a:t>
            </a:r>
            <a:r>
              <a:rPr sz="1250" b="1">
                <a:solidFill>
                  <a:srgbClr val="1F3864"/>
                </a:solidFill>
                <a:latin typeface="Calibri"/>
              </a:rPr>
              <a:t>Predictor</a:t>
            </a:r>
            <a:r>
              <a:rPr sz="1250" b="0">
                <a:solidFill>
                  <a:srgbClr val="242933"/>
                </a:solidFill>
                <a:latin typeface="Calibri"/>
              </a:rPr>
              <a:t> = a 6-layer autoregressive transformer (hidden 384, 16 heads, dropout 0.1): it reads z(t) and emits the next latent z(t+1)</a:t>
            </a:r>
          </a:p>
          <a:p>
            <a:pPr algn="l">
              <a:spcBef>
                <a:spcPts val="0"/>
              </a:spcBef>
              <a:spcAft>
                <a:spcPts val="900"/>
              </a:spcAft>
            </a:pPr>
            <a:r>
              <a:rPr sz="1250" b="1">
                <a:solidFill>
                  <a:srgbClr val="C05210"/>
                </a:solidFill>
                <a:latin typeface="Calibri"/>
              </a:rPr>
              <a:t>•  </a:t>
            </a:r>
            <a:r>
              <a:rPr sz="1250" b="1">
                <a:solidFill>
                  <a:srgbClr val="1F3864"/>
                </a:solidFill>
                <a:latin typeface="Calibri"/>
              </a:rPr>
              <a:t>Causal mask:</a:t>
            </a:r>
            <a:r>
              <a:rPr sz="1250" b="0">
                <a:solidFill>
                  <a:srgbClr val="242933"/>
                </a:solidFill>
                <a:latin typeface="Calibri"/>
              </a:rPr>
              <a:t> each step sees only past steps, never the future; </a:t>
            </a:r>
            <a:r>
              <a:rPr sz="1250" b="1">
                <a:solidFill>
                  <a:srgbClr val="1F3864"/>
                </a:solidFill>
                <a:latin typeface="Calibri"/>
              </a:rPr>
              <a:t>RoPE</a:t>
            </a:r>
            <a:r>
              <a:rPr sz="1250" b="0">
                <a:solidFill>
                  <a:srgbClr val="242933"/>
                </a:solidFill>
                <a:latin typeface="Calibri"/>
              </a:rPr>
              <a:t> encodes the frame ordering so the transformer knows what is earlier or later</a:t>
            </a:r>
          </a:p>
          <a:p>
            <a:pPr algn="l">
              <a:spcBef>
                <a:spcPts val="0"/>
              </a:spcBef>
              <a:spcAft>
                <a:spcPts val="900"/>
              </a:spcAft>
            </a:pPr>
            <a:r>
              <a:rPr sz="1250" b="1">
                <a:solidFill>
                  <a:srgbClr val="C05210"/>
                </a:solidFill>
                <a:latin typeface="Calibri"/>
              </a:rPr>
              <a:t>•  </a:t>
            </a:r>
            <a:r>
              <a:rPr sz="1250" b="1">
                <a:solidFill>
                  <a:srgbClr val="1F3864"/>
                </a:solidFill>
                <a:latin typeface="Calibri"/>
              </a:rPr>
              <a:t>AdaLN-Zero:</a:t>
            </a:r>
            <a:r>
              <a:rPr sz="1250" b="0">
                <a:solidFill>
                  <a:srgbClr val="242933"/>
                </a:solidFill>
                <a:latin typeface="Calibri"/>
              </a:rPr>
              <a:t> how the gust (G, D, Y) and shedding phase φ enter, they rescale the transformer's internal normalisation, initialised to do nothing so they perturb training gently</a:t>
            </a:r>
          </a:p>
          <a:p>
            <a:pPr algn="l">
              <a:spcBef>
                <a:spcPts val="0"/>
              </a:spcBef>
              <a:spcAft>
                <a:spcPts val="900"/>
              </a:spcAft>
            </a:pPr>
            <a:r>
              <a:rPr sz="1250" b="1">
                <a:solidFill>
                  <a:srgbClr val="C05210"/>
                </a:solidFill>
                <a:latin typeface="Calibri"/>
              </a:rPr>
              <a:t>•  </a:t>
            </a:r>
            <a:r>
              <a:rPr sz="1250" b="1">
                <a:solidFill>
                  <a:srgbClr val="1F3864"/>
                </a:solidFill>
                <a:latin typeface="Calibri"/>
              </a:rPr>
              <a:t>Training:</a:t>
            </a:r>
            <a:r>
              <a:rPr sz="1250" b="0">
                <a:solidFill>
                  <a:srgbClr val="242933"/>
                </a:solidFill>
                <a:latin typeface="Calibri"/>
              </a:rPr>
              <a:t> match the next latent (teacher forcing) + </a:t>
            </a:r>
            <a:r>
              <a:rPr sz="1250" b="1">
                <a:solidFill>
                  <a:srgbClr val="1F3864"/>
                </a:solidFill>
                <a:latin typeface="Calibri"/>
              </a:rPr>
              <a:t>scheduled sampling</a:t>
            </a:r>
            <a:r>
              <a:rPr sz="1250" b="0">
                <a:solidFill>
                  <a:srgbClr val="242933"/>
                </a:solidFill>
                <a:latin typeface="Calibri"/>
              </a:rPr>
              <a:t> (feed the model its own predictions over an 8-step rollout, so it tolerates its own errors) + </a:t>
            </a:r>
            <a:r>
              <a:rPr sz="1250" b="1">
                <a:solidFill>
                  <a:srgbClr val="1F3864"/>
                </a:solidFill>
                <a:latin typeface="Calibri"/>
              </a:rPr>
              <a:t>SIGReg</a:t>
            </a:r>
            <a:r>
              <a:rPr sz="1250" b="0">
                <a:solidFill>
                  <a:srgbClr val="242933"/>
                </a:solidFill>
                <a:latin typeface="Calibri"/>
              </a:rPr>
              <a:t> anti-collapse (keeps z informative without a decoder); AdamW, bf16, 80k steps</a:t>
            </a:r>
          </a:p>
        </p:txBody>
      </p:sp>
      <p:pic>
        <p:nvPicPr>
          <p:cNvPr id="7" name="Picture 6" descr="predictor_detail.png"/>
          <p:cNvPicPr>
            <a:picLocks noChangeAspect="1"/>
          </p:cNvPicPr>
          <p:nvPr/>
        </p:nvPicPr>
        <p:blipFill>
          <a:blip r:embed="rId2"/>
          <a:stretch>
            <a:fillRect/>
          </a:stretch>
        </p:blipFill>
        <p:spPr>
          <a:xfrm>
            <a:off x="6782251" y="1664208"/>
            <a:ext cx="4906376" cy="4389120"/>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Phase–amplitude reading</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44652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Phase–amplitude decomposition of the encounter cycle in the predictive latent</a:t>
            </a:r>
          </a:p>
          <a:p>
            <a:pPr algn="l">
              <a:spcBef>
                <a:spcPts val="0"/>
              </a:spcBef>
              <a:spcAft>
                <a:spcPts val="900"/>
              </a:spcAft>
            </a:pPr>
            <a:r>
              <a:rPr sz="1700" b="1">
                <a:solidFill>
                  <a:srgbClr val="C05210"/>
                </a:solidFill>
                <a:latin typeface="Calibri"/>
              </a:rPr>
              <a:t>•  </a:t>
            </a:r>
            <a:r>
              <a:rPr sz="1700" b="0">
                <a:solidFill>
                  <a:srgbClr val="242933"/>
                </a:solidFill>
                <a:latin typeface="Calibri"/>
              </a:rPr>
              <a:t>Connects the predictor to the </a:t>
            </a:r>
            <a:r>
              <a:rPr sz="1700" b="1">
                <a:solidFill>
                  <a:srgbClr val="1F3864"/>
                </a:solidFill>
                <a:latin typeface="Calibri"/>
              </a:rPr>
              <a:t>sensitivity-function control</a:t>
            </a:r>
            <a:r>
              <a:rPr sz="1700" b="0">
                <a:solidFill>
                  <a:srgbClr val="242933"/>
                </a:solidFill>
                <a:latin typeface="Calibri"/>
              </a:rPr>
              <a:t> designed for these flows</a:t>
            </a:r>
          </a:p>
          <a:p>
            <a:pPr algn="l">
              <a:spcBef>
                <a:spcPts val="0"/>
              </a:spcBef>
              <a:spcAft>
                <a:spcPts val="900"/>
              </a:spcAft>
            </a:pPr>
            <a:r>
              <a:rPr sz="1700" b="1">
                <a:solidFill>
                  <a:srgbClr val="C05210"/>
                </a:solidFill>
                <a:latin typeface="Calibri"/>
              </a:rPr>
              <a:t>•  </a:t>
            </a:r>
            <a:r>
              <a:rPr sz="1700" b="0">
                <a:solidFill>
                  <a:srgbClr val="242933"/>
                </a:solidFill>
                <a:latin typeface="Calibri"/>
              </a:rPr>
              <a:t>An actuation channel would enter where the gust does, the predictor conditioning</a:t>
            </a:r>
          </a:p>
        </p:txBody>
      </p:sp>
      <p:pic>
        <p:nvPicPr>
          <p:cNvPr id="7" name="Picture 6" descr="phase_amplitude.png"/>
          <p:cNvPicPr>
            <a:picLocks noChangeAspect="1"/>
          </p:cNvPicPr>
          <p:nvPr/>
        </p:nvPicPr>
        <p:blipFill>
          <a:blip r:embed="rId2"/>
          <a:stretch>
            <a:fillRect/>
          </a:stretch>
        </p:blipFill>
        <p:spPr>
          <a:xfrm>
            <a:off x="7223760" y="1664208"/>
            <a:ext cx="4572000" cy="3627983"/>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