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Pitch to a control audience: the bottleneck for model-based control / RL in this regime is a reduced dynamics model that stays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scale split and why: isolate the load-bearing large-scale wake. Top triptych is the strongest test_b gust (G=-3, D=1.5, Y=-0.1); bands are mean +/- 1 s.d. over test_b encounters. These are reconstructions (encode-then-decode); the forecast comes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Closure = the rolled-out latent still lets you read off the physical observables. This is exactly the property a planner or RL agent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Conditioning split is deliberate: encoder = pure state map; the gust enters the dynamics. For control, an actuation channel would enter where the gust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The conditioning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Headline. Wake enstrophy is where the predictive latent wins; forces are easy for every family. State the two unfamiliar observables and the per-observable-units point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Closure tightens at the shorter horizon, but the family separation persists.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four frames out, the family separation holds on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forecast: same encounter, decoded with the frozen LapFiLM visualisation decoder (never part of the JEPA loss). Reconstruction is the representational ceiling; prediction is the rolled latent decoded.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latent organises coordinates by physical function.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R2 here is probe-on-rolled-latent, not a direct predictor of the observables.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obvious question: you do NOT see a fully-closed loop in PCA (it departs and partially returns). The single-cycle is a persistent-homology statement. Snapshots are encode-then-decode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non-standard metric. Be precise: we claim order-preservation of transport distances, not a metric isometry.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16 TCSI taps -&gt; MLP -&gt; latent -&gt; frozen decoder, applied frame by frame.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hook: the predictive latent gives both a sensor-observable state and a useful pre-impact forecast, the two ingredients a controller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one-sentence message: predictive + wake supervision buys a compact, trustworthy-under-rollout, observable latent dynamics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forward to the RL half of the colloquium: this is the world-model substrate; closing the loop is the natural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jp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6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6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6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6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600" b="0">
                <a:solidFill>
                  <a:srgbClr val="242933"/>
                </a:solidFill>
                <a:latin typeface="Calibri"/>
              </a:rPr>
              <a:t> of the flow: a learned reduced dynamics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This talk: </a:t>
            </a:r>
            <a:r>
              <a:rPr sz="1600" b="1">
                <a:solidFill>
                  <a:srgbClr val="1F3864"/>
                </a:solidFill>
                <a:latin typeface="Calibri"/>
              </a:rPr>
              <a:t>what reduced state is worth planning against?</a:t>
            </a:r>
          </a:p>
        </p:txBody>
      </p:sp>
      <p:pic>
        <p:nvPicPr>
          <p:cNvPr id="7" name="Picture 6" descr="graphical_abstract_t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699" y="3566160"/>
            <a:ext cx="6166121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819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Top: encode-then-decode reconstruction of the field 16 frames after impact (case G = -3, d = 64); the predictive latent keeps the wake. Bars: held-out test_b forecast closure (predictor rollout, H = 16).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PHYSICS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Why it is hard: it is the wake, not just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the wake it leaves; the discriminating information is in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wake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large-scale part u_L (the LEV and shear layer that carry the lift) and a fine part u_S, then track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 to see which reduced state keeps that load-bearing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strongest test gust</a:t>
            </a:r>
            <a:r>
              <a:rPr sz="1400" b="0">
                <a:solidFill>
                  <a:srgbClr val="242933"/>
                </a:solidFill>
                <a:latin typeface="Calibri"/>
              </a:rPr>
              <a:t> (G = -3, D = 1.5, Y = -0.1): simulation vs the predictive and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reconstructions</a:t>
            </a:r>
            <a:r>
              <a:rPr sz="1400" b="0">
                <a:solidFill>
                  <a:srgbClr val="242933"/>
                </a:solidFill>
                <a:latin typeface="Calibri"/>
              </a:rPr>
              <a:t> (defined shortly); predictive keeps the LEV/wake, reconstructive smooths it away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Bands = </a:t>
            </a:r>
            <a:r>
              <a:rPr sz="1400" b="1">
                <a:solidFill>
                  <a:srgbClr val="1F3864"/>
                </a:solidFill>
                <a:latin typeface="Calibri"/>
              </a:rPr>
              <a:t>mean ± 1 s.d. across the test_b encounters</a:t>
            </a:r>
            <a:r>
              <a:rPr sz="1400" b="0">
                <a:solidFill>
                  <a:srgbClr val="242933"/>
                </a:solidFill>
                <a:latin typeface="Calibri"/>
              </a:rPr>
              <a:t> (encounter spread, not a confidence interval)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stays physically closed when propagated forward,
so that every observable remains recoverable along the rollout?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468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DNS</a:t>
            </a:r>
            <a:r>
              <a:rPr sz="17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7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700" b="1">
                <a:solidFill>
                  <a:srgbClr val="1F3864"/>
                </a:solidFill>
                <a:latin typeface="Calibri"/>
              </a:rPr>
              <a:t>G</a:t>
            </a:r>
            <a:r>
              <a:rPr sz="17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700" b="1">
                <a:solidFill>
                  <a:srgbClr val="1F3864"/>
                </a:solidFill>
                <a:latin typeface="Calibri"/>
              </a:rPr>
              <a:t>D</a:t>
            </a:r>
            <a:r>
              <a:rPr sz="17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700" b="1">
                <a:solidFill>
                  <a:srgbClr val="1F3864"/>
                </a:solidFill>
                <a:latin typeface="Calibri"/>
              </a:rPr>
              <a:t>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84 cases; impact-centred encounters; six observables: C_L, C_D, impulse I_y, </a:t>
            </a:r>
            <a:r>
              <a:rPr sz="17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7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7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7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7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974" y="4160520"/>
            <a:ext cx="4707571" cy="1965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1447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Y); held-out interpolation and extrapolation.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unconditional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3401568"/>
            <a:ext cx="1783080" cy="603504"/>
          </a:xfrm>
          <a:prstGeom prst="roundRect">
            <a:avLst/>
          </a:prstGeom>
          <a:solidFill>
            <a:srgbClr val="FDF0D9"/>
          </a:solidFill>
          <a:ln w="19050">
            <a:solidFill>
              <a:srgbClr val="C05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gust c = (G, D, Y)</a:t>
            </a:r>
          </a:p>
        </p:txBody>
      </p:sp>
      <p:sp>
        <p:nvSpPr>
          <p:cNvPr id="16" name="Up Arrow 15"/>
          <p:cNvSpPr/>
          <p:nvPr/>
        </p:nvSpPr>
        <p:spPr>
          <a:xfrm>
            <a:off x="7178040" y="2724912"/>
            <a:ext cx="320040" cy="640080"/>
          </a:xfrm>
          <a:prstGeom prst="upArrow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2958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enters the predictor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 is unconditional</a:t>
            </a:r>
            <a:r>
              <a:rPr sz="1500" b="0">
                <a:solidFill>
                  <a:srgbClr val="242933"/>
                </a:solidFill>
                <a:latin typeface="Calibri"/>
              </a:rPr>
              <a:t>: a pure state map ω(t) → z; the gust never touches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gust </a:t>
            </a:r>
            <a:r>
              <a:rPr sz="1500" b="1">
                <a:solidFill>
                  <a:srgbClr val="1F3864"/>
                </a:solidFill>
                <a:latin typeface="Calibri"/>
              </a:rPr>
              <a:t>c = (G, D, Y) enters the predictor only</a:t>
            </a:r>
            <a:r>
              <a:rPr sz="1500" b="0">
                <a:solidFill>
                  <a:srgbClr val="242933"/>
                </a:solidFill>
                <a:latin typeface="Calibri"/>
              </a:rPr>
              <a:t> (AdaLN); 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informative); the gust c = (G, D, Y) enters the predictor only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Forward-closure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closure: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frames after impact, then probe each observable from the predicted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KRR on (G, D, Y) alone, the latent must beat it to prove the state, not the parameters, does the work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predictor and probe map every encoder family to the observables, in two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forward 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537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Closure R² (rolled-out latent to observable, mean over six): </a:t>
            </a:r>
            <a:r>
              <a:rPr sz="1600" b="1">
                <a:solidFill>
                  <a:srgbClr val="1F3864"/>
                </a:solidFill>
                <a:latin typeface="Calibri"/>
              </a:rPr>
              <a:t>JEPA 0.84 · Fukami 0.43 · POD 0.56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is the discriminator: </a:t>
            </a:r>
            <a:r>
              <a:rPr sz="1600" b="1">
                <a:solidFill>
                  <a:srgbClr val="1F3864"/>
                </a:solidFill>
                <a:latin typeface="Calibri"/>
              </a:rPr>
              <a:t>0.93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0.28 / 0.37; held-out MAE </a:t>
            </a:r>
            <a:r>
              <a:rPr sz="1600" b="1">
                <a:solidFill>
                  <a:srgbClr val="1F3864"/>
                </a:solidFill>
                <a:latin typeface="Calibri"/>
              </a:rPr>
              <a:t>2.4 to 3× lower</a:t>
            </a:r>
            <a:r>
              <a:rPr sz="1600" b="0">
                <a:solidFill>
                  <a:srgbClr val="242933"/>
                </a:solidFill>
                <a:latin typeface="Calibri"/>
              </a:rPr>
              <a:t>. POD competes only on the impulse I_y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E_w: integral of ω_z² over the wake region (x/c in [0.5, 4], |y/c| ≤ 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Impulse</a:t>
            </a:r>
            <a:r>
              <a:rPr sz="1600" b="0">
                <a:solidFill>
                  <a:srgbClr val="242933"/>
                </a:solidFill>
                <a:latin typeface="Calibri"/>
              </a:rPr>
              <a:t> I_y: integral of x·ω_z over the slice, a wake-transport diagnostic, not the impulse-theorem lift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Each panel's MAE is in that observable's own units; R² is the cross-observable comparison</a:t>
            </a:r>
          </a:p>
        </p:txBody>
      </p:sp>
      <p:pic>
        <p:nvPicPr>
          <p:cNvPr id="7" name="Picture 6" descr="closure_H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64208"/>
            <a:ext cx="4480560" cy="35090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6108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16 by observable (test B top, test C bottom); each observable in its own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same comparison, 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8</a:t>
            </a:r>
            <a:r>
              <a:rPr sz="1600" b="0">
                <a:solidFill>
                  <a:srgbClr val="242933"/>
                </a:solidFill>
                <a:latin typeface="Calibri"/>
              </a:rPr>
              <a:t> instead of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family ordering is unchanged: the predictive latent is lowest on the wake, near the DNS-oracle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Absolute errors are smaller at the shorter horizon: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30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JEPA, vs ≈ 41 at H = 16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and POD stay well above the floor on the wake</a:t>
            </a:r>
          </a:p>
        </p:txBody>
      </p:sp>
      <p:pic>
        <p:nvPicPr>
          <p:cNvPr id="7" name="Picture 6" descr="closure_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399" y="1664208"/>
            <a:ext cx="554176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8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at shorter horizons: H =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321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Rolled out to </a:t>
            </a:r>
            <a:r>
              <a:rPr sz="1600" b="1">
                <a:solidFill>
                  <a:srgbClr val="1F3864"/>
                </a:solidFill>
                <a:latin typeface="Calibri"/>
              </a:rPr>
              <a:t>H = 4</a:t>
            </a:r>
            <a:r>
              <a:rPr sz="1600" b="0">
                <a:solidFill>
                  <a:srgbClr val="242933"/>
                </a:solidFill>
                <a:latin typeface="Calibri"/>
              </a:rPr>
              <a:t>, four frames after impact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latent is still lowest on the wake enstrophy and closest to the oracle floor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Errors shrink further: wake-enstrophy MAE ≈ </a:t>
            </a:r>
            <a:r>
              <a:rPr sz="1600" b="1">
                <a:solidFill>
                  <a:srgbClr val="1F3864"/>
                </a:solidFill>
                <a:latin typeface="Calibri"/>
              </a:rPr>
              <a:t>27</a:t>
            </a:r>
            <a:r>
              <a:rPr sz="1600" b="0">
                <a:solidFill>
                  <a:srgbClr val="242933"/>
                </a:solidFill>
                <a:latin typeface="Calibri"/>
              </a:rPr>
              <a:t> for JEPA; the wake stays the discriminating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advantage holds at </a:t>
            </a:r>
            <a:r>
              <a:rPr sz="1600" b="1">
                <a:solidFill>
                  <a:srgbClr val="1F3864"/>
                </a:solidFill>
                <a:latin typeface="Calibri"/>
              </a:rPr>
              <a:t>every horizon we test</a:t>
            </a:r>
            <a:r>
              <a:rPr sz="1600" b="0">
                <a:solidFill>
                  <a:srgbClr val="242933"/>
                </a:solidFill>
                <a:latin typeface="Calibri"/>
              </a:rPr>
              <a:t>, not only H = 16</a:t>
            </a:r>
          </a:p>
        </p:txBody>
      </p:sp>
      <p:pic>
        <p:nvPicPr>
          <p:cNvPr id="7" name="Picture 6" descr="closure_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916" y="1664208"/>
            <a:ext cx="552472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108192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MAE at H = 4 by observable (test B top, test C bottom).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Forward closure in action: the rollout tracks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-1.5), not the hardest case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forecast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forecast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(encoded latent) vs prediction (rolled latent), G = -1.5 encounter. SSIM(prediction) = 0.77 at impact, 0.53 at H = 16. The latent keeps the leading-edge vortex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forecast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carry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wake-forecast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(rank corr 0.83; best single coordinate 0.44)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conditioning-only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forecast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predictive-latent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(G1, G2)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(G3); two near-silent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forecast the future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0.83),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wake-forecast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reconstructive rollout drifts </a:t>
            </a:r>
            <a:r>
              <a:rPr sz="1400" b="1">
                <a:solidFill>
                  <a:srgbClr val="1F3864"/>
                </a:solidFill>
                <a:latin typeface="Calibri"/>
              </a:rPr>
              <a:t>~10× off-manifold (9.9)</a:t>
            </a:r>
            <a:r>
              <a:rPr sz="1400" b="0">
                <a:solidFill>
                  <a:srgbClr val="242933"/>
                </a:solidFill>
                <a:latin typeface="Calibri"/>
              </a:rPr>
              <a:t>; JEPA 0.85 and POD 0.81 stay inside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The R² in the plot is </a:t>
            </a:r>
            <a:r>
              <a:rPr sz="1400" b="1">
                <a:solidFill>
                  <a:srgbClr val="1F3864"/>
                </a:solidFill>
                <a:latin typeface="Calibri"/>
              </a:rPr>
              <a:t>forward closure via a probe</a:t>
            </a:r>
            <a:r>
              <a:rPr sz="1400" b="0">
                <a:solidFill>
                  <a:srgbClr val="242933"/>
                </a:solidFill>
                <a:latin typeface="Calibri"/>
              </a:rPr>
              <a:t>: the predictor advances only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400" b="0">
                <a:solidFill>
                  <a:srgbClr val="242933"/>
                </a:solidFill>
                <a:latin typeface="Calibri"/>
              </a:rPr>
              <a:t>, and a fixed linear probe reads each observable off the rolled-out latent (no direct predictor of C_L or the wake)</a:t>
            </a:r>
          </a:p>
        </p:txBody>
      </p:sp>
      <p:pic>
        <p:nvPicPr>
          <p:cNvPr id="7" name="Picture 6" descr="horizon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Forward-closure R² vs rollout horizon (test_b): the predictor advances the latent; a linear probe reads each observable off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preserve that cyclic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counts loops (1-cycles) and how long they persist as a scale grows;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long-lived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 = clean loop, many short-lived = fragmentation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predictive latent has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persistent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latent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*topological* statement,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that the PCA curve visually closes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Panels use </a:t>
            </a:r>
            <a:r>
              <a:rPr sz="1400" b="1">
                <a:solidFill>
                  <a:srgbClr val="1F3864"/>
                </a:solidFill>
                <a:latin typeface="Calibri"/>
              </a:rPr>
              <a:t>encoded latents + the decoder, no predictor</a:t>
            </a:r>
            <a:r>
              <a:rPr sz="1400" b="0">
                <a:solidFill>
                  <a:srgbClr val="242933"/>
                </a:solidFill>
                <a:latin typeface="Calibri"/>
              </a:rPr>
              <a:t>: in (PC1, PC2) the orbit </a:t>
            </a:r>
            <a:r>
              <a:rPr sz="1400" b="1">
                <a:solidFill>
                  <a:srgbClr val="1F3864"/>
                </a:solidFill>
                <a:latin typeface="Calibri"/>
              </a:rPr>
              <a:t>departs the baseline cycle and only partially returns</a:t>
            </a:r>
            <a:r>
              <a:rPr sz="1400" b="0">
                <a:solidFill>
                  <a:srgbClr val="242933"/>
                </a:solidFill>
                <a:latin typeface="Calibri"/>
              </a:rPr>
              <a:t> within the 120-frame window; the staged snapshots are reconstructions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571" y="1664208"/>
            <a:ext cx="460149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The single-cycle is established by persistent homology; the orbit need not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3: transport geometry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Why:</a:t>
            </a:r>
            <a:r>
              <a:rPr sz="16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6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6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Optimal-transport (OT) distance:</a:t>
            </a:r>
            <a:r>
              <a:rPr sz="1600" b="0">
                <a:solidFill>
                  <a:srgbClr val="242933"/>
                </a:solidFill>
                <a:latin typeface="Calibri"/>
              </a:rPr>
              <a:t> the least cost to rearrange one vorticity field into another, sensitive to transport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We Spearman-correlate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OT</a:t>
            </a:r>
            <a:r>
              <a:rPr sz="1600" b="0">
                <a:solidFill>
                  <a:srgbClr val="242933"/>
                </a:solidFill>
                <a:latin typeface="Calibri"/>
              </a:rPr>
              <a:t> distance matrix along each encounter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600" b="0">
                <a:solidFill>
                  <a:srgbClr val="242933"/>
                </a:solidFill>
                <a:latin typeface="Calibri"/>
              </a:rPr>
              <a:t> JEPA </a:t>
            </a:r>
            <a:r>
              <a:rPr sz="1600" b="1">
                <a:solidFill>
                  <a:srgbClr val="1F3864"/>
                </a:solidFill>
                <a:latin typeface="Calibri"/>
              </a:rPr>
              <a:t>0.63</a:t>
            </a:r>
            <a:r>
              <a:rPr sz="1600" b="0">
                <a:solidFill>
                  <a:srgbClr val="242933"/>
                </a:solidFill>
                <a:latin typeface="Calibri"/>
              </a:rPr>
              <a:t> vs Fukami 0.45, order-preservation, not an isometry; latent steps mean physically sensible field changes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309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Latent vs OT distance alignment (per-encounter Shepard).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Estimate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predictive latent from K wall-pressure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(TCSI placement, kernel ridge), then </a:t>
            </a:r>
            <a:r>
              <a:rPr sz="1600" b="1">
                <a:solidFill>
                  <a:srgbClr val="1F3864"/>
                </a:solidFill>
                <a:latin typeface="Calibri"/>
              </a:rPr>
              <a:t>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it to a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No predictor here: a per-frame map from 16 wall-pressure taps to the latent, decoded to a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16 TCSI taps) vs the field recovered from wall pressure alone, on a held-out encounter. Held-out-encounter latent R-squared = 0.72, SSIM ~ 0.5.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and forecastable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from sparse wall pressure</a:t>
            </a:r>
            <a:r>
              <a:rPr sz="1600" b="0">
                <a:solidFill>
                  <a:srgbClr val="242933"/>
                </a:solidFill>
                <a:latin typeface="Calibri"/>
              </a:rPr>
              <a:t>: (G, D) recoverable from the latent (R² ≈ 0.46 / 0.80 on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Lead-time impact-C_L:</a:t>
            </a:r>
            <a:r>
              <a:rPr sz="1600" b="0">
                <a:solidFill>
                  <a:srgbClr val="242933"/>
                </a:solidFill>
                <a:latin typeface="Calibri"/>
              </a:rPr>
              <a:t> predictor-in-loop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= 0.35 at 10 frames pre-impact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, vs 0.13 from direct pressure sensing (oracle 0.68)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The reconstructive latent's oracle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negative</a:t>
            </a:r>
            <a:r>
              <a:rPr sz="1600" b="0">
                <a:solidFill>
                  <a:srgbClr val="242933"/>
                </a:solidFill>
                <a:latin typeface="Calibri"/>
              </a:rPr>
              <a:t>, a representation failure, not a probe failure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A deployment-relevant </a:t>
            </a:r>
            <a:r>
              <a:rPr sz="1600" b="1">
                <a:solidFill>
                  <a:srgbClr val="1F3864"/>
                </a:solidFill>
                <a:latin typeface="Calibri"/>
              </a:rPr>
              <a:t>state estimate plus short-horizon forecast</a:t>
            </a:r>
            <a:r>
              <a:rPr sz="1600" b="0">
                <a:solidFill>
                  <a:srgbClr val="242933"/>
                </a:solidFill>
                <a:latin typeface="Calibri"/>
              </a:rPr>
              <a:t>: the ingredients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921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Impact-C_L inferred at each lead time before impact (test_b R²): oracle = probe on the DNS-encoded latent; direct = pressure sensors to C_L; predictor-in-loop = roll the latent to impact, then probe.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objective + wake supervision</a:t>
            </a:r>
            <a:r>
              <a:rPr sz="1800" b="0">
                <a:solidFill>
                  <a:srgbClr val="242933"/>
                </a:solidFill>
                <a:latin typeface="Calibri"/>
              </a:rPr>
              <a:t> yields a latent dynamics model that is: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forward-closed</a:t>
            </a:r>
            <a:r>
              <a:rPr sz="1500" b="0">
                <a:solidFill>
                  <a:srgbClr val="6B7280"/>
                </a:solidFill>
                <a:latin typeface="Calibri"/>
              </a:rPr>
              <a:t> (wake R² 0.75 representational / 0.84 mean), </a:t>
            </a:r>
            <a:r>
              <a:rPr sz="1500" b="1">
                <a:solidFill>
                  <a:srgbClr val="1F3864"/>
                </a:solidFill>
                <a:latin typeface="Calibri"/>
              </a:rPr>
              <a:t>on-manifold</a:t>
            </a:r>
            <a:r>
              <a:rPr sz="1500" b="0">
                <a:solidFill>
                  <a:srgbClr val="6B7280"/>
                </a:solidFill>
                <a:latin typeface="Calibri"/>
              </a:rPr>
              <a:t> under rollout, a </a:t>
            </a:r>
            <a:r>
              <a:rPr sz="1500" b="1">
                <a:solidFill>
                  <a:srgbClr val="1F3864"/>
                </a:solidFill>
                <a:latin typeface="Calibri"/>
              </a:rPr>
              <a:t>single cycle</a:t>
            </a:r>
            <a:r>
              <a:rPr sz="1500" b="0">
                <a:solidFill>
                  <a:srgbClr val="6B7280"/>
                </a:solidFill>
                <a:latin typeface="Calibri"/>
              </a:rPr>
              <a:t>, </a:t>
            </a:r>
            <a:r>
              <a:rPr sz="1500" b="1">
                <a:solidFill>
                  <a:srgbClr val="1F3864"/>
                </a:solidFill>
                <a:latin typeface="Calibri"/>
              </a:rPr>
              <a:t>transport-aligned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, d = 32 ≈ d = 64, participation ratio ≈ 1.7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observable</a:t>
            </a:r>
            <a:r>
              <a:rPr sz="1500" b="0">
                <a:solidFill>
                  <a:srgbClr val="6B7280"/>
                </a:solidFill>
                <a:latin typeface="Calibri"/>
              </a:rPr>
              <a:t> from sparse wall pressure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conditional forward-closure model</a:t>
            </a:r>
            <a:r>
              <a:rPr sz="1800" b="0">
                <a:solidFill>
                  <a:srgbClr val="242933"/>
                </a:solidFill>
                <a:latin typeface="Calibri"/>
              </a:rPr>
              <a:t>, a substrate for </a:t>
            </a:r>
            <a:r>
              <a:rPr sz="1800" b="1">
                <a:solidFill>
                  <a:srgbClr val="1F3864"/>
                </a:solidFill>
                <a:latin typeface="Calibri"/>
              </a:rPr>
              <a:t>model-based control and RL world-models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discriminator throughout is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which force-only and reconstruction-only states 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Replace the gust conditioning channel with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, the same forward-closure machinery then applies to control inputs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Closed-loop</a:t>
            </a:r>
            <a:r>
              <a:rPr sz="1800" b="0">
                <a:solidFill>
                  <a:srgbClr val="242933"/>
                </a:solidFill>
                <a:latin typeface="Calibri"/>
              </a:rPr>
              <a:t> model-based control / RL world-models built on the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strong gusts (|G| = 4 is a mid-plane-slice limit)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predictive-latent recipe carried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80" y="3383280"/>
            <a:ext cx="10696559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0.71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Conditioning-only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conditioning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AdaLN-Zero:</a:t>
            </a:r>
            <a:r>
              <a:rPr sz="1250" b="0">
                <a:solidFill>
                  <a:srgbClr val="242933"/>
                </a:solidFill>
                <a:latin typeface="Calibri"/>
              </a:rPr>
              <a:t> how the gust (G, D, Y) and shedding phase φ enter, they rescale the transformer's internal normalisation, initialised to do nothing so they perturb training gently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80k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251" y="1664208"/>
            <a:ext cx="490637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would enter where the gust does, the predictor conditioning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4208"/>
            <a:ext cx="4572000" cy="3627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