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Frame: extreme gust control needs a fast, faithful forward model. Our work asks which reduced state is worth planning against, and shows a predictive (JEPA) latent captures the wake physics that reconstructive and linear baselines lose. Audience is new to JEPA, so I will spend a slide on what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Pure DNS, no model yet: motivate the difficulty. A moderate in-envelope gust (G = -2, D = 0.5, train set) on Fukami's canonical core; the lift swings by about 4 in C_L, in his recognisable range (baseline C_L 0.73 matches Fukami's 0.73). Pitch to a control audience: the bottleneck for model-based control / RL is a reduced dynamics model trustworthy under rollout.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Objective slide (no results yet): the wake challenge, the large-scale wake enstrophy definition (Gaussian split), and the goal: a reduced state that ENCODES the wake (which reconstruction loses) and is recoverable from sensors. The predictive-vs-reconstructive Gaussian-split result comes later, in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up the central question. The state should ENCODE the wake (which reconstruction-only states lose) and be recoverable from sensors. This is exactly the property a planner or RL agent needs to consume.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the DNS claim bounded (solver-resolution metadata pending). Emphasise the six observables, wake enstrophy being the one that separates the methods; the 3D envelope shows test_c (|G|=4) sitting far outside the training cloud.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Pedagogic core for a non-ML audience. Same first three boxes; the only change is Decoder -&gt; Predictor and where the loss lives: pixels (AE) vs latent space (JEPA). No decoder in JEPA; the anti-collapse term stops the encoder collapsing.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Second JEPA slide: recipe (latent loss + anti-collapse, no decoder), cheap latent rollout, lineage, and the control framing.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Encoder is a pure state map; the predictor advances the latent. For control, an actuation channel is the natural next input.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Illustrated alternative to the box diagram (slide 6); keep whichever style you prefer.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Illustrated alternative to the box architecture (slide 8); keep whichever style you prefer.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Fairness is the whole point: only the encoder changes. Headline is REPRESENTATIONAL closure (probe the encoded latent); the forward rollout is shown qualitatively only. The parameter-only floor rules out 'the parameters did it'.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Headline, reframed to REPRESENTATIONAL closure of the unconditioned tf-no-c latent. Probe the ENCODED latent (z_dns), no rollout: wake-enstrophy R^2 = 0.71 (conditioned 0.75), vs Fukami 0.06 / POD negative. Mean over six = 0.51, I_y the weak observable. No 'rolled-out 0.84/0.93' claim; the rollout is shown only qualitatively on the next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Embedded MP4 (plays in PowerPoint; a still shows otherwise). Two observables (wake enstrophy and lift): original (DNS) vs encoded-latent reconstruction vs rolled-latent prediction, for a representative low-error gust encounter (G = +1.5, the unconditioned tf-no-c rollout). Qualitative: the rolled latent tracks the wake; no closure R^2 is claimed on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Physical-space companion to the scalar rollout: same encounter (G = +1.5, unconditioned tf-no-c), decoded with the frozen LapFiLM visualisation decoder (never part of the JEPA loss). Reconstruction is the representational ceiling; prediction is the rolled latent decoded. Qualitative: the rolled latent tracks the wake.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explains the main result mechanistically at the representation level: the wake is a collective code only the predictive objective builds (unconditioned tf-no-c: full latent 0.84 vs best single coordinate 0.48).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Physical-space version of 'it is the wake': the predictive reconstruction keeps the large-scale wake, the reconstructive one smooths it. These are encode-then-decode reconstructions; bands are mean +/- 1 s.d. over test_b. Moved here from the opening so results follow the method.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Backs the 'it is the wake' story: the unconditioned latent organises coordinates by physical function (three wake-dominated clusters + one force cluster; full latent 0.84). Descriptive correlation only; the causal (SURD) part of this analysis is not in the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Pre-empt the skeptic: isolate the cause before the mechanism. Honest two-part answer: objective carries it, but the wake head is a necessary ingredient.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Non-standard metric, so define it. Low one-step error is worthless if the rollout walks off the data manifold where probes are invalid. Reframed to the QUALITATIVE on-manifold point: the unconditioned rollout drift grows gracefully and matches the conditioned model. No closure-R2 sentence; horizon_sweep figure dropped in favour of the unconditioned drift figure.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Define persistent homology simply: count loops that survive over a range of scales. Numbers (unconditioned tf-no-c): median 1 vs Fukami median ~4 H1 generators on z_dns (encounter-level MWU p~5e-9). Snapshots are encode-&gt;decode reconstructions; no temporal predictor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Reframed to match the figure (flow from pressure). The predictive-vs-reconstructive wake tracking is already on slide 3 (scale decomposition).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Dynamic companion to the static flow-recovery slide: a causal 6-frame pressure window at 8 TCSI taps -&gt; MLP -&gt; latent -&gt; frozen decoder, applied frame by frame (unconditioned tf-no-c latent). This is state ESTIMATION, not forecasting; the JEPA predictor is not used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venue hook, reframed to the unconditioned figure: from sparse wall pressure we recover the impact-frame latent ahead of impact (state R^2 ~0.88 at impact, &gt;0.83 out to 8 frames) and estimate impact lift (MAE 0.38-&gt;0.60 over 0-8 frames). Observable ahead of impact, the ingredient a controller needs. No predictor-in-loop / oracle three-way claim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forecast windows for the unconditioned predictor (markov rollout, wake/C_L linear probes on the rolled latent): wake is predictable in a roughly symmetric +/-16-frame window around impact (early warning); lift is asymmetric -- hard to anticipate (flat pre-impact) but strongly forecastable post-impact.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Single closing slide, reframed to the UNCONDITIONED latent. What we built: an unconditioned predictive latent that representationally keeps the wake (R^2 ~0.71), traces a single clean cycle, is transport-consistent and observable from sparse pressure. The rollout is qualitative; no forward-closed wake R^2 0.84 claim. Honest boundary: a substrate, not a validated controller. Outlook: actuation channel, close loop, 3D observability, other flows.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Acknowledgements: author photos (Solera-Rico, Miró, Lehmkuhl) and the BBVA Foundation / Red Leonardo funding logos. Funding: 2024 Leonardo Grant, project PREVENT (LEO24-2-15988).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Moved to backup: real but the weakest mechanism diagnostic (post-hoc, trajectory-local, pooled reverses). OT method = signed-vorticity split + unbalanced Sinkhorn (Tran, Yeh &amp; Taira JFM 2026, eq 5); our code uses the entropic transport cost, not the debiased divergence, which does not change orderings.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3.mp4"/><Relationship Id="rId3" Type="http://schemas.openxmlformats.org/officeDocument/2006/relationships/video" Target="../media/media3.mp4"/><Relationship Id="rId4" Type="http://schemas.openxmlformats.org/officeDocument/2006/relationships/image" Target="../media/image13.png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4.mp4"/><Relationship Id="rId3" Type="http://schemas.openxmlformats.org/officeDocument/2006/relationships/video" Target="../media/media4.mp4"/><Relationship Id="rId4" Type="http://schemas.openxmlformats.org/officeDocument/2006/relationships/image" Target="../media/image23.png"/><Relationship Id="rId5" Type="http://schemas.openxmlformats.org/officeDocument/2006/relationships/notesSlide" Target="../notesSlides/notesSlide2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jpg"/><Relationship Id="rId6" Type="http://schemas.openxmlformats.org/officeDocument/2006/relationships/image" Target="../media/image30.png"/><Relationship Id="rId7" Type="http://schemas.openxmlformats.org/officeDocument/2006/relationships/notesSlide" Target="../notesSlides/notesSlide2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234440"/>
            <a:ext cx="1069848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100" b="1">
                <a:solidFill>
                  <a:srgbClr val="1F3864"/>
                </a:solidFill>
                <a:latin typeface="Calibri"/>
              </a:rPr>
              <a:t>Sparse-sensing state estimation of vortex-gust airfoil interactions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C05210"/>
                </a:solidFill>
                <a:latin typeface="Calibri"/>
              </a:rPr>
              <a:t>Toward model-based flow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611880"/>
            <a:ext cx="2743200" cy="54864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242933"/>
                </a:solidFill>
                <a:latin typeface="Calibri"/>
              </a:rPr>
              <a:t>A. Solera-Rico, A. Miró, O. Lehmkuhl, </a:t>
            </a:r>
            <a:r>
              <a:rPr sz="1500" b="1">
                <a:solidFill>
                  <a:srgbClr val="1F3864"/>
                </a:solidFill>
                <a:latin typeface="Calibri"/>
              </a:rPr>
              <a:t>C. Sanmiguel Vila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C05210"/>
                </a:solidFill>
                <a:latin typeface="Calibri"/>
              </a:rPr>
              <a:t>csanvil@inta.es</a:t>
            </a:r>
          </a:p>
        </p:txBody>
      </p:sp>
      <p:pic>
        <p:nvPicPr>
          <p:cNvPr id="6" name="Picture 5" descr="euromech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390906"/>
            <a:ext cx="1051560" cy="644652"/>
          </a:xfrm>
          <a:prstGeom prst="rect">
            <a:avLst/>
          </a:prstGeom>
        </p:spPr>
      </p:pic>
      <p:pic>
        <p:nvPicPr>
          <p:cNvPr id="7" name="Picture 6" descr="IMG_228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892040"/>
            <a:ext cx="603504" cy="603504"/>
          </a:xfrm>
          <a:prstGeom prst="rect">
            <a:avLst/>
          </a:prstGeom>
        </p:spPr>
      </p:pic>
      <p:pic>
        <p:nvPicPr>
          <p:cNvPr id="8" name="Picture 7" descr="IMG_228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83080" y="4965192"/>
            <a:ext cx="1270367" cy="457200"/>
          </a:xfrm>
          <a:prstGeom prst="rect">
            <a:avLst/>
          </a:prstGeom>
        </p:spPr>
      </p:pic>
      <p:pic>
        <p:nvPicPr>
          <p:cNvPr id="9" name="Picture 8" descr="IMG_228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29000" y="4895782"/>
            <a:ext cx="676656" cy="596018"/>
          </a:xfrm>
          <a:prstGeom prst="rect">
            <a:avLst/>
          </a:prstGeom>
        </p:spPr>
      </p:pic>
      <p:pic>
        <p:nvPicPr>
          <p:cNvPr id="10" name="Picture 9" descr="IMG_228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15968" y="4892040"/>
            <a:ext cx="603504" cy="60350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14400" y="59893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F3864"/>
                </a:solidFill>
                <a:latin typeface="Calibri"/>
              </a:rPr>
              <a:t>EUROMECH Colloquium  ·  Data-driven active control in flows: from model-based to reinforcement learning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The control problem: gusts are fast, strong, nonlinear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45720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Small and micro air vehicles increasingly fly where the </a:t>
            </a:r>
            <a:r>
              <a:rPr sz="1500" b="1">
                <a:solidFill>
                  <a:srgbClr val="1F3864"/>
                </a:solidFill>
                <a:latin typeface="Calibri"/>
              </a:rPr>
              <a:t>gust speed is comparable to or above the flight speed</a:t>
            </a:r>
            <a:r>
              <a:rPr sz="1500" b="0">
                <a:solidFill>
                  <a:srgbClr val="242933"/>
                </a:solidFill>
                <a:latin typeface="Calibri"/>
              </a:rPr>
              <a:t> (urban canyons, building and ship wakes): gust ratio </a:t>
            </a:r>
            <a:r>
              <a:rPr sz="1500" b="1">
                <a:solidFill>
                  <a:srgbClr val="1F3864"/>
                </a:solidFill>
                <a:latin typeface="Calibri"/>
              </a:rPr>
              <a:t>G &gt; 1</a:t>
            </a:r>
            <a:r>
              <a:rPr sz="1500" b="0">
                <a:solidFill>
                  <a:srgbClr val="242933"/>
                </a:solidFill>
                <a:latin typeface="Calibri"/>
              </a:rPr>
              <a:t> brings large, fast load transients classical models miss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A vortex strikes the wing: a </a:t>
            </a:r>
            <a:r>
              <a:rPr sz="1500" b="1">
                <a:solidFill>
                  <a:srgbClr val="1F3864"/>
                </a:solidFill>
                <a:latin typeface="Calibri"/>
              </a:rPr>
              <a:t>leading-edge vortex</a:t>
            </a:r>
            <a:r>
              <a:rPr sz="1500" b="0">
                <a:solidFill>
                  <a:srgbClr val="242933"/>
                </a:solidFill>
                <a:latin typeface="Calibri"/>
              </a:rPr>
              <a:t> forms and sheds, and the lift swings strongly (right: DNS, a moderate </a:t>
            </a:r>
            <a:r>
              <a:rPr sz="1500" b="1">
                <a:solidFill>
                  <a:srgbClr val="1F3864"/>
                </a:solidFill>
                <a:latin typeface="Calibri"/>
              </a:rPr>
              <a:t>G = -2</a:t>
            </a:r>
            <a:r>
              <a:rPr sz="1500" b="0">
                <a:solidFill>
                  <a:srgbClr val="242933"/>
                </a:solidFill>
                <a:latin typeface="Calibri"/>
              </a:rPr>
              <a:t> gust, C_L from about -1 to +3)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Active control, model-based or RL, needs a </a:t>
            </a:r>
            <a:r>
              <a:rPr sz="1500" b="1">
                <a:solidFill>
                  <a:srgbClr val="1F3864"/>
                </a:solidFill>
                <a:latin typeface="Calibri"/>
              </a:rPr>
              <a:t>fast, faithful forward model</a:t>
            </a:r>
            <a:r>
              <a:rPr sz="1500" b="0">
                <a:solidFill>
                  <a:srgbClr val="242933"/>
                </a:solidFill>
                <a:latin typeface="Calibri"/>
              </a:rPr>
              <a:t> it can trust under rollout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1">
                <a:solidFill>
                  <a:srgbClr val="1F3864"/>
                </a:solidFill>
                <a:latin typeface="Calibri"/>
              </a:rPr>
              <a:t>This talk: what reduced state is worth planning against?</a:t>
            </a:r>
          </a:p>
        </p:txBody>
      </p:sp>
      <p:pic>
        <p:nvPicPr>
          <p:cNvPr id="7" name="gust_motivation_anim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440680" y="1600200"/>
            <a:ext cx="6126480" cy="43525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OBJECTIVE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Objective: a reduced state that keeps the wake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The load transient is built by the </a:t>
            </a:r>
            <a:r>
              <a:rPr sz="1800" b="1">
                <a:solidFill>
                  <a:srgbClr val="1F3864"/>
                </a:solidFill>
                <a:latin typeface="Calibri"/>
              </a:rPr>
              <a:t>leading-edge vortex (LEV)</a:t>
            </a:r>
            <a:r>
              <a:rPr sz="1800" b="0">
                <a:solidFill>
                  <a:srgbClr val="242933"/>
                </a:solidFill>
                <a:latin typeface="Calibri"/>
              </a:rPr>
              <a:t> and the wake it leaves: the discriminating information is in the </a:t>
            </a:r>
            <a:r>
              <a:rPr sz="1800" b="1">
                <a:solidFill>
                  <a:srgbClr val="1F3864"/>
                </a:solidFill>
                <a:latin typeface="Calibri"/>
              </a:rPr>
              <a:t>wake</a:t>
            </a:r>
            <a:r>
              <a:rPr sz="1800" b="0">
                <a:solidFill>
                  <a:srgbClr val="242933"/>
                </a:solidFill>
                <a:latin typeface="Calibri"/>
              </a:rPr>
              <a:t>, not the integrated forces C_L, C_D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We quantify it by the </a:t>
            </a:r>
            <a:r>
              <a:rPr sz="1800" b="1">
                <a:solidFill>
                  <a:srgbClr val="1F3864"/>
                </a:solidFill>
                <a:latin typeface="Calibri"/>
              </a:rPr>
              <a:t>large-scale wake enstrophy</a:t>
            </a:r>
            <a:r>
              <a:rPr sz="1800" b="0">
                <a:solidFill>
                  <a:srgbClr val="242933"/>
                </a:solidFill>
                <a:latin typeface="Calibri"/>
              </a:rPr>
              <a:t>: a Gaussian scale split (Motoori &amp; Goto 2019) at σ/c = 0.05 isolates the load-bearing large-scale vorticity (LEV + shear layer) from fine turbulence, then integrates ω_L² over the wake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1">
                <a:solidFill>
                  <a:srgbClr val="1F3864"/>
                </a:solidFill>
                <a:latin typeface="Calibri"/>
              </a:rPr>
              <a:t>Objective:</a:t>
            </a:r>
            <a:r>
              <a:rPr sz="1800" b="0">
                <a:solidFill>
                  <a:srgbClr val="242933"/>
                </a:solidFill>
                <a:latin typeface="Calibri"/>
              </a:rPr>
              <a:t> find a reduced state that faithfully </a:t>
            </a:r>
            <a:r>
              <a:rPr sz="1800" b="1">
                <a:solidFill>
                  <a:srgbClr val="1F3864"/>
                </a:solidFill>
                <a:latin typeface="Calibri"/>
              </a:rPr>
              <a:t>encodes the wake</a:t>
            </a:r>
            <a:r>
              <a:rPr sz="1800" b="0">
                <a:solidFill>
                  <a:srgbClr val="242933"/>
                </a:solidFill>
                <a:latin typeface="Calibri"/>
              </a:rPr>
              <a:t> (the part reconstruction loses), not just the forces, and that is </a:t>
            </a:r>
            <a:r>
              <a:rPr sz="1800" b="1">
                <a:solidFill>
                  <a:srgbClr val="1F3864"/>
                </a:solidFill>
                <a:latin typeface="Calibri"/>
              </a:rPr>
              <a:t>recoverable from sparse sensors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And </a:t>
            </a:r>
            <a:r>
              <a:rPr sz="1800" b="1">
                <a:solidFill>
                  <a:srgbClr val="1F3864"/>
                </a:solidFill>
                <a:latin typeface="Calibri"/>
              </a:rPr>
              <a:t>compare candidate states</a:t>
            </a:r>
            <a:r>
              <a:rPr sz="1800" b="0">
                <a:solidFill>
                  <a:srgbClr val="242933"/>
                </a:solidFill>
                <a:latin typeface="Calibri"/>
              </a:rPr>
              <a:t>, predictive vs reconstructive vs linear, under one matched protocol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LITERATURE AND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The opening for JEPA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9728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Most flow ROMs, POD/DMD, autoencoders, are trained to </a:t>
            </a:r>
            <a:r>
              <a:rPr sz="1800" b="1">
                <a:solidFill>
                  <a:srgbClr val="1F3864"/>
                </a:solidFill>
                <a:latin typeface="Calibri"/>
              </a:rPr>
              <a:t>reconstruct the field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      –  reconstruction fixes the latent only up to a diffeomorphism, so its geometry is not constrained to be predictable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Alternative: learn a state that is </a:t>
            </a:r>
            <a:r>
              <a:rPr sz="1800" b="1">
                <a:solidFill>
                  <a:srgbClr val="1F3864"/>
                </a:solidFill>
                <a:latin typeface="Calibri"/>
              </a:rPr>
              <a:t>predictive by construction</a:t>
            </a:r>
            <a:r>
              <a:rPr sz="1800" b="0">
                <a:solidFill>
                  <a:srgbClr val="242933"/>
                </a:solidFill>
                <a:latin typeface="Calibri"/>
              </a:rPr>
              <a:t>, and plan against it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160520"/>
            <a:ext cx="10881360" cy="155448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4160520"/>
            <a:ext cx="91440" cy="155448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160520"/>
            <a:ext cx="1033272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F3864"/>
                </a:solidFill>
                <a:latin typeface="Calibri"/>
              </a:rPr>
              <a:t>Which reduced state faithfully encodes the wake that reconstruction loses,
and is recoverable from sparse sensors?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Data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89788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1">
                <a:solidFill>
                  <a:srgbClr val="1F3864"/>
                </a:solidFill>
                <a:latin typeface="Calibri"/>
              </a:rPr>
              <a:t>DNS</a:t>
            </a:r>
            <a:r>
              <a:rPr sz="1600" b="0">
                <a:solidFill>
                  <a:srgbClr val="242933"/>
                </a:solidFill>
                <a:latin typeface="Calibri"/>
              </a:rPr>
              <a:t> (SOD2D, no subgrid-scale model), NACA 0012, α = 14°, </a:t>
            </a:r>
            <a:r>
              <a:rPr sz="1600" b="1">
                <a:solidFill>
                  <a:srgbClr val="1F3864"/>
                </a:solidFill>
                <a:latin typeface="Calibri"/>
              </a:rPr>
              <a:t>Re = 5000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Taylor-vortex gusts parametrised by strength </a:t>
            </a:r>
            <a:r>
              <a:rPr sz="1600" b="1">
                <a:solidFill>
                  <a:srgbClr val="1F3864"/>
                </a:solidFill>
                <a:latin typeface="Calibri"/>
              </a:rPr>
              <a:t>G</a:t>
            </a:r>
            <a:r>
              <a:rPr sz="1600" b="0">
                <a:solidFill>
                  <a:srgbClr val="242933"/>
                </a:solidFill>
                <a:latin typeface="Calibri"/>
              </a:rPr>
              <a:t>, core diameter </a:t>
            </a:r>
            <a:r>
              <a:rPr sz="1600" b="1">
                <a:solidFill>
                  <a:srgbClr val="1F3864"/>
                </a:solidFill>
                <a:latin typeface="Calibri"/>
              </a:rPr>
              <a:t>D</a:t>
            </a:r>
            <a:r>
              <a:rPr sz="1600" b="0">
                <a:solidFill>
                  <a:srgbClr val="242933"/>
                </a:solidFill>
                <a:latin typeface="Calibri"/>
              </a:rPr>
              <a:t>, wall-normal offset </a:t>
            </a:r>
            <a:r>
              <a:rPr sz="1600" b="1">
                <a:solidFill>
                  <a:srgbClr val="1F3864"/>
                </a:solidFill>
                <a:latin typeface="Calibri"/>
              </a:rPr>
              <a:t>Y</a:t>
            </a:r>
            <a:r>
              <a:rPr sz="1600" b="0">
                <a:solidFill>
                  <a:srgbClr val="242933"/>
                </a:solidFill>
                <a:latin typeface="Calibri"/>
              </a:rPr>
              <a:t> (right: the 84-case envelope, isometric)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Impact-centred encounters; six observables: C_L, C_D, impulse I_y, </a:t>
            </a:r>
            <a:r>
              <a:rPr sz="1600" b="1">
                <a:solidFill>
                  <a:srgbClr val="1F3864"/>
                </a:solidFill>
                <a:latin typeface="Calibri"/>
              </a:rPr>
              <a:t>wake enstrophy</a:t>
            </a:r>
            <a:r>
              <a:rPr sz="1600" b="0">
                <a:solidFill>
                  <a:srgbClr val="242933"/>
                </a:solidFill>
                <a:latin typeface="Calibri"/>
              </a:rPr>
              <a:t>, ±circulation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Held-out </a:t>
            </a:r>
            <a:r>
              <a:rPr sz="1600" b="1">
                <a:solidFill>
                  <a:srgbClr val="1F3864"/>
                </a:solidFill>
                <a:latin typeface="Calibri"/>
              </a:rPr>
              <a:t>test_b</a:t>
            </a:r>
            <a:r>
              <a:rPr sz="1600" b="0">
                <a:solidFill>
                  <a:srgbClr val="242933"/>
                </a:solidFill>
                <a:latin typeface="Calibri"/>
              </a:rPr>
              <a:t> (interpolation) and </a:t>
            </a:r>
            <a:r>
              <a:rPr sz="1600" b="1">
                <a:solidFill>
                  <a:srgbClr val="1F3864"/>
                </a:solidFill>
                <a:latin typeface="Calibri"/>
              </a:rPr>
              <a:t>test_c</a:t>
            </a:r>
            <a:r>
              <a:rPr sz="1600" b="0">
                <a:solidFill>
                  <a:srgbClr val="242933"/>
                </a:solidFill>
                <a:latin typeface="Calibri"/>
              </a:rPr>
              <a:t> (|G| = 4 extrapolation)</a:t>
            </a:r>
          </a:p>
        </p:txBody>
      </p:sp>
      <p:pic>
        <p:nvPicPr>
          <p:cNvPr id="7" name="Picture 6" descr="paramspace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3116" y="1664208"/>
            <a:ext cx="4536086" cy="4389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675120" y="6108192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Training envelope in (G, D, Y): train, test_b interpolation, test_c |G| = 4 extrapolation, baseline.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METHOD, PRIMER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What is a JEPA?  (1 / 2)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591056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B03A2E"/>
                </a:solidFill>
                <a:latin typeface="Calibri"/>
              </a:rPr>
              <a:t>Autoencoder (most flow ROMs): reconstruct the field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029968"/>
            <a:ext cx="1554480" cy="658368"/>
          </a:xfrm>
          <a:prstGeom prst="roundRect">
            <a:avLst/>
          </a:prstGeom>
          <a:solidFill>
            <a:srgbClr val="F7ECEA"/>
          </a:solidFill>
          <a:ln w="1905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50" b="1">
                <a:solidFill>
                  <a:srgbClr val="242933"/>
                </a:solidFill>
                <a:latin typeface="Calibri"/>
              </a:rPr>
              <a:t>field ω(t)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80360" y="2029968"/>
            <a:ext cx="1554480" cy="658368"/>
          </a:xfrm>
          <a:prstGeom prst="roundRect">
            <a:avLst/>
          </a:prstGeom>
          <a:solidFill>
            <a:srgbClr val="F7ECEA"/>
          </a:solidFill>
          <a:ln w="1905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50" b="1">
                <a:solidFill>
                  <a:srgbClr val="242933"/>
                </a:solidFill>
                <a:latin typeface="Calibri"/>
              </a:rPr>
              <a:t>Encoder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2029968"/>
            <a:ext cx="1188720" cy="658368"/>
          </a:xfrm>
          <a:prstGeom prst="roundRect">
            <a:avLst/>
          </a:prstGeom>
          <a:solidFill>
            <a:srgbClr val="F7ECEA"/>
          </a:solidFill>
          <a:ln w="1905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50" b="1">
                <a:solidFill>
                  <a:srgbClr val="242933"/>
                </a:solidFill>
                <a:latin typeface="Calibri"/>
              </a:rPr>
              <a:t>latent 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12280" y="2029968"/>
            <a:ext cx="1645920" cy="658368"/>
          </a:xfrm>
          <a:prstGeom prst="roundRect">
            <a:avLst/>
          </a:prstGeom>
          <a:solidFill>
            <a:srgbClr val="F7ECEA"/>
          </a:solidFill>
          <a:ln w="1905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50" b="1">
                <a:solidFill>
                  <a:srgbClr val="242933"/>
                </a:solidFill>
                <a:latin typeface="Calibri"/>
              </a:rPr>
              <a:t>Decoder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52560" y="2029968"/>
            <a:ext cx="2331720" cy="658368"/>
          </a:xfrm>
          <a:prstGeom prst="roundRect">
            <a:avLst/>
          </a:prstGeom>
          <a:solidFill>
            <a:srgbClr val="F7ECEA"/>
          </a:solidFill>
          <a:ln w="1905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50" b="1">
                <a:solidFill>
                  <a:srgbClr val="242933"/>
                </a:solidFill>
                <a:latin typeface="Calibri"/>
              </a:rPr>
              <a:t>reconstructed field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377440" y="2276856"/>
            <a:ext cx="457200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4434840" y="2276856"/>
            <a:ext cx="457200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ight Arrow 13"/>
          <p:cNvSpPr/>
          <p:nvPr/>
        </p:nvSpPr>
        <p:spPr>
          <a:xfrm>
            <a:off x="6217920" y="2276856"/>
            <a:ext cx="457200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ight Arrow 14"/>
          <p:cNvSpPr/>
          <p:nvPr/>
        </p:nvSpPr>
        <p:spPr>
          <a:xfrm>
            <a:off x="8549640" y="2276856"/>
            <a:ext cx="457200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2798064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B03A2E"/>
                </a:solidFill>
                <a:latin typeface="Calibri"/>
              </a:rPr>
              <a:t>loss compares the reconstruction to the input in PIXEL space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694176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E7D4F"/>
                </a:solidFill>
                <a:latin typeface="Calibri"/>
              </a:rPr>
              <a:t>JEPA: predict the next latent, no decoder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133087"/>
            <a:ext cx="1554480" cy="658368"/>
          </a:xfrm>
          <a:prstGeom prst="roundRect">
            <a:avLst/>
          </a:prstGeom>
          <a:solidFill>
            <a:srgbClr val="EAF2EC"/>
          </a:solidFill>
          <a:ln w="19050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50" b="1">
                <a:solidFill>
                  <a:srgbClr val="242933"/>
                </a:solidFill>
                <a:latin typeface="Calibri"/>
              </a:rPr>
              <a:t>field ω(t)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880360" y="4133087"/>
            <a:ext cx="1554480" cy="658368"/>
          </a:xfrm>
          <a:prstGeom prst="roundRect">
            <a:avLst/>
          </a:prstGeom>
          <a:solidFill>
            <a:srgbClr val="EAF2EC"/>
          </a:solidFill>
          <a:ln w="19050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50" b="1">
                <a:solidFill>
                  <a:srgbClr val="242933"/>
                </a:solidFill>
                <a:latin typeface="Calibri"/>
              </a:rPr>
              <a:t>Encoder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0" y="4133087"/>
            <a:ext cx="1188720" cy="658368"/>
          </a:xfrm>
          <a:prstGeom prst="roundRect">
            <a:avLst/>
          </a:prstGeom>
          <a:solidFill>
            <a:srgbClr val="EAF2EC"/>
          </a:solidFill>
          <a:ln w="19050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50" b="1">
                <a:solidFill>
                  <a:srgbClr val="242933"/>
                </a:solidFill>
                <a:latin typeface="Calibri"/>
              </a:rPr>
              <a:t>latent z(t)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12280" y="4133087"/>
            <a:ext cx="1645920" cy="658368"/>
          </a:xfrm>
          <a:prstGeom prst="roundRect">
            <a:avLst/>
          </a:prstGeom>
          <a:solidFill>
            <a:srgbClr val="EAF2EC"/>
          </a:solidFill>
          <a:ln w="19050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50" b="1">
                <a:solidFill>
                  <a:srgbClr val="242933"/>
                </a:solidFill>
                <a:latin typeface="Calibri"/>
              </a:rPr>
              <a:t>Predictor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52560" y="4133087"/>
            <a:ext cx="2331720" cy="658368"/>
          </a:xfrm>
          <a:prstGeom prst="roundRect">
            <a:avLst/>
          </a:prstGeom>
          <a:solidFill>
            <a:srgbClr val="EAF2EC"/>
          </a:solidFill>
          <a:ln w="19050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50" b="1">
                <a:solidFill>
                  <a:srgbClr val="242933"/>
                </a:solidFill>
                <a:latin typeface="Calibri"/>
              </a:rPr>
              <a:t>predicted z(t+1)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2377440" y="4379976"/>
            <a:ext cx="457200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ight Arrow 23"/>
          <p:cNvSpPr/>
          <p:nvPr/>
        </p:nvSpPr>
        <p:spPr>
          <a:xfrm>
            <a:off x="4434840" y="4379976"/>
            <a:ext cx="457200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ight Arrow 24"/>
          <p:cNvSpPr/>
          <p:nvPr/>
        </p:nvSpPr>
        <p:spPr>
          <a:xfrm>
            <a:off x="6217920" y="4379976"/>
            <a:ext cx="457200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ight Arrow 25"/>
          <p:cNvSpPr/>
          <p:nvPr/>
        </p:nvSpPr>
        <p:spPr>
          <a:xfrm>
            <a:off x="8549640" y="4379976"/>
            <a:ext cx="457200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901184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E7D4F"/>
                </a:solidFill>
                <a:latin typeface="Calibri"/>
              </a:rPr>
              <a:t>loss compares predicted z(t+1) to z(t+1) = Encoder(next frame) in LATENT space; an anti-collapse term replaces the decoder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5650992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F3864"/>
                </a:solidFill>
                <a:latin typeface="Calibri"/>
              </a:rPr>
              <a:t>Reconstruction ties the latent to pixels; prediction makes it forecastable</a:t>
            </a:r>
            <a:r>
              <a:rPr sz="1500" b="0">
                <a:solidFill>
                  <a:srgbClr val="1F3864"/>
                </a:solidFill>
                <a:latin typeface="Calibri"/>
              </a:rPr>
              <a:t>, which is what a controller needs.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METHOD, PRIMER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What is a JEPA?  (2 / 2): the recipe and why for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1">
                <a:solidFill>
                  <a:srgbClr val="1F3864"/>
                </a:solidFill>
                <a:latin typeface="Calibri"/>
              </a:rPr>
              <a:t>Training, in one line:</a:t>
            </a:r>
            <a:r>
              <a:rPr sz="1700" b="0">
                <a:solidFill>
                  <a:srgbClr val="242933"/>
                </a:solidFill>
                <a:latin typeface="Calibri"/>
              </a:rPr>
              <a:t> minimise the </a:t>
            </a:r>
            <a:r>
              <a:rPr sz="1700" b="1">
                <a:solidFill>
                  <a:srgbClr val="1F3864"/>
                </a:solidFill>
                <a:latin typeface="Calibri"/>
              </a:rPr>
              <a:t>latent</a:t>
            </a:r>
            <a:r>
              <a:rPr sz="1700" b="0">
                <a:solidFill>
                  <a:srgbClr val="242933"/>
                </a:solidFill>
                <a:latin typeface="Calibri"/>
              </a:rPr>
              <a:t> prediction error plus an </a:t>
            </a:r>
            <a:r>
              <a:rPr sz="1700" b="1">
                <a:solidFill>
                  <a:srgbClr val="1F3864"/>
                </a:solidFill>
                <a:latin typeface="Calibri"/>
              </a:rPr>
              <a:t>anti-collapse term</a:t>
            </a:r>
            <a:r>
              <a:rPr sz="1700" b="0">
                <a:solidFill>
                  <a:srgbClr val="242933"/>
                </a:solidFill>
                <a:latin typeface="Calibri"/>
              </a:rPr>
              <a:t> so the encoder cannot cheat by mapping everything to a constant (no decoder, no pixel loss)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So the encoder </a:t>
            </a:r>
            <a:r>
              <a:rPr sz="1700" b="1">
                <a:solidFill>
                  <a:srgbClr val="1F3864"/>
                </a:solidFill>
                <a:latin typeface="Calibri"/>
              </a:rPr>
              <a:t>keeps only what predicts the future</a:t>
            </a:r>
            <a:r>
              <a:rPr sz="1700" b="0">
                <a:solidFill>
                  <a:srgbClr val="242933"/>
                </a:solidFill>
                <a:latin typeface="Calibri"/>
              </a:rPr>
              <a:t> (the control-relevant dynamics), and the predictor </a:t>
            </a:r>
            <a:r>
              <a:rPr sz="1700" b="1">
                <a:solidFill>
                  <a:srgbClr val="1F3864"/>
                </a:solidFill>
                <a:latin typeface="Calibri"/>
              </a:rPr>
              <a:t>gets no pixel-level shortcuts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1">
                <a:solidFill>
                  <a:srgbClr val="1F3864"/>
                </a:solidFill>
                <a:latin typeface="Calibri"/>
              </a:rPr>
              <a:t>Cheap to roll out:</a:t>
            </a:r>
            <a:r>
              <a:rPr sz="1700" b="0">
                <a:solidFill>
                  <a:srgbClr val="242933"/>
                </a:solidFill>
                <a:latin typeface="Calibri"/>
              </a:rPr>
              <a:t> planning happens in the d = 32-64 latent, two to three orders of magnitude cheaper than evolving the full field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Lineage: I-JEPA / V-JEPA (image, video); from-pixels LeWM, LeJEPA, PLDM, so far only gridworld and toy visual tasks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1">
                <a:solidFill>
                  <a:srgbClr val="1F3864"/>
                </a:solidFill>
                <a:latin typeface="Calibri"/>
              </a:rPr>
              <a:t>Why for control:</a:t>
            </a:r>
            <a:r>
              <a:rPr sz="1700" b="0">
                <a:solidFill>
                  <a:srgbClr val="242933"/>
                </a:solidFill>
                <a:latin typeface="Calibri"/>
              </a:rPr>
              <a:t> a learned world-model that is </a:t>
            </a:r>
            <a:r>
              <a:rPr sz="1700" b="1">
                <a:solidFill>
                  <a:srgbClr val="1F3864"/>
                </a:solidFill>
                <a:latin typeface="Calibri"/>
              </a:rPr>
              <a:t>observable from sensors</a:t>
            </a:r>
            <a:r>
              <a:rPr sz="1700" b="0">
                <a:solidFill>
                  <a:srgbClr val="242933"/>
                </a:solidFill>
                <a:latin typeface="Calibri"/>
              </a:rPr>
              <a:t>; to our knowledge the </a:t>
            </a:r>
            <a:r>
              <a:rPr sz="1700" b="1">
                <a:solidFill>
                  <a:srgbClr val="1F3864"/>
                </a:solidFill>
                <a:latin typeface="Calibri"/>
              </a:rPr>
              <a:t>first end-to-end JEPA on a parametric 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Our architecture for gust encounters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828800" cy="868680"/>
          </a:xfrm>
          <a:prstGeom prst="roundRect">
            <a:avLst/>
          </a:prstGeom>
          <a:solidFill>
            <a:srgbClr val="EEF1F7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00" b="1">
                <a:solidFill>
                  <a:srgbClr val="242933"/>
                </a:solidFill>
                <a:latin typeface="Calibri"/>
              </a:rPr>
              <a:t>mid-plane</a:t>
            </a:r>
          </a:p>
          <a:p>
            <a:pPr algn="ctr"/>
            <a:r>
              <a:rPr sz="1300" b="1">
                <a:solidFill>
                  <a:srgbClr val="242933"/>
                </a:solidFill>
                <a:latin typeface="Calibri"/>
              </a:rPr>
              <a:t>vorticity ω(t)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06040" y="1783080"/>
            <a:ext cx="1828800" cy="868680"/>
          </a:xfrm>
          <a:prstGeom prst="roundRect">
            <a:avLst/>
          </a:prstGeom>
          <a:solidFill>
            <a:srgbClr val="EEF1F7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00" b="1">
                <a:solidFill>
                  <a:srgbClr val="242933"/>
                </a:solidFill>
                <a:latin typeface="Calibri"/>
              </a:rPr>
              <a:t>Encoder</a:t>
            </a:r>
          </a:p>
          <a:p>
            <a:pPr algn="ctr"/>
            <a:r>
              <a:rPr sz="1300" b="1">
                <a:solidFill>
                  <a:srgbClr val="242933"/>
                </a:solidFill>
                <a:latin typeface="Calibri"/>
              </a:rPr>
              <a:t>(CNN + ViT)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09160" y="1783080"/>
            <a:ext cx="1463040" cy="868680"/>
          </a:xfrm>
          <a:prstGeom prst="roundRect">
            <a:avLst/>
          </a:prstGeom>
          <a:solidFill>
            <a:srgbClr val="EAF2EC"/>
          </a:solidFill>
          <a:ln w="19050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00" b="1">
                <a:solidFill>
                  <a:srgbClr val="242933"/>
                </a:solidFill>
                <a:latin typeface="Calibri"/>
              </a:rPr>
              <a:t>latent z(t)</a:t>
            </a:r>
          </a:p>
          <a:p>
            <a:pPr algn="ctr"/>
            <a:r>
              <a:rPr sz="1300" b="1">
                <a:solidFill>
                  <a:srgbClr val="242933"/>
                </a:solidFill>
                <a:latin typeface="Calibri"/>
              </a:rPr>
              <a:t>d = 32 / 64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46520" y="1783080"/>
            <a:ext cx="1783080" cy="868680"/>
          </a:xfrm>
          <a:prstGeom prst="roundRect">
            <a:avLst/>
          </a:prstGeom>
          <a:solidFill>
            <a:srgbClr val="EAF2EC"/>
          </a:solidFill>
          <a:ln w="19050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00" b="1">
                <a:solidFill>
                  <a:srgbClr val="242933"/>
                </a:solidFill>
                <a:latin typeface="Calibri"/>
              </a:rPr>
              <a:t>Predictor</a:t>
            </a:r>
          </a:p>
          <a:p>
            <a:pPr algn="ctr"/>
            <a:r>
              <a:rPr sz="1300" b="1">
                <a:solidFill>
                  <a:srgbClr val="242933"/>
                </a:solidFill>
                <a:latin typeface="Calibri"/>
              </a:rPr>
              <a:t>(AR transformer)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49640" y="1783080"/>
            <a:ext cx="1828800" cy="868680"/>
          </a:xfrm>
          <a:prstGeom prst="roundRect">
            <a:avLst/>
          </a:prstGeom>
          <a:solidFill>
            <a:srgbClr val="EAF2EC"/>
          </a:solidFill>
          <a:ln w="19050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300" b="1">
                <a:solidFill>
                  <a:srgbClr val="242933"/>
                </a:solidFill>
                <a:latin typeface="Calibri"/>
              </a:rPr>
              <a:t>predicted</a:t>
            </a:r>
          </a:p>
          <a:p>
            <a:pPr algn="ctr"/>
            <a:r>
              <a:rPr sz="1300" b="1">
                <a:solidFill>
                  <a:srgbClr val="242933"/>
                </a:solidFill>
                <a:latin typeface="Calibri"/>
              </a:rPr>
              <a:t>z(t+1)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377440" y="2135124"/>
            <a:ext cx="411480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4434840" y="2135124"/>
            <a:ext cx="411480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6080760" y="2135124"/>
            <a:ext cx="411480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ight Arrow 13"/>
          <p:cNvSpPr/>
          <p:nvPr/>
        </p:nvSpPr>
        <p:spPr>
          <a:xfrm>
            <a:off x="8275320" y="2135124"/>
            <a:ext cx="411480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343400"/>
            <a:ext cx="1097280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The </a:t>
            </a:r>
            <a:r>
              <a:rPr sz="1500" b="1">
                <a:solidFill>
                  <a:srgbClr val="1F3864"/>
                </a:solidFill>
                <a:latin typeface="Calibri"/>
              </a:rPr>
              <a:t>encoder</a:t>
            </a:r>
            <a:r>
              <a:rPr sz="1500" b="0">
                <a:solidFill>
                  <a:srgbClr val="242933"/>
                </a:solidFill>
                <a:latin typeface="Calibri"/>
              </a:rPr>
              <a:t> maps the field to a latent: a pure state map ω(t) → z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The </a:t>
            </a:r>
            <a:r>
              <a:rPr sz="1500" b="1">
                <a:solidFill>
                  <a:srgbClr val="1F3864"/>
                </a:solidFill>
                <a:latin typeface="Calibri"/>
              </a:rPr>
              <a:t>predictor</a:t>
            </a:r>
            <a:r>
              <a:rPr sz="1500" b="0">
                <a:solidFill>
                  <a:srgbClr val="242933"/>
                </a:solidFill>
                <a:latin typeface="Calibri"/>
              </a:rPr>
              <a:t> advances the latent z(t) → z(t+1) from the latent history; it </a:t>
            </a:r>
            <a:r>
              <a:rPr sz="1500" b="1">
                <a:solidFill>
                  <a:srgbClr val="1F3864"/>
                </a:solidFill>
                <a:latin typeface="Calibri"/>
              </a:rPr>
              <a:t>is</a:t>
            </a:r>
            <a:r>
              <a:rPr sz="1500" b="0">
                <a:solidFill>
                  <a:srgbClr val="242933"/>
                </a:solidFill>
                <a:latin typeface="Calibri"/>
              </a:rPr>
              <a:t> the latent dynamics model you plan or learn against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A </a:t>
            </a:r>
            <a:r>
              <a:rPr sz="1500" b="1">
                <a:solidFill>
                  <a:srgbClr val="1F3864"/>
                </a:solidFill>
                <a:latin typeface="Calibri"/>
              </a:rPr>
              <a:t>visualisation decoder</a:t>
            </a:r>
            <a:r>
              <a:rPr sz="1500" b="0">
                <a:solidFill>
                  <a:srgbClr val="242933"/>
                </a:solidFill>
                <a:latin typeface="Calibri"/>
              </a:rPr>
              <a:t> is trained on the </a:t>
            </a:r>
            <a:r>
              <a:rPr sz="1500" b="1">
                <a:solidFill>
                  <a:srgbClr val="1F3864"/>
                </a:solidFill>
                <a:latin typeface="Calibri"/>
              </a:rPr>
              <a:t>frozen</a:t>
            </a:r>
            <a:r>
              <a:rPr sz="1500" b="0">
                <a:solidFill>
                  <a:srgbClr val="242933"/>
                </a:solidFill>
                <a:latin typeface="Calibri"/>
              </a:rPr>
              <a:t> encoder, never in the loss (figures only)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Compared at matched latent dimension against a reconstructive AE (Fukami) and POD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METHOD, ALTERNATIVE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Illustrated alternative: the autoencoder route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Reconstructive route (Fukami-Taira lineage): a </a:t>
            </a:r>
            <a:r>
              <a:rPr sz="1600" b="1">
                <a:solidFill>
                  <a:srgbClr val="1F3864"/>
                </a:solidFill>
                <a:latin typeface="Calibri"/>
              </a:rPr>
              <a:t>CNN encoder</a:t>
            </a:r>
            <a:r>
              <a:rPr sz="1600" b="0">
                <a:solidFill>
                  <a:srgbClr val="242933"/>
                </a:solidFill>
                <a:latin typeface="Calibri"/>
              </a:rPr>
              <a:t>, an </a:t>
            </a:r>
            <a:r>
              <a:rPr sz="1600" b="1">
                <a:solidFill>
                  <a:srgbClr val="1F3864"/>
                </a:solidFill>
                <a:latin typeface="Calibri"/>
              </a:rPr>
              <a:t>MLP latent ξ</a:t>
            </a:r>
            <a:r>
              <a:rPr sz="1600" b="0">
                <a:solidFill>
                  <a:srgbClr val="242933"/>
                </a:solidFill>
                <a:latin typeface="Calibri"/>
              </a:rPr>
              <a:t> (which also feeds a lift head to C_L), and a </a:t>
            </a:r>
            <a:r>
              <a:rPr sz="1600" b="1">
                <a:solidFill>
                  <a:srgbClr val="1F3864"/>
                </a:solidFill>
                <a:latin typeface="Calibri"/>
              </a:rPr>
              <a:t>CNN decoder</a:t>
            </a:r>
            <a:r>
              <a:rPr sz="1600" b="0">
                <a:solidFill>
                  <a:srgbClr val="242933"/>
                </a:solidFill>
                <a:latin typeface="Calibri"/>
              </a:rPr>
              <a:t>; the loss compares the reconstructed field to the input in </a:t>
            </a:r>
            <a:r>
              <a:rPr sz="1600" b="1">
                <a:solidFill>
                  <a:srgbClr val="1F3864"/>
                </a:solidFill>
                <a:latin typeface="Calibri"/>
              </a:rPr>
              <a:t>pixel space</a:t>
            </a:r>
          </a:p>
        </p:txBody>
      </p:sp>
      <p:pic>
        <p:nvPicPr>
          <p:cNvPr id="7" name="Picture 6" descr="fukami_a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468880"/>
            <a:ext cx="10698480" cy="304495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779008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An autoencoder reconstructs the field; the latent is shaped by pixel reconstruction.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METHOD, ALTERNATIVE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Illustrated alternative: the JEPA route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Same encoder, but a </a:t>
            </a:r>
            <a:r>
              <a:rPr sz="1600" b="1">
                <a:solidFill>
                  <a:srgbClr val="1F3864"/>
                </a:solidFill>
                <a:latin typeface="Calibri"/>
              </a:rPr>
              <a:t>predictor</a:t>
            </a:r>
            <a:r>
              <a:rPr sz="1600" b="0">
                <a:solidFill>
                  <a:srgbClr val="242933"/>
                </a:solidFill>
                <a:latin typeface="Calibri"/>
              </a:rPr>
              <a:t> advances the latent and the loss lives in </a:t>
            </a:r>
            <a:r>
              <a:rPr sz="1600" b="1">
                <a:solidFill>
                  <a:srgbClr val="1F3864"/>
                </a:solidFill>
                <a:latin typeface="Calibri"/>
              </a:rPr>
              <a:t>latent space</a:t>
            </a:r>
            <a:r>
              <a:rPr sz="1600" b="0">
                <a:solidFill>
                  <a:srgbClr val="242933"/>
                </a:solidFill>
                <a:latin typeface="Calibri"/>
              </a:rPr>
              <a:t>, with </a:t>
            </a:r>
            <a:r>
              <a:rPr sz="1600" b="1">
                <a:solidFill>
                  <a:srgbClr val="1F3864"/>
                </a:solidFill>
                <a:latin typeface="Calibri"/>
              </a:rPr>
              <a:t>no decoder</a:t>
            </a:r>
            <a:r>
              <a:rPr sz="1600" b="0">
                <a:solidFill>
                  <a:srgbClr val="242933"/>
                </a:solidFill>
                <a:latin typeface="Calibri"/>
              </a:rPr>
              <a:t> (an anti-collapse term keeps z informative)</a:t>
            </a:r>
          </a:p>
        </p:txBody>
      </p:sp>
      <p:pic>
        <p:nvPicPr>
          <p:cNvPr id="7" name="Picture 6" descr="fukami_je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468880"/>
            <a:ext cx="10698480" cy="32095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870448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JEPA predicts the next latent in latent space, with no field reconstruction.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Closure protocol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10972800" cy="2285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1">
                <a:solidFill>
                  <a:srgbClr val="1F3864"/>
                </a:solidFill>
                <a:latin typeface="Calibri"/>
              </a:rPr>
              <a:t>Representational closure (the headline):</a:t>
            </a:r>
            <a:r>
              <a:rPr sz="1700" b="0">
                <a:solidFill>
                  <a:srgbClr val="242933"/>
                </a:solidFill>
                <a:latin typeface="Calibri"/>
              </a:rPr>
              <a:t> probe each observable from the </a:t>
            </a:r>
            <a:r>
              <a:rPr sz="1700" b="1">
                <a:solidFill>
                  <a:srgbClr val="1F3864"/>
                </a:solidFill>
                <a:latin typeface="Calibri"/>
              </a:rPr>
              <a:t>encoded</a:t>
            </a:r>
            <a:r>
              <a:rPr sz="1700" b="0">
                <a:solidFill>
                  <a:srgbClr val="242933"/>
                </a:solidFill>
                <a:latin typeface="Calibri"/>
              </a:rPr>
              <a:t> latent at impact + 16, what the state *carries*, no rollout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1">
                <a:solidFill>
                  <a:srgbClr val="1F3864"/>
                </a:solidFill>
                <a:latin typeface="Calibri"/>
              </a:rPr>
              <a:t>Forward (rollout) mode:</a:t>
            </a:r>
            <a:r>
              <a:rPr sz="1700" b="0">
                <a:solidFill>
                  <a:srgbClr val="242933"/>
                </a:solidFill>
                <a:latin typeface="Calibri"/>
              </a:rPr>
              <a:t> roll the predictor recursively to </a:t>
            </a:r>
            <a:r>
              <a:rPr sz="1700" b="1">
                <a:solidFill>
                  <a:srgbClr val="1F3864"/>
                </a:solidFill>
                <a:latin typeface="Calibri"/>
              </a:rPr>
              <a:t>H = 16</a:t>
            </a:r>
            <a:r>
              <a:rPr sz="1700" b="0">
                <a:solidFill>
                  <a:srgbClr val="242933"/>
                </a:solidFill>
                <a:latin typeface="Calibri"/>
              </a:rPr>
              <a:t> and probe the predicted latent; here we use it </a:t>
            </a:r>
            <a:r>
              <a:rPr sz="1700" b="1">
                <a:solidFill>
                  <a:srgbClr val="1F3864"/>
                </a:solidFill>
                <a:latin typeface="Calibri"/>
              </a:rPr>
              <a:t>qualitatively</a:t>
            </a:r>
            <a:r>
              <a:rPr sz="1700" b="0">
                <a:solidFill>
                  <a:srgbClr val="242933"/>
                </a:solidFill>
                <a:latin typeface="Calibri"/>
              </a:rPr>
              <a:t> (does the rolled latent track the wake?)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1">
                <a:solidFill>
                  <a:srgbClr val="1F3864"/>
                </a:solidFill>
                <a:latin typeface="Calibri"/>
              </a:rPr>
              <a:t>Matched protocol:</a:t>
            </a:r>
            <a:r>
              <a:rPr sz="1700" b="0">
                <a:solidFill>
                  <a:srgbClr val="242933"/>
                </a:solidFill>
                <a:latin typeface="Calibri"/>
              </a:rPr>
              <a:t> same predictor architecture and same probe family, </a:t>
            </a:r>
            <a:r>
              <a:rPr sz="1700" b="1">
                <a:solidFill>
                  <a:srgbClr val="1F3864"/>
                </a:solidFill>
                <a:latin typeface="Calibri"/>
              </a:rPr>
              <a:t>trained / fitted separately per latent</a:t>
            </a:r>
            <a:r>
              <a:rPr sz="1700" b="0">
                <a:solidFill>
                  <a:srgbClr val="242933"/>
                </a:solidFill>
                <a:latin typeface="Calibri"/>
              </a:rPr>
              <a:t>, so differences are the encoder's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1">
                <a:solidFill>
                  <a:srgbClr val="1F3864"/>
                </a:solidFill>
                <a:latin typeface="Calibri"/>
              </a:rPr>
              <a:t>Parameter-only floor:</a:t>
            </a:r>
            <a:r>
              <a:rPr sz="1700" b="0">
                <a:solidFill>
                  <a:srgbClr val="242933"/>
                </a:solidFill>
                <a:latin typeface="Calibri"/>
              </a:rPr>
              <a:t> can the </a:t>
            </a:r>
            <a:r>
              <a:rPr sz="1700" b="1">
                <a:solidFill>
                  <a:srgbClr val="1F3864"/>
                </a:solidFill>
                <a:latin typeface="Calibri"/>
              </a:rPr>
              <a:t>three gust numbers (G, D, Y) alone</a:t>
            </a:r>
            <a:r>
              <a:rPr sz="1700" b="0">
                <a:solidFill>
                  <a:srgbClr val="242933"/>
                </a:solidFill>
                <a:latin typeface="Calibri"/>
              </a:rPr>
              <a:t> predict each observable (a kernel-ridge fit)? Beating the floor proves the latent </a:t>
            </a:r>
            <a:r>
              <a:rPr sz="1700" b="1">
                <a:solidFill>
                  <a:srgbClr val="1F3864"/>
                </a:solidFill>
                <a:latin typeface="Calibri"/>
              </a:rPr>
              <a:t>carries flow state beyond the parameters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Reported with bootstrap CIs, 3 encoder seeds, 5-fold probe CV; held-out test_b / test_c</a:t>
            </a:r>
          </a:p>
        </p:txBody>
      </p:sp>
      <p:pic>
        <p:nvPicPr>
          <p:cNvPr id="7" name="Picture 6" descr="eval_protoc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0572" y="3977639"/>
            <a:ext cx="7080374" cy="1920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16167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The same probe maps every encoder family to the observables. Representational mode (encoded latent) is the headline; forward rollout is shown qualitatively.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Main result: the latent keeps the wake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1722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1">
                <a:solidFill>
                  <a:srgbClr val="1F3864"/>
                </a:solidFill>
                <a:latin typeface="Calibri"/>
              </a:rPr>
              <a:t>Representational closure:</a:t>
            </a:r>
            <a:r>
              <a:rPr sz="1600" b="0">
                <a:solidFill>
                  <a:srgbClr val="242933"/>
                </a:solidFill>
                <a:latin typeface="Calibri"/>
              </a:rPr>
              <a:t> probe the </a:t>
            </a:r>
            <a:r>
              <a:rPr sz="1600" b="1">
                <a:solidFill>
                  <a:srgbClr val="1F3864"/>
                </a:solidFill>
                <a:latin typeface="Calibri"/>
              </a:rPr>
              <a:t>encoded</a:t>
            </a:r>
            <a:r>
              <a:rPr sz="1600" b="0">
                <a:solidFill>
                  <a:srgbClr val="242933"/>
                </a:solidFill>
                <a:latin typeface="Calibri"/>
              </a:rPr>
              <a:t> latent (no rollout) for each observable at impact + 16; the question is what the unconditioned state *carries*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1">
                <a:solidFill>
                  <a:srgbClr val="1F3864"/>
                </a:solidFill>
                <a:latin typeface="Calibri"/>
              </a:rPr>
              <a:t>Wake enstrophy is the discriminator: tf-no-c R² = 0.71</a:t>
            </a:r>
            <a:r>
              <a:rPr sz="1600" b="0">
                <a:solidFill>
                  <a:srgbClr val="242933"/>
                </a:solidFill>
                <a:latin typeface="Calibri"/>
              </a:rPr>
              <a:t> (the conditioned model 0.75; reconstructive and POD far lower, 0.06 and below)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So the </a:t>
            </a:r>
            <a:r>
              <a:rPr sz="1600" b="1">
                <a:solidFill>
                  <a:srgbClr val="1F3864"/>
                </a:solidFill>
                <a:latin typeface="Calibri"/>
              </a:rPr>
              <a:t>unconditioned</a:t>
            </a:r>
            <a:r>
              <a:rPr sz="1600" b="0">
                <a:solidFill>
                  <a:srgbClr val="242933"/>
                </a:solidFill>
                <a:latin typeface="Calibri"/>
              </a:rPr>
              <a:t> latent (no gust parameters anywhere) </a:t>
            </a:r>
            <a:r>
              <a:rPr sz="1600" b="1">
                <a:solidFill>
                  <a:srgbClr val="1F3864"/>
                </a:solidFill>
                <a:latin typeface="Calibri"/>
              </a:rPr>
              <a:t>encodes the wake that reconstruction smooths away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Forces and circulations are read off cleanly too (C_L 0.88, Γ± 0.85 / 0.78, C_D 0.69); the </a:t>
            </a:r>
            <a:r>
              <a:rPr sz="1600" b="1">
                <a:solidFill>
                  <a:srgbClr val="1F3864"/>
                </a:solidFill>
                <a:latin typeface="Calibri"/>
              </a:rPr>
              <a:t>mean over six is 0.51</a:t>
            </a:r>
            <a:r>
              <a:rPr sz="1600" b="0">
                <a:solidFill>
                  <a:srgbClr val="242933"/>
                </a:solidFill>
                <a:latin typeface="Calibri"/>
              </a:rPr>
              <a:t>, with the transport impulse I_y the weak observable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1">
                <a:solidFill>
                  <a:srgbClr val="1F3864"/>
                </a:solidFill>
                <a:latin typeface="Calibri"/>
              </a:rPr>
              <a:t>Wake enstrophy</a:t>
            </a:r>
            <a:r>
              <a:rPr sz="1600" b="0">
                <a:solidFill>
                  <a:srgbClr val="242933"/>
                </a:solidFill>
                <a:latin typeface="Calibri"/>
              </a:rPr>
              <a:t> E_w = ∫ ω_z² over the wake (x/c ∈ [0.5, 4], |y/c| ≤ 1): the </a:t>
            </a:r>
            <a:r>
              <a:rPr sz="1600" b="1">
                <a:solidFill>
                  <a:srgbClr val="1F3864"/>
                </a:solidFill>
                <a:latin typeface="Calibri"/>
              </a:rPr>
              <a:t>intensity of the wake's rotational structures</a:t>
            </a:r>
            <a:r>
              <a:rPr sz="1600" b="0">
                <a:solidFill>
                  <a:srgbClr val="242933"/>
                </a:solidFill>
                <a:latin typeface="Calibri"/>
              </a:rPr>
              <a:t> (LEV + shed vortices) that set the future load, the part reconstruction-only states lose</a:t>
            </a:r>
          </a:p>
        </p:txBody>
      </p:sp>
      <p:pic>
        <p:nvPicPr>
          <p:cNvPr id="7" name="Picture 6" descr="repr_clo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664208"/>
            <a:ext cx="4937760" cy="202272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949440" y="6108192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Held-out representational R² at impact + 16 from the encoded latent (test_b). Left: per observable (tf-no-c). Right: wake-enstrophy R² across families.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RESULT, QUALITATIVE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The rolled latent qualitatively tracks the wake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74519"/>
            <a:ext cx="42976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The predictor </a:t>
            </a:r>
            <a:r>
              <a:rPr sz="1500" b="1">
                <a:solidFill>
                  <a:srgbClr val="1F3864"/>
                </a:solidFill>
                <a:latin typeface="Calibri"/>
              </a:rPr>
              <a:t>rolls the latent forward from impact</a:t>
            </a:r>
            <a:r>
              <a:rPr sz="1500" b="0">
                <a:solidFill>
                  <a:srgbClr val="242933"/>
                </a:solidFill>
                <a:latin typeface="Calibri"/>
              </a:rPr>
              <a:t>; each scalar is read off the rolled latent by a fixed linear probe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1">
                <a:solidFill>
                  <a:srgbClr val="1F3864"/>
                </a:solidFill>
                <a:latin typeface="Calibri"/>
              </a:rPr>
              <a:t>Wake enstrophy</a:t>
            </a:r>
            <a:r>
              <a:rPr sz="1500" b="0">
                <a:solidFill>
                  <a:srgbClr val="242933"/>
                </a:solidFill>
                <a:latin typeface="Calibri"/>
              </a:rPr>
              <a:t> and </a:t>
            </a:r>
            <a:r>
              <a:rPr sz="1500" b="1">
                <a:solidFill>
                  <a:srgbClr val="1F3864"/>
                </a:solidFill>
                <a:latin typeface="Calibri"/>
              </a:rPr>
              <a:t>lift</a:t>
            </a:r>
            <a:r>
              <a:rPr sz="1500" b="0">
                <a:solidFill>
                  <a:srgbClr val="242933"/>
                </a:solidFill>
                <a:latin typeface="Calibri"/>
              </a:rPr>
              <a:t> qualitatively track the DNS truth (black) through impact and the lift dip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Reconstruction (green) = encoded-latent </a:t>
            </a:r>
            <a:r>
              <a:rPr sz="1500" b="1">
                <a:solidFill>
                  <a:srgbClr val="1F3864"/>
                </a:solidFill>
                <a:latin typeface="Calibri"/>
              </a:rPr>
              <a:t>ceiling</a:t>
            </a:r>
            <a:r>
              <a:rPr sz="1500" b="0">
                <a:solidFill>
                  <a:srgbClr val="242933"/>
                </a:solidFill>
                <a:latin typeface="Calibri"/>
              </a:rPr>
              <a:t>; prediction (orange) = the </a:t>
            </a:r>
            <a:r>
              <a:rPr sz="1500" b="1">
                <a:solidFill>
                  <a:srgbClr val="1F3864"/>
                </a:solidFill>
                <a:latin typeface="Calibri"/>
              </a:rPr>
              <a:t>rolled latent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A representative </a:t>
            </a:r>
            <a:r>
              <a:rPr sz="1500" b="1">
                <a:solidFill>
                  <a:srgbClr val="1F3864"/>
                </a:solidFill>
                <a:latin typeface="Calibri"/>
              </a:rPr>
              <a:t>low-error</a:t>
            </a:r>
            <a:r>
              <a:rPr sz="1500" b="0">
                <a:solidFill>
                  <a:srgbClr val="242933"/>
                </a:solidFill>
                <a:latin typeface="Calibri"/>
              </a:rPr>
              <a:t> encounter (G = +1.5), not the hardest case; shown qualitatively, no closure R² claimed here</a:t>
            </a:r>
          </a:p>
        </p:txBody>
      </p:sp>
      <p:pic>
        <p:nvPicPr>
          <p:cNvPr id="7" name="forecast_anim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212080" y="1600200"/>
            <a:ext cx="6309360" cy="455371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RESULT, PHYSICAL SPACE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The same rollout in physical space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242933"/>
                </a:solidFill>
                <a:latin typeface="Calibri"/>
              </a:rPr>
              <a:t>Decode the rolled latent every frame: the rolled latent qualitatively tracks the wake as full vorticity fields, not just scalars.</a:t>
            </a:r>
          </a:p>
        </p:txBody>
      </p:sp>
      <p:pic>
        <p:nvPicPr>
          <p:cNvPr id="7" name="field_anim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77240" y="2057400"/>
            <a:ext cx="10607040" cy="27980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5029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DNS truth vs reconstruction (JEPA encode→decode of the latent) vs prediction (rolled latent), G = +1.5. At impact (H = 0) prediction = reconstruction; they diverge with horizon. SSIM(prediction) 0.75 at impact, 0.63 at H = 16. The latent keeps the LEV and shear layer; fine-scale wake is not retained at d = 64.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It is the wake, not the forces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2636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1">
                <a:solidFill>
                  <a:srgbClr val="1F3864"/>
                </a:solidFill>
                <a:latin typeface="Calibri"/>
              </a:rPr>
              <a:t>Forces</a:t>
            </a:r>
            <a:r>
              <a:rPr sz="1700" b="0">
                <a:solidFill>
                  <a:srgbClr val="242933"/>
                </a:solidFill>
                <a:latin typeface="Calibri"/>
              </a:rPr>
              <a:t> (C_L, C_D) are carried </a:t>
            </a:r>
            <a:r>
              <a:rPr sz="1700" b="1">
                <a:solidFill>
                  <a:srgbClr val="1F3864"/>
                </a:solidFill>
                <a:latin typeface="Calibri"/>
              </a:rPr>
              <a:t>redundantly by every family</a:t>
            </a:r>
            <a:r>
              <a:rPr sz="1700" b="0">
                <a:solidFill>
                  <a:srgbClr val="242933"/>
                </a:solidFill>
                <a:latin typeface="Calibri"/>
              </a:rPr>
              <a:t>, many coordinates encode them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Only the unconditioned predictive latent carries a </a:t>
            </a:r>
            <a:r>
              <a:rPr sz="1700" b="1">
                <a:solidFill>
                  <a:srgbClr val="1F3864"/>
                </a:solidFill>
                <a:latin typeface="Calibri"/>
              </a:rPr>
              <a:t>distributed wake code</a:t>
            </a:r>
            <a:r>
              <a:rPr sz="1700" b="0">
                <a:solidFill>
                  <a:srgbClr val="242933"/>
                </a:solidFill>
                <a:latin typeface="Calibri"/>
              </a:rPr>
              <a:t> (full latent 0.84; best single coordinate 0.48)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Reconstructive / linear: best single coordinate ≈ the whole latent → </a:t>
            </a:r>
            <a:r>
              <a:rPr sz="1700" b="1">
                <a:solidFill>
                  <a:srgbClr val="1F3864"/>
                </a:solidFill>
                <a:latin typeface="Calibri"/>
              </a:rPr>
              <a:t>no collective wake structure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And it clears the </a:t>
            </a:r>
            <a:r>
              <a:rPr sz="1700" b="1">
                <a:solidFill>
                  <a:srgbClr val="1F3864"/>
                </a:solidFill>
                <a:latin typeface="Calibri"/>
              </a:rPr>
              <a:t>parameter-only floor</a:t>
            </a:r>
            <a:r>
              <a:rPr sz="1700" b="0">
                <a:solidFill>
                  <a:srgbClr val="242933"/>
                </a:solidFill>
                <a:latin typeface="Calibri"/>
              </a:rPr>
              <a:t> → the latent, not the parameters, does the work</a:t>
            </a:r>
          </a:p>
        </p:txBody>
      </p:sp>
      <p:pic>
        <p:nvPicPr>
          <p:cNvPr id="7" name="Picture 6" descr="wake_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664208"/>
            <a:ext cx="4754880" cy="324550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40880" y="610819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Wake skill: full latent (dark) vs best single coordinate (light).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The wake in physical space: the Gaussian scale split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2636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1">
                <a:solidFill>
                  <a:srgbClr val="1F3864"/>
                </a:solidFill>
                <a:latin typeface="Calibri"/>
              </a:rPr>
              <a:t>Gaussian scale split</a:t>
            </a:r>
            <a:r>
              <a:rPr sz="1400" b="0">
                <a:solidFill>
                  <a:srgbClr val="242933"/>
                </a:solidFill>
                <a:latin typeface="Calibri"/>
              </a:rPr>
              <a:t> (Motoori &amp; Goto 2019): low-pass the vorticity at σ/c = 0.05 into a </a:t>
            </a:r>
            <a:r>
              <a:rPr sz="1400" b="1">
                <a:solidFill>
                  <a:srgbClr val="1F3864"/>
                </a:solidFill>
                <a:latin typeface="Calibri"/>
              </a:rPr>
              <a:t>large-scale</a:t>
            </a:r>
            <a:r>
              <a:rPr sz="1400" b="0">
                <a:solidFill>
                  <a:srgbClr val="242933"/>
                </a:solidFill>
                <a:latin typeface="Calibri"/>
              </a:rPr>
              <a:t> part (LEV + shear layer, carries the lift) and a fine part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0">
                <a:solidFill>
                  <a:srgbClr val="242933"/>
                </a:solidFill>
                <a:latin typeface="Calibri"/>
              </a:rPr>
              <a:t>Top: large-scale vorticity at impact+16 for the strongest test gust (G = -3, D = 1.5, Y = -0.1), simulation vs the </a:t>
            </a:r>
            <a:r>
              <a:rPr sz="1400" b="1">
                <a:solidFill>
                  <a:srgbClr val="1F3864"/>
                </a:solidFill>
                <a:latin typeface="Calibri"/>
              </a:rPr>
              <a:t>predictive</a:t>
            </a:r>
            <a:r>
              <a:rPr sz="1400" b="0">
                <a:solidFill>
                  <a:srgbClr val="242933"/>
                </a:solidFill>
                <a:latin typeface="Calibri"/>
              </a:rPr>
              <a:t> and </a:t>
            </a:r>
            <a:r>
              <a:rPr sz="1400" b="1">
                <a:solidFill>
                  <a:srgbClr val="1F3864"/>
                </a:solidFill>
                <a:latin typeface="Calibri"/>
              </a:rPr>
              <a:t>reconstructive</a:t>
            </a:r>
            <a:r>
              <a:rPr sz="1400" b="0">
                <a:solidFill>
                  <a:srgbClr val="242933"/>
                </a:solidFill>
                <a:latin typeface="Calibri"/>
              </a:rPr>
              <a:t> encode-then-decode reconstructions: predictive keeps the LEV/wake, reconstructive smooths it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0">
                <a:solidFill>
                  <a:srgbClr val="242933"/>
                </a:solidFill>
                <a:latin typeface="Calibri"/>
              </a:rPr>
              <a:t>Bottom: the </a:t>
            </a:r>
            <a:r>
              <a:rPr sz="1400" b="1">
                <a:solidFill>
                  <a:srgbClr val="1F3864"/>
                </a:solidFill>
                <a:latin typeface="Calibri"/>
              </a:rPr>
              <a:t>large-scale wake enstrophy</a:t>
            </a:r>
            <a:r>
              <a:rPr sz="1400" b="0">
                <a:solidFill>
                  <a:srgbClr val="242933"/>
                </a:solidFill>
                <a:latin typeface="Calibri"/>
              </a:rPr>
              <a:t> through the encounter; bands = mean ± 1 s.d. across test_b encounters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0">
                <a:solidFill>
                  <a:srgbClr val="242933"/>
                </a:solidFill>
                <a:latin typeface="Calibri"/>
              </a:rPr>
              <a:t>So 'it is the wake' is visible in </a:t>
            </a:r>
            <a:r>
              <a:rPr sz="1400" b="1">
                <a:solidFill>
                  <a:srgbClr val="1F3864"/>
                </a:solidFill>
                <a:latin typeface="Calibri"/>
              </a:rPr>
              <a:t>physical space</a:t>
            </a:r>
            <a:r>
              <a:rPr sz="1400" b="0">
                <a:solidFill>
                  <a:srgbClr val="242933"/>
                </a:solidFill>
                <a:latin typeface="Calibri"/>
              </a:rPr>
              <a:t>, not only in the scalar closure</a:t>
            </a:r>
          </a:p>
        </p:txBody>
      </p:sp>
      <p:pic>
        <p:nvPicPr>
          <p:cNvPr id="7" name="Picture 6" descr="scale_deco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664208"/>
            <a:ext cx="4754880" cy="308987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40880" y="610819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Large-scale (σ/c = 0.05) wake vorticity at impact+16 (top) and large-scale wake enstrophy vs frame (bottom), by family.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Latent coordinates group by physical function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2578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Profile each of the 64 unconditioned-latent coordinates by its |Spearman| correlation with nine descriptors (gust G, forces, wake enstrophy, circulations Γ±, wake thickness, centroid)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Clustering the profiles recovers </a:t>
            </a:r>
            <a:r>
              <a:rPr sz="1500" b="1">
                <a:solidFill>
                  <a:srgbClr val="1F3864"/>
                </a:solidFill>
                <a:latin typeface="Calibri"/>
              </a:rPr>
              <a:t>functional groups</a:t>
            </a:r>
            <a:r>
              <a:rPr sz="1500" b="0">
                <a:solidFill>
                  <a:srgbClr val="242933"/>
                </a:solidFill>
                <a:latin typeface="Calibri"/>
              </a:rPr>
              <a:t>: </a:t>
            </a:r>
            <a:r>
              <a:rPr sz="1500" b="1">
                <a:solidFill>
                  <a:srgbClr val="1F3864"/>
                </a:solidFill>
                <a:latin typeface="Calibri"/>
              </a:rPr>
              <a:t>~51 wake-vorticity</a:t>
            </a:r>
            <a:r>
              <a:rPr sz="1500" b="0">
                <a:solidFill>
                  <a:srgbClr val="242933"/>
                </a:solidFill>
                <a:latin typeface="Calibri"/>
              </a:rPr>
              <a:t> coordinates (three wake-dominated clusters) and </a:t>
            </a:r>
            <a:r>
              <a:rPr sz="1500" b="1">
                <a:solidFill>
                  <a:srgbClr val="1F3864"/>
                </a:solidFill>
                <a:latin typeface="Calibri"/>
              </a:rPr>
              <a:t>11 gust-forcing</a:t>
            </a:r>
            <a:r>
              <a:rPr sz="1500" b="0">
                <a:solidFill>
                  <a:srgbClr val="242933"/>
                </a:solidFill>
                <a:latin typeface="Calibri"/>
              </a:rPr>
              <a:t> coordinates (one force cluster)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Alone, the wake groups carry the wake at </a:t>
            </a:r>
            <a:r>
              <a:rPr sz="1500" b="1">
                <a:solidFill>
                  <a:srgbClr val="1F3864"/>
                </a:solidFill>
                <a:latin typeface="Calibri"/>
              </a:rPr>
              <a:t>≈ 0.7-0.8</a:t>
            </a:r>
            <a:r>
              <a:rPr sz="1500" b="0">
                <a:solidFill>
                  <a:srgbClr val="242933"/>
                </a:solidFill>
                <a:latin typeface="Calibri"/>
              </a:rPr>
              <a:t>, the forcing group at </a:t>
            </a:r>
            <a:r>
              <a:rPr sz="1500" b="1">
                <a:solidFill>
                  <a:srgbClr val="1F3864"/>
                </a:solidFill>
                <a:latin typeface="Calibri"/>
              </a:rPr>
              <a:t>0.45</a:t>
            </a:r>
            <a:r>
              <a:rPr sz="1500" b="0">
                <a:solidFill>
                  <a:srgbClr val="242933"/>
                </a:solidFill>
                <a:latin typeface="Calibri"/>
              </a:rPr>
              <a:t> (all 64 together: 0.84), the collective wake code seen earlier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C05210"/>
                </a:solidFill>
                <a:latin typeface="Calibri"/>
              </a:rPr>
              <a:t>•  </a:t>
            </a:r>
            <a:r>
              <a:rPr sz="1500" b="0">
                <a:solidFill>
                  <a:srgbClr val="242933"/>
                </a:solidFill>
                <a:latin typeface="Calibri"/>
              </a:rPr>
              <a:t>Read </a:t>
            </a:r>
            <a:r>
              <a:rPr sz="1500" b="1">
                <a:solidFill>
                  <a:srgbClr val="1F3864"/>
                </a:solidFill>
                <a:latin typeface="Calibri"/>
              </a:rPr>
              <a:t>descriptively</a:t>
            </a:r>
            <a:r>
              <a:rPr sz="1500" b="0">
                <a:solidFill>
                  <a:srgbClr val="242933"/>
                </a:solidFill>
                <a:latin typeface="Calibri"/>
              </a:rPr>
              <a:t>, not as a causal claim</a:t>
            </a:r>
          </a:p>
        </p:txBody>
      </p:sp>
      <p:pic>
        <p:nvPicPr>
          <p:cNvPr id="7" name="Picture 6" descr="coord_grou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664208"/>
            <a:ext cx="5852160" cy="418408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35040" y="6108192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Per-coordinate |ρ| with each descriptor; rows grouped into functional clusters (G1-G4), labelled with coord count and held-out wake skill.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RESULT, CONTROLS (CONDITIONED-MODEL CONTROL)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Controls: objective and supervision, not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2636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1">
                <a:solidFill>
                  <a:srgbClr val="1F3864"/>
                </a:solidFill>
                <a:latin typeface="Calibri"/>
              </a:rPr>
              <a:t>(Conditioned-model control; no unconditioned variant run.)</a:t>
            </a:r>
            <a:r>
              <a:rPr sz="1700" b="0">
                <a:solidFill>
                  <a:srgbClr val="242933"/>
                </a:solidFill>
                <a:latin typeface="Calibri"/>
              </a:rPr>
              <a:t> </a:t>
            </a:r>
            <a:r>
              <a:rPr sz="1700" b="1">
                <a:solidFill>
                  <a:srgbClr val="1F3864"/>
                </a:solidFill>
                <a:latin typeface="Calibri"/>
              </a:rPr>
              <a:t>2 × 2:</a:t>
            </a:r>
            <a:r>
              <a:rPr sz="1700" b="0">
                <a:solidFill>
                  <a:srgbClr val="242933"/>
                </a:solidFill>
                <a:latin typeface="Calibri"/>
              </a:rPr>
              <a:t> objective {predictive, reconstructive} × architecture {CNN, CNN+ViT}, auxiliary heads matched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Predictive beats reconstructive at </a:t>
            </a:r>
            <a:r>
              <a:rPr sz="1700" b="1">
                <a:solidFill>
                  <a:srgbClr val="1F3864"/>
                </a:solidFill>
                <a:latin typeface="Calibri"/>
              </a:rPr>
              <a:t>both</a:t>
            </a:r>
            <a:r>
              <a:rPr sz="1700" b="0">
                <a:solidFill>
                  <a:srgbClr val="242933"/>
                </a:solidFill>
                <a:latin typeface="Calibri"/>
              </a:rPr>
              <a:t> architectures (wake R² 0.46 / 0.45 vs 0.16 / 0.29) → </a:t>
            </a:r>
            <a:r>
              <a:rPr sz="1700" b="1">
                <a:solidFill>
                  <a:srgbClr val="1F3864"/>
                </a:solidFill>
                <a:latin typeface="Calibri"/>
              </a:rPr>
              <a:t>not the ViT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Remove the wake head from the predictive model → wake closure </a:t>
            </a:r>
            <a:r>
              <a:rPr sz="1700" b="1">
                <a:solidFill>
                  <a:srgbClr val="1F3864"/>
                </a:solidFill>
                <a:latin typeface="Calibri"/>
              </a:rPr>
              <a:t>collapses below floor (R² = −1.03)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→ the gain needs the </a:t>
            </a:r>
            <a:r>
              <a:rPr sz="1700" b="1">
                <a:solidFill>
                  <a:srgbClr val="1F3864"/>
                </a:solidFill>
                <a:latin typeface="Calibri"/>
              </a:rPr>
              <a:t>predictive objective and wake supervision together</a:t>
            </a:r>
          </a:p>
        </p:txBody>
      </p:sp>
      <p:pic>
        <p:nvPicPr>
          <p:cNvPr id="7" name="Picture 6" descr="controls_fair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664208"/>
            <a:ext cx="4754880" cy="30972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40880" y="610819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Objective × architecture controls, three seeds per cell.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Diagnostic 1: latent drift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2636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1">
                <a:solidFill>
                  <a:srgbClr val="1F3864"/>
                </a:solidFill>
                <a:latin typeface="Calibri"/>
              </a:rPr>
              <a:t>Why this question:</a:t>
            </a:r>
            <a:r>
              <a:rPr sz="1400" b="0">
                <a:solidFill>
                  <a:srgbClr val="242933"/>
                </a:solidFill>
                <a:latin typeface="Calibri"/>
              </a:rPr>
              <a:t> a planner / RL agent queries the model at states reached by its </a:t>
            </a:r>
            <a:r>
              <a:rPr sz="1400" b="1">
                <a:solidFill>
                  <a:srgbClr val="1F3864"/>
                </a:solidFill>
                <a:latin typeface="Calibri"/>
              </a:rPr>
              <a:t>own rollout</a:t>
            </a:r>
            <a:r>
              <a:rPr sz="1400" b="0">
                <a:solidFill>
                  <a:srgbClr val="242933"/>
                </a:solidFill>
                <a:latin typeface="Calibri"/>
              </a:rPr>
              <a:t>, one-step error is not enough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1">
                <a:solidFill>
                  <a:srgbClr val="1F3864"/>
                </a:solidFill>
                <a:latin typeface="Calibri"/>
              </a:rPr>
              <a:t>Mahalanobis distance:</a:t>
            </a:r>
            <a:r>
              <a:rPr sz="1400" b="0">
                <a:solidFill>
                  <a:srgbClr val="242933"/>
                </a:solidFill>
                <a:latin typeface="Calibri"/>
              </a:rPr>
              <a:t> covariance-aware distance from a reference cloud, d = sqrt((z−μ)' S^-1 (z−μ)); ≈ 1 is one standard-deviation unit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0">
                <a:solidFill>
                  <a:srgbClr val="242933"/>
                </a:solidFill>
                <a:latin typeface="Calibri"/>
              </a:rPr>
              <a:t>We compare the </a:t>
            </a:r>
            <a:r>
              <a:rPr sz="1400" b="1">
                <a:solidFill>
                  <a:srgbClr val="1F3864"/>
                </a:solidFill>
                <a:latin typeface="Calibri"/>
              </a:rPr>
              <a:t>rolled-out</a:t>
            </a:r>
            <a:r>
              <a:rPr sz="1400" b="0">
                <a:solidFill>
                  <a:srgbClr val="242933"/>
                </a:solidFill>
                <a:latin typeface="Calibri"/>
              </a:rPr>
              <a:t> latent to the distribution of </a:t>
            </a:r>
            <a:r>
              <a:rPr sz="1400" b="1">
                <a:solidFill>
                  <a:srgbClr val="1F3864"/>
                </a:solidFill>
                <a:latin typeface="Calibri"/>
              </a:rPr>
              <a:t>DNS-encoded</a:t>
            </a:r>
            <a:r>
              <a:rPr sz="1400" b="0">
                <a:solidFill>
                  <a:srgbClr val="242933"/>
                </a:solidFill>
                <a:latin typeface="Calibri"/>
              </a:rPr>
              <a:t> latents (ratio = rollout / encoded)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1">
                <a:solidFill>
                  <a:srgbClr val="1F3864"/>
                </a:solidFill>
                <a:latin typeface="Calibri"/>
              </a:rPr>
              <a:t>Result:</a:t>
            </a:r>
            <a:r>
              <a:rPr sz="1400" b="0">
                <a:solidFill>
                  <a:srgbClr val="242933"/>
                </a:solidFill>
                <a:latin typeface="Calibri"/>
              </a:rPr>
              <a:t> the </a:t>
            </a:r>
            <a:r>
              <a:rPr sz="1400" b="1">
                <a:solidFill>
                  <a:srgbClr val="1F3864"/>
                </a:solidFill>
                <a:latin typeface="Calibri"/>
              </a:rPr>
              <a:t>unconditioned</a:t>
            </a:r>
            <a:r>
              <a:rPr sz="1400" b="0">
                <a:solidFill>
                  <a:srgbClr val="242933"/>
                </a:solidFill>
                <a:latin typeface="Calibri"/>
              </a:rPr>
              <a:t> rollout drift grows </a:t>
            </a:r>
            <a:r>
              <a:rPr sz="1400" b="1">
                <a:solidFill>
                  <a:srgbClr val="1F3864"/>
                </a:solidFill>
                <a:latin typeface="Calibri"/>
              </a:rPr>
              <a:t>gracefully</a:t>
            </a:r>
            <a:r>
              <a:rPr sz="1400" b="0">
                <a:solidFill>
                  <a:srgbClr val="242933"/>
                </a:solidFill>
                <a:latin typeface="Calibri"/>
              </a:rPr>
              <a:t> and stays on-manifold, matching the conditioned model; the reconstructive rollout drifts far off-manifold by comparison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0">
                <a:solidFill>
                  <a:srgbClr val="242933"/>
                </a:solidFill>
                <a:latin typeface="Calibri"/>
              </a:rPr>
              <a:t>So the predictive state remains in-distribution as it is propagated, exactly where the probes (and a planner) are valid</a:t>
            </a:r>
          </a:p>
        </p:txBody>
      </p:sp>
      <p:pic>
        <p:nvPicPr>
          <p:cNvPr id="7" name="Picture 6" descr="dri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664208"/>
            <a:ext cx="4754880" cy="295701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40880" y="610819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Rollout drift vs horizon (test_b): relative Mahalanobis distance of the rolled latent to the DNS-encoded cloud. The unconditioned rollout stays on-manifold.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Diagnostic 2: topology of the encounter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2636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1">
                <a:solidFill>
                  <a:srgbClr val="1F3864"/>
                </a:solidFill>
                <a:latin typeface="Calibri"/>
              </a:rPr>
              <a:t>Why:</a:t>
            </a:r>
            <a:r>
              <a:rPr sz="1400" b="0">
                <a:solidFill>
                  <a:srgbClr val="242933"/>
                </a:solidFill>
                <a:latin typeface="Calibri"/>
              </a:rPr>
              <a:t> shedding and gust encounters are </a:t>
            </a:r>
            <a:r>
              <a:rPr sz="1400" b="1">
                <a:solidFill>
                  <a:srgbClr val="1F3864"/>
                </a:solidFill>
                <a:latin typeface="Calibri"/>
              </a:rPr>
              <a:t>cyclic</a:t>
            </a:r>
            <a:r>
              <a:rPr sz="1400" b="0">
                <a:solidFill>
                  <a:srgbClr val="242933"/>
                </a:solidFill>
                <a:latin typeface="Calibri"/>
              </a:rPr>
              <a:t>; a faithful state should trace </a:t>
            </a:r>
            <a:r>
              <a:rPr sz="1400" b="1">
                <a:solidFill>
                  <a:srgbClr val="1F3864"/>
                </a:solidFill>
                <a:latin typeface="Calibri"/>
              </a:rPr>
              <a:t>one loop</a:t>
            </a:r>
            <a:r>
              <a:rPr sz="1400" b="0">
                <a:solidFill>
                  <a:srgbClr val="242933"/>
                </a:solidFill>
                <a:latin typeface="Calibri"/>
              </a:rPr>
              <a:t> per encounter, not a tangle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1">
                <a:solidFill>
                  <a:srgbClr val="1F3864"/>
                </a:solidFill>
                <a:latin typeface="Calibri"/>
              </a:rPr>
              <a:t>Persistent homology</a:t>
            </a:r>
            <a:r>
              <a:rPr sz="1400" b="0">
                <a:solidFill>
                  <a:srgbClr val="242933"/>
                </a:solidFill>
                <a:latin typeface="Calibri"/>
              </a:rPr>
              <a:t> (coordinate-free): it grows a distance scale on the latent trajectory and counts the </a:t>
            </a:r>
            <a:r>
              <a:rPr sz="1400" b="1">
                <a:solidFill>
                  <a:srgbClr val="1F3864"/>
                </a:solidFill>
                <a:latin typeface="Calibri"/>
              </a:rPr>
              <a:t>loops (1-cycles) that persist</a:t>
            </a:r>
            <a:r>
              <a:rPr sz="1400" b="0">
                <a:solidFill>
                  <a:srgbClr val="242933"/>
                </a:solidFill>
                <a:latin typeface="Calibri"/>
              </a:rPr>
              <a:t> over a long scale range, i.e. the genuine cycles, not noise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1">
                <a:solidFill>
                  <a:srgbClr val="1F3864"/>
                </a:solidFill>
                <a:latin typeface="Calibri"/>
              </a:rPr>
              <a:t>Result (encoded latent, 42 test_b encounters):</a:t>
            </a:r>
            <a:r>
              <a:rPr sz="1400" b="0">
                <a:solidFill>
                  <a:srgbClr val="242933"/>
                </a:solidFill>
                <a:latin typeface="Calibri"/>
              </a:rPr>
              <a:t> the </a:t>
            </a:r>
            <a:r>
              <a:rPr sz="1400" b="1">
                <a:solidFill>
                  <a:srgbClr val="1F3864"/>
                </a:solidFill>
                <a:latin typeface="Calibri"/>
              </a:rPr>
              <a:t>unconditioned</a:t>
            </a:r>
            <a:r>
              <a:rPr sz="1400" b="0">
                <a:solidFill>
                  <a:srgbClr val="242933"/>
                </a:solidFill>
                <a:latin typeface="Calibri"/>
              </a:rPr>
              <a:t> tf-no-c latent has </a:t>
            </a:r>
            <a:r>
              <a:rPr sz="1400" b="1">
                <a:solidFill>
                  <a:srgbClr val="1F3864"/>
                </a:solidFill>
                <a:latin typeface="Calibri"/>
              </a:rPr>
              <a:t>median 1</a:t>
            </a:r>
            <a:r>
              <a:rPr sz="1400" b="0">
                <a:solidFill>
                  <a:srgbClr val="242933"/>
                </a:solidFill>
                <a:latin typeface="Calibri"/>
              </a:rPr>
              <a:t> persistent loop vs reconstructive </a:t>
            </a:r>
            <a:r>
              <a:rPr sz="1400" b="1">
                <a:solidFill>
                  <a:srgbClr val="1F3864"/>
                </a:solidFill>
                <a:latin typeface="Calibri"/>
              </a:rPr>
              <a:t>median ~4</a:t>
            </a:r>
            <a:r>
              <a:rPr sz="1400" b="0">
                <a:solidFill>
                  <a:srgbClr val="242933"/>
                </a:solidFill>
                <a:latin typeface="Calibri"/>
              </a:rPr>
              <a:t> (Mann-Whitney p ≈ 5×10⁻⁹)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0">
                <a:solidFill>
                  <a:srgbClr val="242933"/>
                </a:solidFill>
                <a:latin typeface="Calibri"/>
              </a:rPr>
              <a:t>So the predictive state is a </a:t>
            </a:r>
            <a:r>
              <a:rPr sz="1400" b="1">
                <a:solidFill>
                  <a:srgbClr val="1F3864"/>
                </a:solidFill>
                <a:latin typeface="Calibri"/>
              </a:rPr>
              <a:t>single clean cycle</a:t>
            </a:r>
            <a:r>
              <a:rPr sz="1400" b="0">
                <a:solidFill>
                  <a:srgbClr val="242933"/>
                </a:solidFill>
                <a:latin typeface="Calibri"/>
              </a:rPr>
              <a:t>, the reconstructive one </a:t>
            </a:r>
            <a:r>
              <a:rPr sz="1400" b="1">
                <a:solidFill>
                  <a:srgbClr val="1F3864"/>
                </a:solidFill>
                <a:latin typeface="Calibri"/>
              </a:rPr>
              <a:t>fragments</a:t>
            </a:r>
            <a:r>
              <a:rPr sz="1400" b="0">
                <a:solidFill>
                  <a:srgbClr val="242933"/>
                </a:solidFill>
                <a:latin typeface="Calibri"/>
              </a:rPr>
              <a:t>. This is the *topological count*, </a:t>
            </a:r>
            <a:r>
              <a:rPr sz="1400" b="1">
                <a:solidFill>
                  <a:srgbClr val="1F3864"/>
                </a:solidFill>
                <a:latin typeface="Calibri"/>
              </a:rPr>
              <a:t>not</a:t>
            </a:r>
            <a:r>
              <a:rPr sz="1400" b="0">
                <a:solidFill>
                  <a:srgbClr val="242933"/>
                </a:solidFill>
                <a:latin typeface="Calibri"/>
              </a:rPr>
              <a:t> a claim that the PCA curve visually closes (panels are encode→decode, no predictor; the orbit departs the baseline cycle and only partially returns in 120 frames)</a:t>
            </a:r>
          </a:p>
        </p:txBody>
      </p:sp>
      <p:pic>
        <p:nvPicPr>
          <p:cNvPr id="7" name="Picture 6" descr="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664208"/>
            <a:ext cx="4754880" cy="1914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40880" y="610819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(a, b) PCA of the encoded-latent trajectory; (c) staged decodes (reconstructions) with OT distances. Single-cycle = median 1 persistent H1 generator (vs ~4); the orbit need not visually close in the window.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RESULT, PHYSICAL SPACE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Decoded reconstructions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10972800" cy="1417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Decoded fields: predictive vs reconstructive vs POD vs DNS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The predictive decode is </a:t>
            </a:r>
            <a:r>
              <a:rPr sz="1700" b="1">
                <a:solidFill>
                  <a:srgbClr val="1F3864"/>
                </a:solidFill>
                <a:latin typeface="Calibri"/>
              </a:rPr>
              <a:t>blurrier pixel-wise</a:t>
            </a:r>
            <a:r>
              <a:rPr sz="1700" b="0">
                <a:solidFill>
                  <a:srgbClr val="242933"/>
                </a:solidFill>
                <a:latin typeface="Calibri"/>
              </a:rPr>
              <a:t> but preserves the </a:t>
            </a:r>
            <a:r>
              <a:rPr sz="1700" b="1">
                <a:solidFill>
                  <a:srgbClr val="1F3864"/>
                </a:solidFill>
                <a:latin typeface="Calibri"/>
              </a:rPr>
              <a:t>transported large-scale wake</a:t>
            </a:r>
            <a:r>
              <a:rPr sz="1700" b="0">
                <a:solidFill>
                  <a:srgbClr val="242933"/>
                </a:solidFill>
                <a:latin typeface="Calibri"/>
              </a:rPr>
              <a:t>; the reconstructive decode is sharp yet drifts under rollout</a:t>
            </a:r>
          </a:p>
        </p:txBody>
      </p:sp>
      <p:pic>
        <p:nvPicPr>
          <p:cNvPr id="7" name="Picture 6" descr="reconstru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7833" y="3108960"/>
            <a:ext cx="6005853" cy="2926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6053327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Held-out reconstructions; the predictive objective trades pixel sharpness for transported structure.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CONTROL RELEVANCE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Sparse sensor placement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1097280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Sparse wall-pressure sensors selected by </a:t>
            </a:r>
            <a:r>
              <a:rPr sz="1700" b="1">
                <a:solidFill>
                  <a:srgbClr val="1F3864"/>
                </a:solidFill>
                <a:latin typeface="Calibri"/>
              </a:rPr>
              <a:t>TCSI / qDEIM</a:t>
            </a:r>
            <a:r>
              <a:rPr sz="1700" b="0">
                <a:solidFill>
                  <a:srgbClr val="242933"/>
                </a:solidFill>
                <a:latin typeface="Calibri"/>
              </a:rPr>
              <a:t> vs uniform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Pressure → latent map: KernelRidge(RBF) on the K-sensor × pre-impact-window vector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K = 2 / 4 / 8 / 16; the LSTM/KRR comparison is 5-fold-CV selected to guard small-sample overfitting</a:t>
            </a:r>
          </a:p>
        </p:txBody>
      </p:sp>
      <p:pic>
        <p:nvPicPr>
          <p:cNvPr id="7" name="Picture 6" descr="sensor_plac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7821" y="3200400"/>
            <a:ext cx="6985876" cy="2834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6053327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Optimal sparse sensor placement on the airfoil surface.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CONTROL RELEVANCE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Flow recovered from sparse wall pressure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2636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1">
                <a:solidFill>
                  <a:srgbClr val="1F3864"/>
                </a:solidFill>
                <a:latin typeface="Calibri"/>
              </a:rPr>
              <a:t>Model:</a:t>
            </a:r>
            <a:r>
              <a:rPr sz="1600" b="0">
                <a:solidFill>
                  <a:srgbClr val="242933"/>
                </a:solidFill>
                <a:latin typeface="Calibri"/>
              </a:rPr>
              <a:t> a </a:t>
            </a:r>
            <a:r>
              <a:rPr sz="1600" b="1">
                <a:solidFill>
                  <a:srgbClr val="1F3864"/>
                </a:solidFill>
                <a:latin typeface="Calibri"/>
              </a:rPr>
              <a:t>KernelRidge (RBF kernel)</a:t>
            </a:r>
            <a:r>
              <a:rPr sz="1600" b="0">
                <a:solidFill>
                  <a:srgbClr val="242933"/>
                </a:solidFill>
                <a:latin typeface="Calibri"/>
              </a:rPr>
              <a:t> regressor maps the K wall-pressure taps over a pre-impact window to the </a:t>
            </a:r>
            <a:r>
              <a:rPr sz="1600" b="1">
                <a:solidFill>
                  <a:srgbClr val="1F3864"/>
                </a:solidFill>
                <a:latin typeface="Calibri"/>
              </a:rPr>
              <a:t>impact-frame latent</a:t>
            </a:r>
            <a:r>
              <a:rPr sz="1600" b="0">
                <a:solidFill>
                  <a:srgbClr val="242933"/>
                </a:solidFill>
                <a:latin typeface="Calibri"/>
              </a:rPr>
              <a:t>; the frozen decoder then renders the field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1">
                <a:solidFill>
                  <a:srgbClr val="1F3864"/>
                </a:solidFill>
                <a:latin typeface="Calibri"/>
              </a:rPr>
              <a:t>K = 8 taps</a:t>
            </a:r>
            <a:r>
              <a:rPr sz="1600" b="0">
                <a:solidFill>
                  <a:srgbClr val="242933"/>
                </a:solidFill>
                <a:latin typeface="Calibri"/>
              </a:rPr>
              <a:t> recover the leading-edge vortex and shear layer; </a:t>
            </a:r>
            <a:r>
              <a:rPr sz="1600" b="1">
                <a:solidFill>
                  <a:srgbClr val="1F3864"/>
                </a:solidFill>
                <a:latin typeface="Calibri"/>
              </a:rPr>
              <a:t>K = 2</a:t>
            </a:r>
            <a:r>
              <a:rPr sz="1600" b="0">
                <a:solidFill>
                  <a:srgbClr val="242933"/>
                </a:solidFill>
                <a:latin typeface="Calibri"/>
              </a:rPr>
              <a:t> coarsens but keeps the gross wake structure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Benchmarked against the </a:t>
            </a:r>
            <a:r>
              <a:rPr sz="1600" b="1">
                <a:solidFill>
                  <a:srgbClr val="1F3864"/>
                </a:solidFill>
                <a:latin typeface="Calibri"/>
              </a:rPr>
              <a:t>oracle decode</a:t>
            </a:r>
            <a:r>
              <a:rPr sz="1600" b="0">
                <a:solidFill>
                  <a:srgbClr val="242933"/>
                </a:solidFill>
                <a:latin typeface="Calibri"/>
              </a:rPr>
              <a:t> (decode of the simulation-encoded latent) and the simulation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So the predictive state is </a:t>
            </a:r>
            <a:r>
              <a:rPr sz="1600" b="1">
                <a:solidFill>
                  <a:srgbClr val="1F3864"/>
                </a:solidFill>
                <a:latin typeface="Calibri"/>
              </a:rPr>
              <a:t>reconstructible from a few wall sensors</a:t>
            </a:r>
            <a:r>
              <a:rPr sz="1600" b="0">
                <a:solidFill>
                  <a:srgbClr val="242933"/>
                </a:solidFill>
                <a:latin typeface="Calibri"/>
              </a:rPr>
              <a:t>, a deployment-relevant observability result</a:t>
            </a:r>
          </a:p>
        </p:txBody>
      </p:sp>
      <p:pic>
        <p:nvPicPr>
          <p:cNvPr id="7" name="Picture 6" descr="flow_recove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664208"/>
            <a:ext cx="4754880" cy="272876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40880" y="610819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Flow recovered from sparse wall pressure: simulation, oracle decode, and decode of the latent estimated from K = 8 and K = 2 taps (held-out encounters).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CONTROL RELEVANCE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Sparse-sensor state estimation in action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242933"/>
                </a:solidFill>
                <a:latin typeface="Calibri"/>
              </a:rPr>
              <a:t>No predictor here: a per-frame </a:t>
            </a:r>
            <a:r>
              <a:rPr sz="1600" b="1">
                <a:solidFill>
                  <a:srgbClr val="1F3864"/>
                </a:solidFill>
                <a:latin typeface="Calibri"/>
              </a:rPr>
              <a:t>MLP</a:t>
            </a:r>
            <a:r>
              <a:rPr sz="1600" b="0">
                <a:solidFill>
                  <a:srgbClr val="242933"/>
                </a:solidFill>
                <a:latin typeface="Calibri"/>
              </a:rPr>
              <a:t> maps a causal 6-frame window of 8 wall-pressure taps to the latent, then the frozen decoder renders the field.</a:t>
            </a:r>
          </a:p>
        </p:txBody>
      </p:sp>
      <p:pic>
        <p:nvPicPr>
          <p:cNvPr id="7" name="sensing_anim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600200" y="1965960"/>
            <a:ext cx="8961120" cy="32826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3492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DNS truth (green dots mark the 8 TCSI taps) vs the field recovered from wall pressure alone, on a held-out encounter. Held-out-encounter latent R² = 0.74, SSIM 0.63. Wall pressure fixes the near-body LEV and shear layer; the far wake is not surface-observable.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CONTROL RELEVANCE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Control relevance: observable ahead of impact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0807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From a causal window of sparse wall pressure, recover the </a:t>
            </a:r>
            <a:r>
              <a:rPr sz="1600" b="1">
                <a:solidFill>
                  <a:srgbClr val="1F3864"/>
                </a:solidFill>
                <a:latin typeface="Calibri"/>
              </a:rPr>
              <a:t>impact-frame latent</a:t>
            </a:r>
            <a:r>
              <a:rPr sz="1600" b="0">
                <a:solidFill>
                  <a:srgbClr val="242933"/>
                </a:solidFill>
                <a:latin typeface="Calibri"/>
              </a:rPr>
              <a:t> at a </a:t>
            </a:r>
            <a:r>
              <a:rPr sz="1600" b="1">
                <a:solidFill>
                  <a:srgbClr val="1F3864"/>
                </a:solidFill>
                <a:latin typeface="Calibri"/>
              </a:rPr>
              <a:t>lead time before impact</a:t>
            </a:r>
            <a:r>
              <a:rPr sz="1600" b="0">
                <a:solidFill>
                  <a:srgbClr val="242933"/>
                </a:solidFill>
                <a:latin typeface="Calibri"/>
              </a:rPr>
              <a:t> (held-out test_b)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1">
                <a:solidFill>
                  <a:srgbClr val="1F3864"/>
                </a:solidFill>
                <a:latin typeface="Calibri"/>
              </a:rPr>
              <a:t>Impact state</a:t>
            </a:r>
            <a:r>
              <a:rPr sz="1600" b="0">
                <a:solidFill>
                  <a:srgbClr val="242933"/>
                </a:solidFill>
                <a:latin typeface="Calibri"/>
              </a:rPr>
              <a:t> is recovered at </a:t>
            </a:r>
            <a:r>
              <a:rPr sz="1600" b="1">
                <a:solidFill>
                  <a:srgbClr val="1F3864"/>
                </a:solidFill>
                <a:latin typeface="Calibri"/>
              </a:rPr>
              <a:t>R² ≈ 0.88</a:t>
            </a:r>
            <a:r>
              <a:rPr sz="1600" b="0">
                <a:solidFill>
                  <a:srgbClr val="242933"/>
                </a:solidFill>
                <a:latin typeface="Calibri"/>
              </a:rPr>
              <a:t> right at impact and stays </a:t>
            </a:r>
            <a:r>
              <a:rPr sz="1600" b="1">
                <a:solidFill>
                  <a:srgbClr val="1F3864"/>
                </a:solidFill>
                <a:latin typeface="Calibri"/>
              </a:rPr>
              <a:t>above 0.83 out to 8 frames ahead</a:t>
            </a:r>
            <a:r>
              <a:rPr sz="1600" b="0">
                <a:solidFill>
                  <a:srgbClr val="242933"/>
                </a:solidFill>
                <a:latin typeface="Calibri"/>
              </a:rPr>
              <a:t> (kernel ridge; LSTM comparable)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1">
                <a:solidFill>
                  <a:srgbClr val="1F3864"/>
                </a:solidFill>
                <a:latin typeface="Calibri"/>
              </a:rPr>
              <a:t>Impact lift</a:t>
            </a:r>
            <a:r>
              <a:rPr sz="1600" b="0">
                <a:solidFill>
                  <a:srgbClr val="242933"/>
                </a:solidFill>
                <a:latin typeface="Calibri"/>
              </a:rPr>
              <a:t> C_L is estimated with MAE rising gracefully from </a:t>
            </a:r>
            <a:r>
              <a:rPr sz="1600" b="1">
                <a:solidFill>
                  <a:srgbClr val="1F3864"/>
                </a:solidFill>
                <a:latin typeface="Calibri"/>
              </a:rPr>
              <a:t>≈ 0.38 at impact to ≈ 0.60 at 8 frames ahead</a:t>
            </a:r>
            <a:r>
              <a:rPr sz="1600" b="0">
                <a:solidFill>
                  <a:srgbClr val="242933"/>
                </a:solidFill>
                <a:latin typeface="Calibri"/>
              </a:rPr>
              <a:t> (LSTM lower, 0.29 to 0.49)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C05210"/>
                </a:solidFill>
                <a:latin typeface="Calibri"/>
              </a:rPr>
              <a:t>•  </a:t>
            </a:r>
            <a:r>
              <a:rPr sz="1600" b="0">
                <a:solidFill>
                  <a:srgbClr val="242933"/>
                </a:solidFill>
                <a:latin typeface="Calibri"/>
              </a:rPr>
              <a:t>So the </a:t>
            </a:r>
            <a:r>
              <a:rPr sz="1600" b="1">
                <a:solidFill>
                  <a:srgbClr val="1F3864"/>
                </a:solidFill>
                <a:latin typeface="Calibri"/>
              </a:rPr>
              <a:t>unconditioned</a:t>
            </a:r>
            <a:r>
              <a:rPr sz="1600" b="0">
                <a:solidFill>
                  <a:srgbClr val="242933"/>
                </a:solidFill>
                <a:latin typeface="Calibri"/>
              </a:rPr>
              <a:t> state is </a:t>
            </a:r>
            <a:r>
              <a:rPr sz="1600" b="1">
                <a:solidFill>
                  <a:srgbClr val="1F3864"/>
                </a:solidFill>
                <a:latin typeface="Calibri"/>
              </a:rPr>
              <a:t>observable ahead of impact</a:t>
            </a:r>
            <a:r>
              <a:rPr sz="1600" b="0">
                <a:solidFill>
                  <a:srgbClr val="242933"/>
                </a:solidFill>
                <a:latin typeface="Calibri"/>
              </a:rPr>
              <a:t> from a few wall sensors: the ingredient a controller consumes</a:t>
            </a:r>
          </a:p>
        </p:txBody>
      </p:sp>
      <p:pic>
        <p:nvPicPr>
          <p:cNvPr id="7" name="Picture 6" descr="cl_inference_si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664208"/>
            <a:ext cx="5029200" cy="225874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0" y="6108192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Recovered from sparse wall pressure at each lead time before impact (test_b): (a) impact-state R²; (b) impact-C_L MAE. Kernel ridge vs LSTM.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CONTROL RELEVANCE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Two forecast windows: early warning, then forecast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1097280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1">
                <a:solidFill>
                  <a:srgbClr val="1F3864"/>
                </a:solidFill>
                <a:latin typeface="Calibri"/>
              </a:rPr>
              <a:t>Roll the unconditioned predictor</a:t>
            </a:r>
            <a:r>
              <a:rPr sz="1400" b="0">
                <a:solidFill>
                  <a:srgbClr val="242933"/>
                </a:solidFill>
                <a:latin typeface="Calibri"/>
              </a:rPr>
              <a:t> and read each observable off the rolled latent: how early can we </a:t>
            </a:r>
            <a:r>
              <a:rPr sz="1400" b="1">
                <a:solidFill>
                  <a:srgbClr val="1F3864"/>
                </a:solidFill>
                <a:latin typeface="Calibri"/>
              </a:rPr>
              <a:t>anticipate</a:t>
            </a:r>
            <a:r>
              <a:rPr sz="1400" b="0">
                <a:solidFill>
                  <a:srgbClr val="242933"/>
                </a:solidFill>
                <a:latin typeface="Calibri"/>
              </a:rPr>
              <a:t> impact, and how far can we </a:t>
            </a:r>
            <a:r>
              <a:rPr sz="1400" b="1">
                <a:solidFill>
                  <a:srgbClr val="1F3864"/>
                </a:solidFill>
                <a:latin typeface="Calibri"/>
              </a:rPr>
              <a:t>forecast</a:t>
            </a:r>
            <a:r>
              <a:rPr sz="1400" b="0">
                <a:solidFill>
                  <a:srgbClr val="242933"/>
                </a:solidFill>
                <a:latin typeface="Calibri"/>
              </a:rPr>
              <a:t> after it?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1">
                <a:solidFill>
                  <a:srgbClr val="1F3864"/>
                </a:solidFill>
                <a:latin typeface="Calibri"/>
              </a:rPr>
              <a:t>Wake:</a:t>
            </a:r>
            <a:r>
              <a:rPr sz="1400" b="0">
                <a:solidFill>
                  <a:srgbClr val="242933"/>
                </a:solidFill>
                <a:latin typeface="Calibri"/>
              </a:rPr>
              <a:t> a wide </a:t>
            </a:r>
            <a:r>
              <a:rPr sz="1400" b="1">
                <a:solidFill>
                  <a:srgbClr val="1F3864"/>
                </a:solidFill>
                <a:latin typeface="Calibri"/>
              </a:rPr>
              <a:t>±16-frame (≈ ±0.8 t/c)</a:t>
            </a:r>
            <a:r>
              <a:rPr sz="1400" b="0">
                <a:solidFill>
                  <a:srgbClr val="242933"/>
                </a:solidFill>
                <a:latin typeface="Calibri"/>
              </a:rPr>
              <a:t> window around impact (R² 0.7-0.9) -- the structural signature gives </a:t>
            </a:r>
            <a:r>
              <a:rPr sz="1400" b="1">
                <a:solidFill>
                  <a:srgbClr val="1F3864"/>
                </a:solidFill>
                <a:latin typeface="Calibri"/>
              </a:rPr>
              <a:t>early warning</a:t>
            </a:r>
            <a:r>
              <a:rPr sz="1400" b="0">
                <a:solidFill>
                  <a:srgbClr val="242933"/>
                </a:solidFill>
                <a:latin typeface="Calibri"/>
              </a:rPr>
              <a:t> and short-range forecast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C05210"/>
                </a:solidFill>
                <a:latin typeface="Calibri"/>
              </a:rPr>
              <a:t>•  </a:t>
            </a:r>
            <a:r>
              <a:rPr sz="1400" b="1">
                <a:solidFill>
                  <a:srgbClr val="1F3864"/>
                </a:solidFill>
                <a:latin typeface="Calibri"/>
              </a:rPr>
              <a:t>Lift C_L:</a:t>
            </a:r>
            <a:r>
              <a:rPr sz="1400" b="0">
                <a:solidFill>
                  <a:srgbClr val="242933"/>
                </a:solidFill>
                <a:latin typeface="Calibri"/>
              </a:rPr>
              <a:t> hard to anticipate (flat before impact) but </a:t>
            </a:r>
            <a:r>
              <a:rPr sz="1400" b="1">
                <a:solidFill>
                  <a:srgbClr val="1F3864"/>
                </a:solidFill>
                <a:latin typeface="Calibri"/>
              </a:rPr>
              <a:t>strongly forecastable after</a:t>
            </a:r>
            <a:r>
              <a:rPr sz="1400" b="0">
                <a:solidFill>
                  <a:srgbClr val="242933"/>
                </a:solidFill>
                <a:latin typeface="Calibri"/>
              </a:rPr>
              <a:t> (R² ≈ 0.8 to +12) -- the load is predictable </a:t>
            </a:r>
            <a:r>
              <a:rPr sz="1400" b="1">
                <a:solidFill>
                  <a:srgbClr val="1F3864"/>
                </a:solidFill>
                <a:latin typeface="Calibri"/>
              </a:rPr>
              <a:t>once impact hits</a:t>
            </a:r>
          </a:p>
        </p:txBody>
      </p:sp>
      <p:pic>
        <p:nvPicPr>
          <p:cNvPr id="7" name="Picture 6" descr="forecast_windo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3498" y="3383280"/>
            <a:ext cx="6934522" cy="2560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61888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Wake (left) and lift (right) R² vs frames relative to impact (test_b): x &lt; 0 anticipation lead, x &gt; 0 forecast horizon; tf-no-c and lstm-no-c.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CONCLUSIONS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Conclusions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A </a:t>
            </a:r>
            <a:r>
              <a:rPr sz="1800" b="1">
                <a:solidFill>
                  <a:srgbClr val="1F3864"/>
                </a:solidFill>
                <a:latin typeface="Calibri"/>
              </a:rPr>
              <a:t>fully unconditioned predictive latent</a:t>
            </a:r>
            <a:r>
              <a:rPr sz="1800" b="0">
                <a:solidFill>
                  <a:srgbClr val="242933"/>
                </a:solidFill>
                <a:latin typeface="Calibri"/>
              </a:rPr>
              <a:t> (no gust parameters anywhere) </a:t>
            </a:r>
            <a:r>
              <a:rPr sz="1800" b="1">
                <a:solidFill>
                  <a:srgbClr val="1F3864"/>
                </a:solidFill>
                <a:latin typeface="Calibri"/>
              </a:rPr>
              <a:t>representationally keeps the wake</a:t>
            </a:r>
            <a:r>
              <a:rPr sz="1800" b="0">
                <a:solidFill>
                  <a:srgbClr val="242933"/>
                </a:solidFill>
                <a:latin typeface="Calibri"/>
              </a:rPr>
              <a:t> (wake R² ≈ 0.71) that </a:t>
            </a:r>
            <a:r>
              <a:rPr sz="1800" b="1">
                <a:solidFill>
                  <a:srgbClr val="1F3864"/>
                </a:solidFill>
                <a:latin typeface="Calibri"/>
              </a:rPr>
              <a:t>force-only and reconstruction-only</a:t>
            </a:r>
            <a:r>
              <a:rPr sz="1800" b="0">
                <a:solidFill>
                  <a:srgbClr val="242933"/>
                </a:solidFill>
                <a:latin typeface="Calibri"/>
              </a:rPr>
              <a:t> states lose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That latent </a:t>
            </a:r>
            <a:r>
              <a:rPr sz="1800" b="1">
                <a:solidFill>
                  <a:srgbClr val="1F3864"/>
                </a:solidFill>
                <a:latin typeface="Calibri"/>
              </a:rPr>
              <a:t>traces a single clean cycle</a:t>
            </a:r>
            <a:r>
              <a:rPr sz="1800" b="0">
                <a:solidFill>
                  <a:srgbClr val="242933"/>
                </a:solidFill>
                <a:latin typeface="Calibri"/>
              </a:rPr>
              <a:t>, is </a:t>
            </a:r>
            <a:r>
              <a:rPr sz="1800" b="1">
                <a:solidFill>
                  <a:srgbClr val="1F3864"/>
                </a:solidFill>
                <a:latin typeface="Calibri"/>
              </a:rPr>
              <a:t>transport-consistent</a:t>
            </a:r>
            <a:r>
              <a:rPr sz="1800" b="0">
                <a:solidFill>
                  <a:srgbClr val="242933"/>
                </a:solidFill>
                <a:latin typeface="Calibri"/>
              </a:rPr>
              <a:t> within an encounter, and is </a:t>
            </a:r>
            <a:r>
              <a:rPr sz="1800" b="1">
                <a:solidFill>
                  <a:srgbClr val="1F3864"/>
                </a:solidFill>
                <a:latin typeface="Calibri"/>
              </a:rPr>
              <a:t>observable from sparse wall pressure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      –  </a:t>
            </a:r>
            <a:r>
              <a:rPr sz="1500" b="1">
                <a:solidFill>
                  <a:srgbClr val="1F3864"/>
                </a:solidFill>
                <a:latin typeface="Calibri"/>
              </a:rPr>
              <a:t>compact</a:t>
            </a:r>
            <a:r>
              <a:rPr sz="1500" b="0">
                <a:solidFill>
                  <a:srgbClr val="6B7280"/>
                </a:solidFill>
                <a:latin typeface="Calibri"/>
              </a:rPr>
              <a:t> (d = 32 ≈ d = 64, participation ratio ≈ 1.7)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The </a:t>
            </a:r>
            <a:r>
              <a:rPr sz="1800" b="1">
                <a:solidFill>
                  <a:srgbClr val="1F3864"/>
                </a:solidFill>
                <a:latin typeface="Calibri"/>
              </a:rPr>
              <a:t>rollout</a:t>
            </a:r>
            <a:r>
              <a:rPr sz="1800" b="0">
                <a:solidFill>
                  <a:srgbClr val="242933"/>
                </a:solidFill>
                <a:latin typeface="Calibri"/>
              </a:rPr>
              <a:t> is shown </a:t>
            </a:r>
            <a:r>
              <a:rPr sz="1800" b="1">
                <a:solidFill>
                  <a:srgbClr val="1F3864"/>
                </a:solidFill>
                <a:latin typeface="Calibri"/>
              </a:rPr>
              <a:t>qualitatively</a:t>
            </a:r>
            <a:r>
              <a:rPr sz="1800" b="0">
                <a:solidFill>
                  <a:srgbClr val="242933"/>
                </a:solidFill>
                <a:latin typeface="Calibri"/>
              </a:rPr>
              <a:t>: it stays on-manifold and tracks the wake, but we make </a:t>
            </a:r>
            <a:r>
              <a:rPr sz="1800" b="1">
                <a:solidFill>
                  <a:srgbClr val="1F3864"/>
                </a:solidFill>
                <a:latin typeface="Calibri"/>
              </a:rPr>
              <a:t>no forward-closure R² claim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It is a </a:t>
            </a:r>
            <a:r>
              <a:rPr sz="1800" b="1">
                <a:solidFill>
                  <a:srgbClr val="1F3864"/>
                </a:solidFill>
                <a:latin typeface="Calibri"/>
              </a:rPr>
              <a:t>substrate</a:t>
            </a:r>
            <a:r>
              <a:rPr sz="1800" b="0">
                <a:solidFill>
                  <a:srgbClr val="242933"/>
                </a:solidFill>
                <a:latin typeface="Calibri"/>
              </a:rPr>
              <a:t> for model-based control and RL world-models, </a:t>
            </a:r>
            <a:r>
              <a:rPr sz="1800" b="1">
                <a:solidFill>
                  <a:srgbClr val="1F3864"/>
                </a:solidFill>
                <a:latin typeface="Calibri"/>
              </a:rPr>
              <a:t>not yet a validated controller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1">
                <a:solidFill>
                  <a:srgbClr val="1F3864"/>
                </a:solidFill>
                <a:latin typeface="Calibri"/>
              </a:rPr>
              <a:t>Next:</a:t>
            </a:r>
            <a:r>
              <a:rPr sz="1800" b="0">
                <a:solidFill>
                  <a:srgbClr val="242933"/>
                </a:solidFill>
                <a:latin typeface="Calibri"/>
              </a:rPr>
              <a:t> add an </a:t>
            </a:r>
            <a:r>
              <a:rPr sz="1800" b="1">
                <a:solidFill>
                  <a:srgbClr val="1F3864"/>
                </a:solidFill>
                <a:latin typeface="Calibri"/>
              </a:rPr>
              <a:t>actuation channel</a:t>
            </a:r>
            <a:r>
              <a:rPr sz="1800" b="0">
                <a:solidFill>
                  <a:srgbClr val="242933"/>
                </a:solidFill>
                <a:latin typeface="Calibri"/>
              </a:rPr>
              <a:t> (same machinery), </a:t>
            </a:r>
            <a:r>
              <a:rPr sz="1800" b="1">
                <a:solidFill>
                  <a:srgbClr val="1F3864"/>
                </a:solidFill>
                <a:latin typeface="Calibri"/>
              </a:rPr>
              <a:t>close the loop</a:t>
            </a:r>
            <a:r>
              <a:rPr sz="1800" b="0">
                <a:solidFill>
                  <a:srgbClr val="242933"/>
                </a:solidFill>
                <a:latin typeface="Calibri"/>
              </a:rPr>
              <a:t>, push to </a:t>
            </a:r>
            <a:r>
              <a:rPr sz="1800" b="1">
                <a:solidFill>
                  <a:srgbClr val="1F3864"/>
                </a:solidFill>
                <a:latin typeface="Calibri"/>
              </a:rPr>
              <a:t>3D observability</a:t>
            </a:r>
            <a:r>
              <a:rPr sz="1800" b="0">
                <a:solidFill>
                  <a:srgbClr val="242933"/>
                </a:solidFill>
                <a:latin typeface="Calibri"/>
              </a:rPr>
              <a:t> at |G| = 4, and carry the recipe to </a:t>
            </a:r>
            <a:r>
              <a:rPr sz="1800" b="1">
                <a:solidFill>
                  <a:srgbClr val="1F3864"/>
                </a:solidFill>
                <a:latin typeface="Calibri"/>
              </a:rPr>
              <a:t>other parametric flows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THANKS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Acknowledgements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242933"/>
                </a:solidFill>
                <a:latin typeface="Calibri"/>
              </a:rPr>
              <a:t>This work is a collaboration with:</a:t>
            </a:r>
          </a:p>
        </p:txBody>
      </p:sp>
      <p:pic>
        <p:nvPicPr>
          <p:cNvPr id="7" name="Picture 6" descr="photo_solera_s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79" y="2011680"/>
            <a:ext cx="1554480" cy="1554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79" y="3657600"/>
            <a:ext cx="3383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F3864"/>
                </a:solidFill>
                <a:latin typeface="Calibri"/>
              </a:rPr>
              <a:t>Alberto Solera-Rico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B7280"/>
                </a:solidFill>
                <a:latin typeface="Calibri"/>
              </a:rPr>
              <a:t>INTA · UC3M</a:t>
            </a:r>
          </a:p>
        </p:txBody>
      </p:sp>
      <p:pic>
        <p:nvPicPr>
          <p:cNvPr id="9" name="Picture 8" descr="photo_miro_sq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0" y="2011680"/>
            <a:ext cx="1554480" cy="1554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89120" y="3657600"/>
            <a:ext cx="3383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F3864"/>
                </a:solidFill>
                <a:latin typeface="Calibri"/>
              </a:rPr>
              <a:t>Arnau Miró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B7280"/>
                </a:solidFill>
                <a:latin typeface="Calibri"/>
              </a:rPr>
              <a:t>UPC · BSC</a:t>
            </a:r>
          </a:p>
        </p:txBody>
      </p:sp>
      <p:pic>
        <p:nvPicPr>
          <p:cNvPr id="11" name="Picture 10" descr="photo_lehmkuhl_sq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2560" y="2011680"/>
            <a:ext cx="1554480" cy="1554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138160" y="3657600"/>
            <a:ext cx="3383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F3864"/>
                </a:solidFill>
                <a:latin typeface="Calibri"/>
              </a:rPr>
              <a:t>Oriol Lehmkuhl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B7280"/>
                </a:solidFill>
                <a:latin typeface="Calibri"/>
              </a:rPr>
              <a:t>BSC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617720"/>
            <a:ext cx="10881360" cy="160020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617720"/>
            <a:ext cx="91440" cy="160020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773168"/>
            <a:ext cx="749807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42933"/>
                </a:solidFill>
                <a:latin typeface="Calibri"/>
              </a:rPr>
              <a:t>Work produced with the support of a 2024 Leonardo Grant for Researchers and Cultural Creators, BBVA Foundation, project PREVENT (grant LEO24-2-15988). The Foundation takes no responsibility for the opinions, statements and contents of this project, which are entirely the responsibility of its authors.</a:t>
            </a:r>
          </a:p>
        </p:txBody>
      </p:sp>
      <p:pic>
        <p:nvPicPr>
          <p:cNvPr id="16" name="Picture 15" descr="IMG_2283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62630" y="4846320"/>
            <a:ext cx="1008659" cy="566928"/>
          </a:xfrm>
          <a:prstGeom prst="rect">
            <a:avLst/>
          </a:prstGeom>
        </p:spPr>
      </p:pic>
      <p:pic>
        <p:nvPicPr>
          <p:cNvPr id="17" name="Picture 16" descr="IMG_228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67124" y="5532120"/>
            <a:ext cx="999671" cy="5669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606040"/>
            <a:ext cx="1033272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Calibri"/>
              </a:rPr>
              <a:t>Backup slides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1600" b="0">
                <a:solidFill>
                  <a:srgbClr val="C9D3E6"/>
                </a:solidFill>
                <a:latin typeface="Calibri"/>
              </a:rPr>
              <a:t>Supporting detail and ablations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" y="3886200"/>
            <a:ext cx="2743200" cy="54864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BACKUP, 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Transport geometry (optimal transport)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2636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C05210"/>
                </a:solidFill>
                <a:latin typeface="Calibri"/>
              </a:rPr>
              <a:t>•  </a:t>
            </a:r>
            <a:r>
              <a:rPr sz="1300" b="1">
                <a:solidFill>
                  <a:srgbClr val="1F3864"/>
                </a:solidFill>
                <a:latin typeface="Calibri"/>
              </a:rPr>
              <a:t>Why:</a:t>
            </a:r>
            <a:r>
              <a:rPr sz="1300" b="0">
                <a:solidFill>
                  <a:srgbClr val="242933"/>
                </a:solidFill>
                <a:latin typeface="Calibri"/>
              </a:rPr>
              <a:t> Euclidean / pixel distance ignores </a:t>
            </a:r>
            <a:r>
              <a:rPr sz="1300" b="1">
                <a:solidFill>
                  <a:srgbClr val="1F3864"/>
                </a:solidFill>
                <a:latin typeface="Calibri"/>
              </a:rPr>
              <a:t>where structures move</a:t>
            </a:r>
            <a:r>
              <a:rPr sz="1300" b="0">
                <a:solidFill>
                  <a:srgbClr val="242933"/>
                </a:solidFill>
                <a:latin typeface="Calibri"/>
              </a:rPr>
              <a:t>; control cares about advection of the LEV and shear layer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C05210"/>
                </a:solidFill>
                <a:latin typeface="Calibri"/>
              </a:rPr>
              <a:t>•  </a:t>
            </a:r>
            <a:r>
              <a:rPr sz="1300" b="1">
                <a:solidFill>
                  <a:srgbClr val="1F3864"/>
                </a:solidFill>
                <a:latin typeface="Calibri"/>
              </a:rPr>
              <a:t>OT field distance</a:t>
            </a:r>
            <a:r>
              <a:rPr sz="1300" b="0">
                <a:solidFill>
                  <a:srgbClr val="242933"/>
                </a:solidFill>
                <a:latin typeface="Calibri"/>
              </a:rPr>
              <a:t> (after Tran, Yeh &amp; Taira, JFM 2026): split vorticity into ± parts, transport each with </a:t>
            </a:r>
            <a:r>
              <a:rPr sz="1300" b="1">
                <a:solidFill>
                  <a:srgbClr val="1F3864"/>
                </a:solidFill>
                <a:latin typeface="Calibri"/>
              </a:rPr>
              <a:t>unbalanced Sinkhorn</a:t>
            </a:r>
            <a:r>
              <a:rPr sz="1300" b="0">
                <a:solidFill>
                  <a:srgbClr val="242933"/>
                </a:solidFill>
                <a:latin typeface="Calibri"/>
              </a:rPr>
              <a:t> OT and sum, the least work to rearrange one field into another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C05210"/>
                </a:solidFill>
                <a:latin typeface="Calibri"/>
              </a:rPr>
              <a:t>•  </a:t>
            </a:r>
            <a:r>
              <a:rPr sz="1300" b="0">
                <a:solidFill>
                  <a:srgbClr val="242933"/>
                </a:solidFill>
                <a:latin typeface="Calibri"/>
              </a:rPr>
              <a:t>We did </a:t>
            </a:r>
            <a:r>
              <a:rPr sz="1300" b="1">
                <a:solidFill>
                  <a:srgbClr val="1F3864"/>
                </a:solidFill>
                <a:latin typeface="Calibri"/>
              </a:rPr>
              <a:t>not</a:t>
            </a:r>
            <a:r>
              <a:rPr sz="1300" b="0">
                <a:solidFill>
                  <a:srgbClr val="242933"/>
                </a:solidFill>
                <a:latin typeface="Calibri"/>
              </a:rPr>
              <a:t> train the latent to match OT (that paper does); this is a </a:t>
            </a:r>
            <a:r>
              <a:rPr sz="1300" b="1">
                <a:solidFill>
                  <a:srgbClr val="1F3864"/>
                </a:solidFill>
                <a:latin typeface="Calibri"/>
              </a:rPr>
              <a:t>post-hoc test</a:t>
            </a:r>
            <a:r>
              <a:rPr sz="1300" b="0">
                <a:solidFill>
                  <a:srgbClr val="242933"/>
                </a:solidFill>
                <a:latin typeface="Calibri"/>
              </a:rPr>
              <a:t>: per encounter, Spearman-correlate the </a:t>
            </a:r>
            <a:r>
              <a:rPr sz="1300" b="1">
                <a:solidFill>
                  <a:srgbClr val="1F3864"/>
                </a:solidFill>
                <a:latin typeface="Calibri"/>
              </a:rPr>
              <a:t>latent</a:t>
            </a:r>
            <a:r>
              <a:rPr sz="1300" b="0">
                <a:solidFill>
                  <a:srgbClr val="242933"/>
                </a:solidFill>
                <a:latin typeface="Calibri"/>
              </a:rPr>
              <a:t> distance matrix with the </a:t>
            </a:r>
            <a:r>
              <a:rPr sz="1300" b="1">
                <a:solidFill>
                  <a:srgbClr val="1F3864"/>
                </a:solidFill>
                <a:latin typeface="Calibri"/>
              </a:rPr>
              <a:t>OT</a:t>
            </a:r>
            <a:r>
              <a:rPr sz="1300" b="0">
                <a:solidFill>
                  <a:srgbClr val="242933"/>
                </a:solidFill>
                <a:latin typeface="Calibri"/>
              </a:rPr>
              <a:t> matrix (n = 42)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C05210"/>
                </a:solidFill>
                <a:latin typeface="Calibri"/>
              </a:rPr>
              <a:t>•  </a:t>
            </a:r>
            <a:r>
              <a:rPr sz="1300" b="1">
                <a:solidFill>
                  <a:srgbClr val="1F3864"/>
                </a:solidFill>
                <a:latin typeface="Calibri"/>
              </a:rPr>
              <a:t>Within-encounter:</a:t>
            </a:r>
            <a:r>
              <a:rPr sz="1300" b="0">
                <a:solidFill>
                  <a:srgbClr val="242933"/>
                </a:solidFill>
                <a:latin typeface="Calibri"/>
              </a:rPr>
              <a:t> the unconditioned JEPA </a:t>
            </a:r>
            <a:r>
              <a:rPr sz="1300" b="1">
                <a:solidFill>
                  <a:srgbClr val="1F3864"/>
                </a:solidFill>
                <a:latin typeface="Calibri"/>
              </a:rPr>
              <a:t>0.61</a:t>
            </a:r>
            <a:r>
              <a:rPr sz="1300" b="0">
                <a:solidFill>
                  <a:srgbClr val="242933"/>
                </a:solidFill>
                <a:latin typeface="Calibri"/>
              </a:rPr>
              <a:t> vs reconstructive </a:t>
            </a:r>
            <a:r>
              <a:rPr sz="1300" b="1">
                <a:solidFill>
                  <a:srgbClr val="1F3864"/>
                </a:solidFill>
                <a:latin typeface="Calibri"/>
              </a:rPr>
              <a:t>0.45</a:t>
            </a:r>
            <a:r>
              <a:rPr sz="1300" b="0">
                <a:solidFill>
                  <a:srgbClr val="242933"/>
                </a:solidFill>
                <a:latin typeface="Calibri"/>
              </a:rPr>
              <a:t>, order-preservation along the trajectory, </a:t>
            </a:r>
            <a:r>
              <a:rPr sz="1300" b="1">
                <a:solidFill>
                  <a:srgbClr val="1F3864"/>
                </a:solidFill>
                <a:latin typeface="Calibri"/>
              </a:rPr>
              <a:t>not</a:t>
            </a:r>
            <a:r>
              <a:rPr sz="1300" b="0">
                <a:solidFill>
                  <a:srgbClr val="242933"/>
                </a:solidFill>
                <a:latin typeface="Calibri"/>
              </a:rPr>
              <a:t> an isometry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C05210"/>
                </a:solidFill>
                <a:latin typeface="Calibri"/>
              </a:rPr>
              <a:t>•  </a:t>
            </a:r>
            <a:r>
              <a:rPr sz="1300" b="1">
                <a:solidFill>
                  <a:srgbClr val="1F3864"/>
                </a:solidFill>
                <a:latin typeface="Calibri"/>
              </a:rPr>
              <a:t>Honest caveat:</a:t>
            </a:r>
            <a:r>
              <a:rPr sz="1300" b="0">
                <a:solidFill>
                  <a:srgbClr val="242933"/>
                </a:solidFill>
                <a:latin typeface="Calibri"/>
              </a:rPr>
              <a:t> *pooled across* encounters the alignment </a:t>
            </a:r>
            <a:r>
              <a:rPr sz="1300" b="1">
                <a:solidFill>
                  <a:srgbClr val="1F3864"/>
                </a:solidFill>
                <a:latin typeface="Calibri"/>
              </a:rPr>
              <a:t>does not hold</a:t>
            </a:r>
            <a:r>
              <a:rPr sz="1300" b="0">
                <a:solidFill>
                  <a:srgbClr val="242933"/>
                </a:solidFill>
                <a:latin typeface="Calibri"/>
              </a:rPr>
              <a:t>, so it is </a:t>
            </a:r>
            <a:r>
              <a:rPr sz="1300" b="1">
                <a:solidFill>
                  <a:srgbClr val="1F3864"/>
                </a:solidFill>
                <a:latin typeface="Calibri"/>
              </a:rPr>
              <a:t>trajectory-local</a:t>
            </a:r>
            <a:r>
              <a:rPr sz="1300" b="0">
                <a:solidFill>
                  <a:srgbClr val="242933"/>
                </a:solidFill>
                <a:latin typeface="Calibri"/>
              </a:rPr>
              <a:t>, not a global latent metric</a:t>
            </a:r>
          </a:p>
        </p:txBody>
      </p:sp>
      <p:pic>
        <p:nvPicPr>
          <p:cNvPr id="7" name="Picture 6" descr="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664208"/>
            <a:ext cx="4754880" cy="221959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40880" y="610819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Per-encounter latent-vs-OT distance alignment (Shepard). OT field distance after Tran, Yeh &amp; Taira (JFM 2026). Within-encounter Spearman 0.61 vs 0.45; pooled it does not hold.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Dataset and protocol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2636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Partition </a:t>
            </a:r>
            <a:r>
              <a:rPr sz="1700" b="1">
                <a:solidFill>
                  <a:srgbClr val="1F3864"/>
                </a:solidFill>
                <a:latin typeface="Calibri"/>
              </a:rPr>
              <a:t>v2</a:t>
            </a:r>
            <a:r>
              <a:rPr sz="1700" b="0">
                <a:solidFill>
                  <a:srgbClr val="242933"/>
                </a:solidFill>
                <a:latin typeface="Calibri"/>
              </a:rPr>
              <a:t> (locked, sha256-anchored): 84 cases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1">
                <a:solidFill>
                  <a:srgbClr val="1F3864"/>
                </a:solidFill>
                <a:latin typeface="Calibri"/>
              </a:rPr>
              <a:t>226</a:t>
            </a:r>
            <a:r>
              <a:rPr sz="1700" b="0">
                <a:solidFill>
                  <a:srgbClr val="242933"/>
                </a:solidFill>
                <a:latin typeface="Calibri"/>
              </a:rPr>
              <a:t> train encounters · </a:t>
            </a:r>
            <a:r>
              <a:rPr sz="1700" b="1">
                <a:solidFill>
                  <a:srgbClr val="1F3864"/>
                </a:solidFill>
                <a:latin typeface="Calibri"/>
              </a:rPr>
              <a:t>42</a:t>
            </a:r>
            <a:r>
              <a:rPr sz="1700" b="0">
                <a:solidFill>
                  <a:srgbClr val="242933"/>
                </a:solidFill>
                <a:latin typeface="Calibri"/>
              </a:rPr>
              <a:t> test_b · </a:t>
            </a:r>
            <a:r>
              <a:rPr sz="1700" b="1">
                <a:solidFill>
                  <a:srgbClr val="1F3864"/>
                </a:solidFill>
                <a:latin typeface="Calibri"/>
              </a:rPr>
              <a:t>24</a:t>
            </a:r>
            <a:r>
              <a:rPr sz="1700" b="0">
                <a:solidFill>
                  <a:srgbClr val="242933"/>
                </a:solidFill>
                <a:latin typeface="Calibri"/>
              </a:rPr>
              <a:t> test_c (|G| = 4)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ω_z pipeline v1: spatial mask + p99.99 clip + 3σ scale (train_std 3.55), no mean shift (preserves vorticity antisymmetry)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Reporting: bootstrap n = 2000 CIs · 3 encoder seeds · 5-fold probe CV</a:t>
            </a:r>
          </a:p>
        </p:txBody>
      </p:sp>
      <p:pic>
        <p:nvPicPr>
          <p:cNvPr id="7" name="Picture 6" descr="paramsp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664208"/>
            <a:ext cx="4754880" cy="198571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40880" y="610819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Training envelope in (G, D, Y).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BACKUP (CONDITIONED-MODEL CONTROL)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Matched-capacity: d = 32 vs d = 64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1">
                <a:solidFill>
                  <a:srgbClr val="1F3864"/>
                </a:solidFill>
                <a:latin typeface="Calibri"/>
              </a:rPr>
              <a:t>(Conditioned-model control; no unconditioned variant run.)</a:t>
            </a:r>
            <a:r>
              <a:rPr sz="1800" b="0">
                <a:solidFill>
                  <a:srgbClr val="242933"/>
                </a:solidFill>
                <a:latin typeface="Calibri"/>
              </a:rPr>
              <a:t> Halving the latent leaves the representation and </a:t>
            </a:r>
            <a:r>
              <a:rPr sz="1800" b="1">
                <a:solidFill>
                  <a:srgbClr val="1F3864"/>
                </a:solidFill>
                <a:latin typeface="Calibri"/>
              </a:rPr>
              <a:t>every mechanism diagnostic</a:t>
            </a:r>
            <a:r>
              <a:rPr sz="1800" b="0">
                <a:solidFill>
                  <a:srgbClr val="242933"/>
                </a:solidFill>
                <a:latin typeface="Calibri"/>
              </a:rPr>
              <a:t> intact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      –  representational wake R² 0.74 (d=32) vs 0.75 (d=64); drift ratio 0.86 vs 0.85; OT 0.61 vs 0.63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Cost is </a:t>
            </a:r>
            <a:r>
              <a:rPr sz="1800" b="1">
                <a:solidFill>
                  <a:srgbClr val="1F3864"/>
                </a:solidFill>
                <a:latin typeface="Calibri"/>
              </a:rPr>
              <a:t>in-distribution forecast sharpness</a:t>
            </a:r>
            <a:r>
              <a:rPr sz="1800" b="0">
                <a:solidFill>
                  <a:srgbClr val="242933"/>
                </a:solidFill>
                <a:latin typeface="Calibri"/>
              </a:rPr>
              <a:t>: H = 16 wake closure 0.45 → 0.21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Participation ratio ≈ 1.7, leading PC ≈ ¾ of variance → the effective dimension is a handful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BACKUP (CONDITIONED-MODEL CONTROL)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Seed variance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1">
                <a:solidFill>
                  <a:srgbClr val="1F3864"/>
                </a:solidFill>
                <a:latin typeface="Calibri"/>
              </a:rPr>
              <a:t>(Conditioned-model control; no unconditioned variant run.)</a:t>
            </a:r>
            <a:r>
              <a:rPr sz="1800" b="0">
                <a:solidFill>
                  <a:srgbClr val="242933"/>
                </a:solidFill>
                <a:latin typeface="Calibri"/>
              </a:rPr>
              <a:t> Three encoder seeds per cell; wake-closure means reported ± standard deviation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The reconstructive CNN+ViT cell has </a:t>
            </a:r>
            <a:r>
              <a:rPr sz="1800" b="1">
                <a:solidFill>
                  <a:srgbClr val="1F3864"/>
                </a:solidFill>
                <a:latin typeface="Calibri"/>
              </a:rPr>
              <a:t>large seed variance (±0.27)</a:t>
            </a:r>
            <a:r>
              <a:rPr sz="1800" b="0">
                <a:solidFill>
                  <a:srgbClr val="242933"/>
                </a:solidFill>
                <a:latin typeface="Calibri"/>
              </a:rPr>
              <a:t>, consistent with the drift mechanism: without a forward-predictable geometry, closure is unstable across initialisations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Predictive cells are tight (±0.03–0.06)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Parameter observability from the latent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1097280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z → (G, D, Y) probe R² from the rolled-out latent, K = 8 pre-impact sensors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test_b: </a:t>
            </a:r>
            <a:r>
              <a:rPr sz="1700" b="1">
                <a:solidFill>
                  <a:srgbClr val="1F3864"/>
                </a:solidFill>
                <a:latin typeface="Calibri"/>
              </a:rPr>
              <a:t>G 0.46 · D 0.80 · Y 0.10</a:t>
            </a:r>
            <a:r>
              <a:rPr sz="1700" b="0">
                <a:solidFill>
                  <a:srgbClr val="242933"/>
                </a:solidFill>
                <a:latin typeface="Calibri"/>
              </a:rPr>
              <a:t>, gust impulse and depth recoverable; cross-stream offset Y is marginal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test_c (|G| = 4): negative, the 3D observability boundary of a single mid-plane slice</a:t>
            </a:r>
          </a:p>
        </p:txBody>
      </p:sp>
      <p:pic>
        <p:nvPicPr>
          <p:cNvPr id="7" name="Picture 6" descr="pressure_observ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3388" y="3383280"/>
            <a:ext cx="5354743" cy="23774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779008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Gust parameters implicit in the latent on held-out cases.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SSIM convention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Reconstruction SSIM uses the </a:t>
            </a:r>
            <a:r>
              <a:rPr sz="1800" b="1">
                <a:solidFill>
                  <a:srgbClr val="1F3864"/>
                </a:solidFill>
                <a:latin typeface="Calibri"/>
              </a:rPr>
              <a:t>Wang convention</a:t>
            </a:r>
            <a:r>
              <a:rPr sz="1800" b="0">
                <a:solidFill>
                  <a:srgbClr val="242933"/>
                </a:solidFill>
                <a:latin typeface="Calibri"/>
              </a:rPr>
              <a:t> (K1 = 0.01, K2 = 0.03) on pipeline-normalised ω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Data range </a:t>
            </a:r>
            <a:r>
              <a:rPr sz="1800" b="1">
                <a:solidFill>
                  <a:srgbClr val="1F3864"/>
                </a:solidFill>
                <a:latin typeface="Calibri"/>
              </a:rPr>
              <a:t>L = 2 · global p99.9(|target|) ≈ 8.31</a:t>
            </a:r>
            <a:r>
              <a:rPr sz="1800" b="0">
                <a:solidFill>
                  <a:srgbClr val="242933"/>
                </a:solidFill>
                <a:latin typeface="Calibri"/>
              </a:rPr>
              <a:t> (split v2)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Decoder test_a SSIM ≈ </a:t>
            </a:r>
            <a:r>
              <a:rPr sz="1800" b="1">
                <a:solidFill>
                  <a:srgbClr val="1F3864"/>
                </a:solidFill>
                <a:latin typeface="Calibri"/>
              </a:rPr>
              <a:t>0.73</a:t>
            </a:r>
            <a:r>
              <a:rPr sz="1800" b="0">
                <a:solidFill>
                  <a:srgbClr val="242933"/>
                </a:solidFill>
                <a:latin typeface="Calibri"/>
              </a:rPr>
              <a:t> at this convention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Parameter-only floor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KRR-RBF on (G, D, Y) → observable at impact; train / test_b / test_c R²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      –  on train, (G, D, Y) interpolates C_L and C_D well (226 points in 3-D)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On </a:t>
            </a:r>
            <a:r>
              <a:rPr sz="1800" b="1">
                <a:solidFill>
                  <a:srgbClr val="1F3864"/>
                </a:solidFill>
                <a:latin typeface="Calibri"/>
              </a:rPr>
              <a:t>test_b</a:t>
            </a:r>
            <a:r>
              <a:rPr sz="1800" b="0">
                <a:solidFill>
                  <a:srgbClr val="242933"/>
                </a:solidFill>
                <a:latin typeface="Calibri"/>
              </a:rPr>
              <a:t> the floor </a:t>
            </a:r>
            <a:r>
              <a:rPr sz="1800" b="1">
                <a:solidFill>
                  <a:srgbClr val="1F3864"/>
                </a:solidFill>
                <a:latin typeface="Calibri"/>
              </a:rPr>
              <a:t>collapses</a:t>
            </a:r>
            <a:r>
              <a:rPr sz="1800" b="0">
                <a:solidFill>
                  <a:srgbClr val="242933"/>
                </a:solidFill>
                <a:latin typeface="Calibri"/>
              </a:rPr>
              <a:t> across observables; on </a:t>
            </a:r>
            <a:r>
              <a:rPr sz="1800" b="1">
                <a:solidFill>
                  <a:srgbClr val="1F3864"/>
                </a:solidFill>
                <a:latin typeface="Calibri"/>
              </a:rPr>
              <a:t>test_c</a:t>
            </a:r>
            <a:r>
              <a:rPr sz="1800" b="0">
                <a:solidFill>
                  <a:srgbClr val="242933"/>
                </a:solidFill>
                <a:latin typeface="Calibri"/>
              </a:rPr>
              <a:t> it is negative for 5 of 6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00" b="1">
                <a:solidFill>
                  <a:srgbClr val="C05210"/>
                </a:solidFill>
                <a:latin typeface="Calibri"/>
              </a:rPr>
              <a:t>•  </a:t>
            </a:r>
            <a:r>
              <a:rPr sz="1800" b="0">
                <a:solidFill>
                  <a:srgbClr val="242933"/>
                </a:solidFill>
                <a:latin typeface="Calibri"/>
              </a:rPr>
              <a:t>→ JEPA's generalisation is </a:t>
            </a:r>
            <a:r>
              <a:rPr sz="1800" b="1">
                <a:solidFill>
                  <a:srgbClr val="1F3864"/>
                </a:solidFill>
                <a:latin typeface="Calibri"/>
              </a:rPr>
              <a:t>not</a:t>
            </a:r>
            <a:r>
              <a:rPr sz="1800" b="0">
                <a:solidFill>
                  <a:srgbClr val="242933"/>
                </a:solidFill>
                <a:latin typeface="Calibri"/>
              </a:rPr>
              <a:t> explained by the gust parameters alone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Model detail: encoder and predictor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89788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•  </a:t>
            </a:r>
            <a:r>
              <a:rPr sz="1250" b="1">
                <a:solidFill>
                  <a:srgbClr val="1F3864"/>
                </a:solidFill>
                <a:latin typeface="Calibri"/>
              </a:rPr>
              <a:t>Encoder</a:t>
            </a:r>
            <a:r>
              <a:rPr sz="1250" b="0">
                <a:solidFill>
                  <a:srgbClr val="242933"/>
                </a:solidFill>
                <a:latin typeface="Calibri"/>
              </a:rPr>
              <a:t> = a CNN stem (3 down-sampling stages) + a 6-layer Vision Transformer; the field becomes 288 patch tokens, and a learned [CLS] token is mapped by a small MLP (with BatchNorm) to the latent z (d = 32 / 64)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•  </a:t>
            </a:r>
            <a:r>
              <a:rPr sz="1250" b="1">
                <a:solidFill>
                  <a:srgbClr val="1F3864"/>
                </a:solidFill>
                <a:latin typeface="Calibri"/>
              </a:rPr>
              <a:t>Predictor</a:t>
            </a:r>
            <a:r>
              <a:rPr sz="1250" b="0">
                <a:solidFill>
                  <a:srgbClr val="242933"/>
                </a:solidFill>
                <a:latin typeface="Calibri"/>
              </a:rPr>
              <a:t> = a 6-layer autoregressive transformer (hidden 384, 16 heads, dropout 0.1): it reads z(t) and emits the next latent z(t+1). </a:t>
            </a:r>
            <a:r>
              <a:rPr sz="1250" b="1">
                <a:solidFill>
                  <a:srgbClr val="1F3864"/>
                </a:solidFill>
                <a:latin typeface="Calibri"/>
              </a:rPr>
              <a:t>Unconditioned: no gust parameters enter the predictor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•  </a:t>
            </a:r>
            <a:r>
              <a:rPr sz="1250" b="1">
                <a:solidFill>
                  <a:srgbClr val="1F3864"/>
                </a:solidFill>
                <a:latin typeface="Calibri"/>
              </a:rPr>
              <a:t>Causal mask:</a:t>
            </a:r>
            <a:r>
              <a:rPr sz="1250" b="0">
                <a:solidFill>
                  <a:srgbClr val="242933"/>
                </a:solidFill>
                <a:latin typeface="Calibri"/>
              </a:rPr>
              <a:t> each step sees only past steps, never the future; </a:t>
            </a:r>
            <a:r>
              <a:rPr sz="1250" b="1">
                <a:solidFill>
                  <a:srgbClr val="1F3864"/>
                </a:solidFill>
                <a:latin typeface="Calibri"/>
              </a:rPr>
              <a:t>RoPE</a:t>
            </a:r>
            <a:r>
              <a:rPr sz="1250" b="0">
                <a:solidFill>
                  <a:srgbClr val="242933"/>
                </a:solidFill>
                <a:latin typeface="Calibri"/>
              </a:rPr>
              <a:t> encodes the frame ordering so the transformer knows what is earlier or later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•  </a:t>
            </a:r>
            <a:r>
              <a:rPr sz="1250" b="1">
                <a:solidFill>
                  <a:srgbClr val="1F3864"/>
                </a:solidFill>
                <a:latin typeface="Calibri"/>
              </a:rPr>
              <a:t>Training:</a:t>
            </a:r>
            <a:r>
              <a:rPr sz="1250" b="0">
                <a:solidFill>
                  <a:srgbClr val="242933"/>
                </a:solidFill>
                <a:latin typeface="Calibri"/>
              </a:rPr>
              <a:t> match the next latent (teacher forcing) + </a:t>
            </a:r>
            <a:r>
              <a:rPr sz="1250" b="1">
                <a:solidFill>
                  <a:srgbClr val="1F3864"/>
                </a:solidFill>
                <a:latin typeface="Calibri"/>
              </a:rPr>
              <a:t>scheduled sampling</a:t>
            </a:r>
            <a:r>
              <a:rPr sz="1250" b="0">
                <a:solidFill>
                  <a:srgbClr val="242933"/>
                </a:solidFill>
                <a:latin typeface="Calibri"/>
              </a:rPr>
              <a:t> (feed the model its own predictions over an 8-step rollout, so it tolerates its own errors) + </a:t>
            </a:r>
            <a:r>
              <a:rPr sz="1250" b="1">
                <a:solidFill>
                  <a:srgbClr val="1F3864"/>
                </a:solidFill>
                <a:latin typeface="Calibri"/>
              </a:rPr>
              <a:t>SIGReg</a:t>
            </a:r>
            <a:r>
              <a:rPr sz="1250" b="0">
                <a:solidFill>
                  <a:srgbClr val="242933"/>
                </a:solidFill>
                <a:latin typeface="Calibri"/>
              </a:rPr>
              <a:t> anti-collapse (keeps z informative without a decoder); AdamW, bf16, 20k steps</a:t>
            </a:r>
          </a:p>
        </p:txBody>
      </p:sp>
      <p:pic>
        <p:nvPicPr>
          <p:cNvPr id="7" name="Picture 6" descr="predictor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940" y="1664208"/>
            <a:ext cx="4936999" cy="4389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5210"/>
                </a:solidFill>
                <a:latin typeface="Calibri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Phase–amplitude reading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1183112" cy="20116"/>
          </a:xfrm>
          <a:prstGeom prst="rect">
            <a:avLst/>
          </a:prstGeom>
          <a:solidFill>
            <a:srgbClr val="D6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57884"/>
            <a:ext cx="1920240" cy="45720"/>
          </a:xfrm>
          <a:prstGeom prst="rect">
            <a:avLst/>
          </a:prstGeom>
          <a:solidFill>
            <a:srgbClr val="C05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644652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Phase–amplitude decomposition of the encounter cycle in the predictive latent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Connects the predictor to the </a:t>
            </a:r>
            <a:r>
              <a:rPr sz="1700" b="1">
                <a:solidFill>
                  <a:srgbClr val="1F3864"/>
                </a:solidFill>
                <a:latin typeface="Calibri"/>
              </a:rPr>
              <a:t>sensitivity-function control</a:t>
            </a:r>
            <a:r>
              <a:rPr sz="1700" b="0">
                <a:solidFill>
                  <a:srgbClr val="242933"/>
                </a:solidFill>
                <a:latin typeface="Calibri"/>
              </a:rPr>
              <a:t> designed for these flows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C05210"/>
                </a:solidFill>
                <a:latin typeface="Calibri"/>
              </a:rPr>
              <a:t>•  </a:t>
            </a:r>
            <a:r>
              <a:rPr sz="1700" b="0">
                <a:solidFill>
                  <a:srgbClr val="242933"/>
                </a:solidFill>
                <a:latin typeface="Calibri"/>
              </a:rPr>
              <a:t>An actuation channel is the natural next input for closed-loop control</a:t>
            </a:r>
          </a:p>
        </p:txBody>
      </p:sp>
      <p:pic>
        <p:nvPicPr>
          <p:cNvPr id="7" name="Picture 6" descr="phase_amplitu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8832" y="1664208"/>
            <a:ext cx="4521855" cy="4389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Sparse-sensing state estimation, vortex-gust interactions  ·  EUROMECH colloquium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5566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38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