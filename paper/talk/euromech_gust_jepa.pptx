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to a control audience: the bottleneck for model-based control / RL in this regime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 that motivates the whole study: forces are necessary but not sufficient; the wake is the hard, control-relevant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Audience is new to JEPA: spend time here. The contrast with reconstruction is the crux. Stress the world-model framing for the control 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the encoder is a pure state map; the gust enters the dynamics. For control, an actuation channel would enter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predictive wins decisively; forces are easy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The point: low one-step error is worthless if the rollout walks off the data manifold where probes and value estimates are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Persistent homology is unfamiliar to most fluids people: one slide to define it and say why a clean cycle matters for stable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non-standard metric. Be precise: we claim order-preservation of transport distances, not a metric isometry.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scalar wake result back to the flow field a fluids audience wants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one-sentence message: predictive + wake supervision buys a compact, trustworthy-under-rollout, observable latent dynamics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forward to the RL half of the colloquium: this is the world-model substrate; closing the loop is the natural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F3864"/>
                </a:solidFill>
                <a:latin typeface="Calibri"/>
              </a:rPr>
              <a:t>A predictive latent dynamics model for extreme gust encounters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Forward physical closure of predictive vs reconstructive latents at Re = 5000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42933"/>
                </a:solidFill>
                <a:latin typeface="Calibri"/>
              </a:rPr>
              <a:t>A. Solera-Rico, A. Miró, O. Lehmkuhl, 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INTA  ·  Universidad Carlos III de Madrid  ·  UPC  ·  Barcelona Supercomputing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514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gust speed is comparable to or larger than the flight speed</a:t>
            </a:r>
            <a:r>
              <a:rPr sz="1700" b="0">
                <a:solidFill>
                  <a:srgbClr val="242933"/>
                </a:solidFill>
                <a:latin typeface="Calibri"/>
              </a:rPr>
              <a:t>, urban canyons, building and ship wakes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Gust ratio </a:t>
            </a:r>
            <a:r>
              <a:rPr sz="17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700" b="0">
                <a:solidFill>
                  <a:srgbClr val="242933"/>
                </a:solidFill>
                <a:latin typeface="Calibri"/>
              </a:rPr>
              <a:t>: large, fast load transients that conventional gust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Active control needs a </a:t>
            </a:r>
            <a:r>
              <a:rPr sz="17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700" b="0">
                <a:solidFill>
                  <a:srgbClr val="242933"/>
                </a:solidFill>
                <a:latin typeface="Calibri"/>
              </a:rPr>
              <a:t>, model-based control and RL world-models both rest on a learned reduced dynamics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This talk: </a:t>
            </a:r>
            <a:r>
              <a:rPr sz="1700" b="1">
                <a:solidFill>
                  <a:srgbClr val="1F3864"/>
                </a:solidFill>
                <a:latin typeface="Calibri"/>
              </a:rPr>
              <a:t>what reduced state is worth planning against?</a:t>
            </a:r>
          </a:p>
        </p:txBody>
      </p:sp>
      <p:pic>
        <p:nvPicPr>
          <p:cNvPr id="7" name="Picture 6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414" y="4206240"/>
            <a:ext cx="4794691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447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Parametric vortex-gust encounters on a NACA 0012 at Re = 5000.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Why it is hard: it is the wake, not just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load transient is built by </a:t>
            </a:r>
            <a:r>
              <a:rPr sz="1700" b="1">
                <a:solidFill>
                  <a:srgbClr val="1F3864"/>
                </a:solidFill>
                <a:latin typeface="Calibri"/>
              </a:rPr>
              <a:t>leading-edge-vortex (LEV)</a:t>
            </a:r>
            <a:r>
              <a:rPr sz="1700" b="0">
                <a:solidFill>
                  <a:srgbClr val="242933"/>
                </a:solidFill>
                <a:latin typeface="Calibri"/>
              </a:rPr>
              <a:t> formation, growth and shedding, plus the wake left behind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discriminating information lives in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</a:t>
            </a:r>
            <a:r>
              <a:rPr sz="1700" b="0">
                <a:solidFill>
                  <a:srgbClr val="242933"/>
                </a:solidFill>
                <a:latin typeface="Calibri"/>
              </a:rPr>
              <a:t>, not only in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 model that tracks forces but loses the wake looks fine </a:t>
            </a:r>
            <a:r>
              <a:rPr sz="1700" b="1">
                <a:solidFill>
                  <a:srgbClr val="1F3864"/>
                </a:solidFill>
                <a:latin typeface="Calibri"/>
              </a:rPr>
              <a:t>instantaneously, yet fails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α = 14°, Re = 5000: massively separated, nonlinear coupling with the natural shedding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wake / LEV organisation governs the transient.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468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DNS</a:t>
            </a:r>
            <a:r>
              <a:rPr sz="17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7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700" b="1">
                <a:solidFill>
                  <a:srgbClr val="1F3864"/>
                </a:solidFill>
                <a:latin typeface="Calibri"/>
              </a:rPr>
              <a:t>G</a:t>
            </a:r>
            <a:r>
              <a:rPr sz="17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700" b="1">
                <a:solidFill>
                  <a:srgbClr val="1F3864"/>
                </a:solidFill>
                <a:latin typeface="Calibri"/>
              </a:rPr>
              <a:t>D</a:t>
            </a:r>
            <a:r>
              <a:rPr sz="17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700" b="1">
                <a:solidFill>
                  <a:srgbClr val="1F3864"/>
                </a:solidFill>
                <a:latin typeface="Calibri"/>
              </a:rPr>
              <a:t>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84 cases; impact-centred encounters; six observables: C_L, C_D, impulse I_y,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7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7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7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974" y="4160520"/>
            <a:ext cx="4707571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447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Y); held-out interpolation and extrapolation.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</a:t>
            </a:r>
            <a:r>
              <a:rPr sz="1600" b="0">
                <a:solidFill>
                  <a:srgbClr val="242933"/>
                </a:solidFill>
                <a:latin typeface="Calibri"/>
              </a:rPr>
              <a:t> = Joint-Embedding Predictive Architecture (LeCun's world-model program)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Encoder x → z; a predictor advances </a:t>
            </a:r>
            <a:r>
              <a:rPr sz="1600" b="1">
                <a:solidFill>
                  <a:srgbClr val="1F3864"/>
                </a:solidFill>
                <a:latin typeface="Calibri"/>
              </a:rPr>
              <a:t>z</a:t>
            </a:r>
            <a:r>
              <a:rPr sz="1600" b="0">
                <a:solidFill>
                  <a:srgbClr val="242933"/>
                </a:solidFill>
                <a:latin typeface="Calibri"/>
              </a:rPr>
              <a:t> in time;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loss lives in latent space, the field is never reconstructed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replaces the decoder)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encoder drops detail not predictive of the future, and the predictor 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learned world-model, cheap latent rollout, keeps control-relevant dynamics, sensor-observable;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  <a:r>
              <a:rPr sz="1600" b="0">
                <a:solidFill>
                  <a:srgbClr val="242933"/>
                </a:solidFill>
                <a:latin typeface="Calibri"/>
              </a:rPr>
              <a:t> (to our knowledge)</a:t>
            </a:r>
          </a:p>
        </p:txBody>
      </p:sp>
      <p:pic>
        <p:nvPicPr>
          <p:cNvPr id="7" name="Picture 6" descr="predict_vs_reconstr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2343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61081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Reconstruct the field vs predict in latent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7208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700" b="0">
                <a:solidFill>
                  <a:srgbClr val="242933"/>
                </a:solidFill>
                <a:latin typeface="Calibri"/>
              </a:rPr>
              <a:t> (hybrid CNN + ViT) is </a:t>
            </a:r>
            <a:r>
              <a:rPr sz="1700" b="1">
                <a:solidFill>
                  <a:srgbClr val="1F3864"/>
                </a:solidFill>
                <a:latin typeface="Calibri"/>
              </a:rPr>
              <a:t>unconditional</a:t>
            </a:r>
            <a:r>
              <a:rPr sz="1700" b="0">
                <a:solidFill>
                  <a:srgbClr val="242933"/>
                </a:solidFill>
                <a:latin typeface="Calibri"/>
              </a:rPr>
              <a:t>: mid-plane vorticity ω_z →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700" b="0">
                <a:solidFill>
                  <a:srgbClr val="242933"/>
                </a:solidFill>
                <a:latin typeface="Calibri"/>
              </a:rPr>
              <a:t> (autoregressive transformer): the gust </a:t>
            </a:r>
            <a:r>
              <a:rPr sz="17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700" b="0">
                <a:solidFill>
                  <a:srgbClr val="242933"/>
                </a:solidFill>
                <a:latin typeface="Calibri"/>
              </a:rPr>
              <a:t> (AdaLN, RoPE, causal mask)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is</a:t>
            </a:r>
            <a:r>
              <a:rPr sz="1700" b="0">
                <a:solidFill>
                  <a:srgbClr val="242933"/>
                </a:solidFill>
                <a:latin typeface="Calibri"/>
              </a:rPr>
              <a:t> the latent dynamics model, the object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 visualisation decoder is trained on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700" b="0">
                <a:solidFill>
                  <a:srgbClr val="242933"/>
                </a:solidFill>
                <a:latin typeface="Calibri"/>
              </a:rPr>
              <a:t> encoder, never in the loss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Compared at matched latent dimension vs a reconstructive AE (Fukami lineage) and POD</a:t>
            </a:r>
          </a:p>
        </p:txBody>
      </p:sp>
      <p:pic>
        <p:nvPicPr>
          <p:cNvPr id="7" name="Picture 6" descr="jep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588" y="1664208"/>
            <a:ext cx="3262103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KRR on (G, D, Y) alone, the latent must beat it to prove the state, not the parameters, does the work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Closure R² (rolled-out latent → observable, mean over 6): </a:t>
            </a:r>
            <a:r>
              <a:rPr sz="17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7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700" b="1">
                <a:solidFill>
                  <a:srgbClr val="1F3864"/>
                </a:solidFill>
                <a:latin typeface="Calibri"/>
              </a:rPr>
              <a:t>0.93</a:t>
            </a:r>
            <a:r>
              <a:rPr sz="1700" b="0">
                <a:solidFill>
                  <a:srgbClr val="242933"/>
                </a:solidFill>
                <a:latin typeface="Calibri"/>
              </a:rPr>
              <a:t> vs 0.28 (Fukami) / 0.37 (POD)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Held-out MAE at H = 16: JEPA wake enstrophy </a:t>
            </a:r>
            <a:r>
              <a:rPr sz="1700" b="1">
                <a:solidFill>
                  <a:srgbClr val="1F3864"/>
                </a:solidFill>
                <a:latin typeface="Calibri"/>
              </a:rPr>
              <a:t>2.4× lower</a:t>
            </a:r>
            <a:r>
              <a:rPr sz="1700" b="0">
                <a:solidFill>
                  <a:srgbClr val="242933"/>
                </a:solidFill>
                <a:latin typeface="Calibri"/>
              </a:rPr>
              <a:t> than the AE, </a:t>
            </a:r>
            <a:r>
              <a:rPr sz="1700" b="1">
                <a:solidFill>
                  <a:srgbClr val="1F3864"/>
                </a:solidFill>
                <a:latin typeface="Calibri"/>
              </a:rPr>
              <a:t>3× lower</a:t>
            </a:r>
            <a:r>
              <a:rPr sz="1700" b="0">
                <a:solidFill>
                  <a:srgbClr val="242933"/>
                </a:solidFill>
                <a:latin typeface="Calibri"/>
              </a:rPr>
              <a:t> than POD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POD stays competitive only on the integrated impulse I_y</a:t>
            </a:r>
          </a:p>
        </p:txBody>
      </p:sp>
      <p:pic>
        <p:nvPicPr>
          <p:cNvPr id="7" name="Picture 6" descr="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7394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B, test C); JEPA lowest on the wake.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6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6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6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6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6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6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6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6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6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Forecast skill vs rollout horizon, held-out test_b.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Why:</a:t>
            </a:r>
            <a:r>
              <a:rPr sz="16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6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600" b="0">
                <a:solidFill>
                  <a:srgbClr val="242933"/>
                </a:solidFill>
                <a:latin typeface="Calibri"/>
              </a:rPr>
              <a:t>; a faithful dynamics model should keep the trajectory </a:t>
            </a:r>
            <a:r>
              <a:rPr sz="1600" b="1">
                <a:solidFill>
                  <a:srgbClr val="1F3864"/>
                </a:solidFill>
                <a:latin typeface="Calibri"/>
              </a:rPr>
              <a:t>one closed loop</a:t>
            </a:r>
            <a:r>
              <a:rPr sz="1600" b="0">
                <a:solidFill>
                  <a:srgbClr val="242933"/>
                </a:solidFill>
                <a:latin typeface="Calibri"/>
              </a:rPr>
              <a:t>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Persistent homology:</a:t>
            </a:r>
            <a:r>
              <a:rPr sz="1600" b="0">
                <a:solidFill>
                  <a:srgbClr val="242933"/>
                </a:solidFill>
                <a:latin typeface="Calibri"/>
              </a:rPr>
              <a:t> counts topological loops (1-cycles) and how long they persist as a scale parameter grows; one long-lived cycle = a clean loop, many short-lived ones = fragmentation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predictive latent traces a </a:t>
            </a:r>
            <a:r>
              <a:rPr sz="1600" b="1">
                <a:solidFill>
                  <a:srgbClr val="1F3864"/>
                </a:solidFill>
                <a:latin typeface="Calibri"/>
              </a:rPr>
              <a:t>single persistent cycle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reconstructive latent </a:t>
            </a:r>
            <a:r>
              <a:rPr sz="1600" b="1">
                <a:solidFill>
                  <a:srgbClr val="1F3864"/>
                </a:solidFill>
                <a:latin typeface="Calibri"/>
              </a:rPr>
              <a:t>fragments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→ the predictive state is a coherent object to integrate forward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encounter is a single cycle in the predictive latent.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Why:</a:t>
            </a:r>
            <a:r>
              <a:rPr sz="16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6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6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least cost to rearrange one vorticity field into another, sensitive to transport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We Spearman-correlate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along each encounter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600" b="1">
                <a:solidFill>
                  <a:srgbClr val="1F3864"/>
                </a:solidFill>
                <a:latin typeface="Calibri"/>
              </a:rPr>
              <a:t>0.63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Fukami 0.45, order-preservation, not an isometry; latent steps mean physically sensible field changes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Latent vs OT distance alignment (per-encounter Shepard).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Physical space: the large-scale wake is recovered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 the latents back to fields (frozen-encoder diagnostic, never in the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tracks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large-scale LEV /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: Pearson </a:t>
            </a:r>
            <a:r>
              <a:rPr sz="1700" b="1">
                <a:solidFill>
                  <a:srgbClr val="1F3864"/>
                </a:solidFill>
                <a:latin typeface="Calibri"/>
              </a:rPr>
              <a:t>0.89</a:t>
            </a:r>
            <a:r>
              <a:rPr sz="1700" b="0">
                <a:solidFill>
                  <a:srgbClr val="242933"/>
                </a:solidFill>
                <a:latin typeface="Calibri"/>
              </a:rPr>
              <a:t> at impact, </a:t>
            </a:r>
            <a:r>
              <a:rPr sz="1700" b="1">
                <a:solidFill>
                  <a:srgbClr val="1F3864"/>
                </a:solidFill>
                <a:latin typeface="Calibri"/>
              </a:rPr>
              <a:t>0.91</a:t>
            </a:r>
            <a:r>
              <a:rPr sz="1700" b="0">
                <a:solidFill>
                  <a:srgbClr val="242933"/>
                </a:solidFill>
                <a:latin typeface="Calibri"/>
              </a:rPr>
              <a:t>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reconstructive decode is sharper pixel-wise but </a:t>
            </a:r>
            <a:r>
              <a:rPr sz="1700" b="1">
                <a:solidFill>
                  <a:srgbClr val="1F3864"/>
                </a:solidFill>
                <a:latin typeface="Calibri"/>
              </a:rPr>
              <a:t>loses the transported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This is the explicit trade the predictive objective makes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wake recovery, predictive vs reconstructive.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802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Inferring impact-C_L from K = 8 wall-pressure sensors (test_b): the predictor-rolled latent beats direct sensing well before impact.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500" b="0">
                <a:solidFill>
                  <a:srgbClr val="6B7280"/>
                </a:solidFill>
                <a:latin typeface="Calibri"/>
              </a:rPr>
              <a:t> (wake R² 0.75 representational / 0.84 mean), </a:t>
            </a:r>
            <a:r>
              <a:rPr sz="15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500" b="0">
                <a:solidFill>
                  <a:srgbClr val="6B7280"/>
                </a:solidFill>
                <a:latin typeface="Calibri"/>
              </a:rPr>
              <a:t> under rollout, a </a:t>
            </a:r>
            <a:r>
              <a:rPr sz="15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500" b="0">
                <a:solidFill>
                  <a:srgbClr val="6B7280"/>
                </a:solidFill>
                <a:latin typeface="Calibri"/>
              </a:rPr>
              <a:t>, </a:t>
            </a:r>
            <a:r>
              <a:rPr sz="1500" b="1">
                <a:solidFill>
                  <a:srgbClr val="1F3864"/>
                </a:solidFill>
                <a:latin typeface="Calibri"/>
              </a:rPr>
              <a:t>transport-aligned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, d = 32 ≈ d = 64, participation ratio ≈ 1.7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</a:t>
            </a:r>
            <a:r>
              <a:rPr sz="1800" b="1">
                <a:solidFill>
                  <a:srgbClr val="1F3864"/>
                </a:solidFill>
                <a:latin typeface="Calibri"/>
              </a:rPr>
              <a:t>model-based control and RL world-models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Replace the gust conditioning channel with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, the same forward-closure machinery then applies to control inputs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Closed-loop</a:t>
            </a:r>
            <a:r>
              <a:rPr sz="1800" b="0">
                <a:solidFill>
                  <a:srgbClr val="242933"/>
                </a:solidFill>
                <a:latin typeface="Calibri"/>
              </a:rPr>
              <a:t> model-based control / RL world-models built on the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strong gusts (|G| = 4 is a mid-plane-slice limit)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predictive-latent recipe carried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Predictor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Predictor: 6-layer autoregressive transformer, hidden 384, 16 heads, dropout 0.1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AdaLN-Zero</a:t>
            </a:r>
            <a:r>
              <a:rPr sz="1700" b="0">
                <a:solidFill>
                  <a:srgbClr val="242933"/>
                </a:solidFill>
                <a:latin typeface="Calibri"/>
              </a:rPr>
              <a:t> conditioning on (G, D, Y, φ_t); </a:t>
            </a:r>
            <a:r>
              <a:rPr sz="1700" b="1">
                <a:solidFill>
                  <a:srgbClr val="1F3864"/>
                </a:solidFill>
                <a:latin typeface="Calibri"/>
              </a:rPr>
              <a:t>RoPE</a:t>
            </a:r>
            <a:r>
              <a:rPr sz="1700" b="0">
                <a:solidFill>
                  <a:srgbClr val="242933"/>
                </a:solidFill>
                <a:latin typeface="Calibri"/>
              </a:rPr>
              <a:t> temporal positions; </a:t>
            </a:r>
            <a:r>
              <a:rPr sz="1700" b="1">
                <a:solidFill>
                  <a:srgbClr val="1F3864"/>
                </a:solidFill>
                <a:latin typeface="Calibri"/>
              </a:rPr>
              <a:t>causal</a:t>
            </a:r>
            <a:r>
              <a:rPr sz="1700" b="0">
                <a:solidFill>
                  <a:srgbClr val="242933"/>
                </a:solidFill>
                <a:latin typeface="Calibri"/>
              </a:rPr>
              <a:t> mask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Training: teacher forcing + scheduled-sampling rollout (H_roll = 8); </a:t>
            </a:r>
            <a:r>
              <a:rPr sz="1700" b="1">
                <a:solidFill>
                  <a:srgbClr val="1F3864"/>
                </a:solidFill>
                <a:latin typeface="Calibri"/>
              </a:rPr>
              <a:t>SIGReg</a:t>
            </a:r>
            <a:r>
              <a:rPr sz="1700" b="0">
                <a:solidFill>
                  <a:srgbClr val="242933"/>
                </a:solidFill>
                <a:latin typeface="Calibri"/>
              </a:rPr>
              <a:t> anti-collapse (VICReg fallback)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40081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Predictive latent dynamics for extreme gusts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